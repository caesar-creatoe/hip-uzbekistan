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9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 smtClean="0">
                <a:effectLst/>
              </a:rPr>
              <a:t>INCOME DISTRIBUTION</a:t>
            </a:r>
            <a:endParaRPr lang="ru-RU" dirty="0"/>
          </a:p>
        </c:rich>
      </c:tx>
      <c:layout>
        <c:manualLayout>
          <c:xMode val="edge"/>
          <c:yMode val="edge"/>
          <c:x val="2.0561967273127014E-2"/>
          <c:y val="2.3066216589553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Распределение дохода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34-42FF-9838-3A892728027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D34-42FF-9838-3A892728027B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D34-42FF-9838-3A892728027B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D34-42FF-9838-3A892728027B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D34-42FF-9838-3A892728027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mtClean="0"/>
                      <a:t>Accommodation</a:t>
                    </a:r>
                    <a:r>
                      <a:rPr lang="en-US" baseline="0" dirty="0"/>
                      <a:t>
</a:t>
                    </a:r>
                    <a:fld id="{1362C9C0-2CF7-48AC-977A-1D6E80EB4416}" type="PERCENTAGE">
                      <a:rPr lang="en-US" baseline="0"/>
                      <a:pPr/>
                      <a:t>[ПРОЦЕНТ]</a:t>
                    </a:fld>
                    <a:endParaRPr lang="en-US" baseline="0" dirty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D34-42FF-9838-3A892728027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mtClean="0"/>
                      <a:t>Restaurant</a:t>
                    </a:r>
                    <a:r>
                      <a:rPr lang="en-US" baseline="0" smtClean="0"/>
                      <a:t> </a:t>
                    </a:r>
                    <a:r>
                      <a:rPr lang="en-US" baseline="0" dirty="0"/>
                      <a:t>
</a:t>
                    </a:r>
                    <a:fld id="{2373E0CE-8C90-412E-8715-3F4386765D13}" type="PERCENTAGE">
                      <a:rPr lang="en-US" baseline="0"/>
                      <a:pPr/>
                      <a:t>[ПРОЦЕНТ]</a:t>
                    </a:fld>
                    <a:endParaRPr lang="en-US" baseline="0" dirty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D34-42FF-9838-3A892728027B}"/>
                </c:ext>
              </c:extLst>
            </c:dLbl>
            <c:dLbl>
              <c:idx val="2"/>
              <c:layout>
                <c:manualLayout>
                  <c:x val="-0.12612326672369689"/>
                  <c:y val="-3.1971569638337374E-2"/>
                </c:manualLayout>
              </c:layout>
              <c:tx>
                <c:rich>
                  <a:bodyPr/>
                  <a:lstStyle/>
                  <a:p>
                    <a:r>
                      <a:rPr lang="en-US" baseline="0" dirty="0" smtClean="0"/>
                      <a:t>Conference hall</a:t>
                    </a:r>
                    <a:r>
                      <a:rPr lang="en-US" baseline="0" dirty="0"/>
                      <a:t>
</a:t>
                    </a:r>
                    <a:fld id="{7ADE256E-3069-4579-ACD9-872149588A2D}" type="PERCENTAGE">
                      <a:rPr lang="en-US" baseline="0"/>
                      <a:pPr/>
                      <a:t>[ПРОЦЕНТ]</a:t>
                    </a:fld>
                    <a:endParaRPr lang="en-US" baseline="0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D34-42FF-9838-3A892728027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mtClean="0"/>
                      <a:t>Coffee break 2%</a:t>
                    </a:r>
                    <a:endParaRPr lang="en-US" dirty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D34-42FF-9838-3A892728027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mtClean="0"/>
                      <a:t>Laundry</a:t>
                    </a:r>
                    <a:r>
                      <a:rPr lang="en-US" baseline="0"/>
                      <a:t>
</a:t>
                    </a:r>
                    <a:r>
                      <a:rPr lang="en-US" baseline="0" smtClean="0"/>
                      <a:t>0,2%</a:t>
                    </a:r>
                    <a:endParaRPr lang="en-US" dirty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D34-42FF-9838-3A892728027B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Лист1!$A$2:$A$6</c:f>
              <c:strCache>
                <c:ptCount val="5"/>
                <c:pt idx="0">
                  <c:v>Номерной фонд</c:v>
                </c:pt>
                <c:pt idx="1">
                  <c:v>Ресторан</c:v>
                </c:pt>
                <c:pt idx="2">
                  <c:v>Конференц-зал</c:v>
                </c:pt>
                <c:pt idx="3">
                  <c:v>Кофе-брейки</c:v>
                </c:pt>
                <c:pt idx="4">
                  <c:v>Прачечные услуги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75</c:v>
                </c:pt>
                <c:pt idx="1">
                  <c:v>11</c:v>
                </c:pt>
                <c:pt idx="2">
                  <c:v>2</c:v>
                </c:pt>
                <c:pt idx="3">
                  <c:v>11.8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D34-42FF-9838-3A89272802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3.5040154048799468E-2"/>
          <c:y val="0.63735245844902599"/>
          <c:w val="0.2505303924381837"/>
          <c:h val="0.262236446277005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7FEE-3E44-44BB-BE93-39C43EF6404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CB68-EEF7-4EDE-9CC9-80FC62C618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259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7FEE-3E44-44BB-BE93-39C43EF6404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CB68-EEF7-4EDE-9CC9-80FC62C618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24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7FEE-3E44-44BB-BE93-39C43EF6404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CB68-EEF7-4EDE-9CC9-80FC62C618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976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7FEE-3E44-44BB-BE93-39C43EF6404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CB68-EEF7-4EDE-9CC9-80FC62C618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427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7FEE-3E44-44BB-BE93-39C43EF6404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CB68-EEF7-4EDE-9CC9-80FC62C618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187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7FEE-3E44-44BB-BE93-39C43EF6404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CB68-EEF7-4EDE-9CC9-80FC62C618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11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7FEE-3E44-44BB-BE93-39C43EF6404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CB68-EEF7-4EDE-9CC9-80FC62C618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54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7FEE-3E44-44BB-BE93-39C43EF6404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CB68-EEF7-4EDE-9CC9-80FC62C618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60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7FEE-3E44-44BB-BE93-39C43EF6404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CB68-EEF7-4EDE-9CC9-80FC62C618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01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7FEE-3E44-44BB-BE93-39C43EF6404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CB68-EEF7-4EDE-9CC9-80FC62C618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073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7FEE-3E44-44BB-BE93-39C43EF6404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CB68-EEF7-4EDE-9CC9-80FC62C618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297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07FEE-3E44-44BB-BE93-39C43EF6404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2CB68-EEF7-4EDE-9CC9-80FC62C618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095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42"/>
          <a:stretch/>
        </p:blipFill>
        <p:spPr>
          <a:xfrm>
            <a:off x="5057194" y="0"/>
            <a:ext cx="7134806" cy="6858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956" y="0"/>
            <a:ext cx="1804994" cy="18049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21144" y="3952399"/>
            <a:ext cx="505719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Luxury in the historic heart of the capital.</a:t>
            </a:r>
          </a:p>
          <a:p>
            <a:pPr algn="ctr"/>
            <a:r>
              <a:rPr lang="en-US" sz="105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Hotel Overview</a:t>
            </a:r>
            <a:endParaRPr lang="ru-RU" sz="1050" i="1" spc="3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21144" y="2998292"/>
            <a:ext cx="50571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senica Trial" panose="00000500000000000000" pitchFamily="2" charset="0"/>
              </a:rPr>
              <a:t>FAROVON TASHKENT BOUTIQUE HOTEL</a:t>
            </a:r>
            <a:endParaRPr lang="ru-RU" sz="2800" spc="300" dirty="0">
              <a:solidFill>
                <a:schemeClr val="tx1">
                  <a:lumMod val="85000"/>
                  <a:lumOff val="15000"/>
                </a:schemeClr>
              </a:solidFill>
              <a:latin typeface="Arsenica Trial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395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4393" y="1626831"/>
            <a:ext cx="4826308" cy="735013"/>
          </a:xfrm>
        </p:spPr>
        <p:txBody>
          <a:bodyPr>
            <a:noAutofit/>
          </a:bodyPr>
          <a:lstStyle/>
          <a:p>
            <a:pPr algn="ctr"/>
            <a:r>
              <a:rPr lang="en-US" sz="2000" spc="300" dirty="0">
                <a:latin typeface="Arsenica Trial" panose="00000500000000000000" pitchFamily="2" charset="0"/>
              </a:rPr>
              <a:t/>
            </a:r>
            <a:br>
              <a:rPr lang="en-US" sz="2000" spc="300" dirty="0">
                <a:latin typeface="Arsenica Trial" panose="00000500000000000000" pitchFamily="2" charset="0"/>
              </a:rPr>
            </a:br>
            <a:r>
              <a:rPr lang="en-US" sz="2000" spc="300" dirty="0">
                <a:latin typeface="Arsenica Trial" panose="00000500000000000000" pitchFamily="2" charset="0"/>
              </a:rPr>
              <a:t>INFORMATION ABOUT THE HOTE</a:t>
            </a:r>
            <a:endParaRPr lang="ru-RU" sz="2000" spc="300" dirty="0">
              <a:latin typeface="Arsenica Trial" panose="00000500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4393" y="2571750"/>
            <a:ext cx="4405312" cy="2919412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Montserrat" panose="00000500000000000000" pitchFamily="2" charset="-52"/>
              </a:rPr>
              <a:t>Address: 1 </a:t>
            </a:r>
            <a:r>
              <a:rPr lang="en-US" sz="1400" dirty="0" err="1">
                <a:latin typeface="Montserrat" panose="00000500000000000000" pitchFamily="2" charset="-52"/>
              </a:rPr>
              <a:t>Karasaray</a:t>
            </a:r>
            <a:r>
              <a:rPr lang="en-US" sz="1400" dirty="0">
                <a:latin typeface="Montserrat" panose="00000500000000000000" pitchFamily="2" charset="-52"/>
              </a:rPr>
              <a:t> Street, Tashkent, Uzbekistan </a:t>
            </a:r>
          </a:p>
          <a:p>
            <a:r>
              <a:rPr lang="en-US" sz="1400" dirty="0">
                <a:latin typeface="Montserrat" panose="00000500000000000000" pitchFamily="2" charset="-52"/>
              </a:rPr>
              <a:t>Location: 41.3311900, 69.2425541</a:t>
            </a:r>
          </a:p>
          <a:p>
            <a:r>
              <a:rPr lang="en-US" sz="1400" dirty="0">
                <a:latin typeface="Montserrat" panose="00000500000000000000" pitchFamily="2" charset="-52"/>
              </a:rPr>
              <a:t>Hotel area: 3007 </a:t>
            </a:r>
            <a:r>
              <a:rPr lang="en-US" sz="1400" dirty="0" err="1">
                <a:latin typeface="Montserrat" panose="00000500000000000000" pitchFamily="2" charset="-52"/>
              </a:rPr>
              <a:t>sq.m</a:t>
            </a:r>
            <a:endParaRPr lang="en-US" sz="1400" dirty="0">
              <a:latin typeface="Montserrat" panose="00000500000000000000" pitchFamily="2" charset="-52"/>
            </a:endParaRPr>
          </a:p>
          <a:p>
            <a:r>
              <a:rPr lang="en-US" sz="1400" dirty="0">
                <a:latin typeface="Montserrat" panose="00000500000000000000" pitchFamily="2" charset="-52"/>
              </a:rPr>
              <a:t>Building area with restaurant and conference hall: 864 </a:t>
            </a:r>
            <a:r>
              <a:rPr lang="en-US" sz="1400" dirty="0" err="1">
                <a:latin typeface="Montserrat" panose="00000500000000000000" pitchFamily="2" charset="-52"/>
              </a:rPr>
              <a:t>sq.m</a:t>
            </a:r>
            <a:r>
              <a:rPr lang="en-US" sz="1400" dirty="0">
                <a:latin typeface="Montserrat" panose="00000500000000000000" pitchFamily="2" charset="-52"/>
              </a:rPr>
              <a:t> </a:t>
            </a:r>
          </a:p>
          <a:p>
            <a:r>
              <a:rPr lang="en-US" sz="1400" dirty="0">
                <a:latin typeface="Montserrat" panose="00000500000000000000" pitchFamily="2" charset="-52"/>
              </a:rPr>
              <a:t>Total area of buildings: 3971 </a:t>
            </a:r>
            <a:r>
              <a:rPr lang="en-US" sz="1400" dirty="0" err="1">
                <a:latin typeface="Montserrat" panose="00000500000000000000" pitchFamily="2" charset="-52"/>
              </a:rPr>
              <a:t>sq.m</a:t>
            </a:r>
            <a:endParaRPr lang="en-US" sz="1400" dirty="0">
              <a:latin typeface="Montserrat" panose="00000500000000000000" pitchFamily="2" charset="-52"/>
            </a:endParaRPr>
          </a:p>
          <a:p>
            <a:r>
              <a:rPr lang="en-US" sz="1400" dirty="0">
                <a:latin typeface="Montserrat" panose="00000500000000000000" pitchFamily="2" charset="-52"/>
              </a:rPr>
              <a:t>Total area of the entire territory: 0.3 hectares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-154699"/>
            <a:ext cx="1571625" cy="15716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923" y="0"/>
            <a:ext cx="5449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89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12054" t="14345" r="2100" b="17697"/>
          <a:stretch/>
        </p:blipFill>
        <p:spPr>
          <a:xfrm>
            <a:off x="0" y="500063"/>
            <a:ext cx="12192000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55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-154699"/>
            <a:ext cx="1571625" cy="1571625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957389" y="263606"/>
            <a:ext cx="9886950" cy="735013"/>
          </a:xfrm>
        </p:spPr>
        <p:txBody>
          <a:bodyPr>
            <a:noAutofit/>
          </a:bodyPr>
          <a:lstStyle/>
          <a:p>
            <a:pPr algn="r"/>
            <a:r>
              <a:rPr lang="en-US" sz="3200" spc="300" dirty="0">
                <a:latin typeface="Arsenica Trial" panose="00000500000000000000" pitchFamily="2" charset="0"/>
              </a:rPr>
              <a:t>TOTAL NUMBER OF ROOMS: </a:t>
            </a:r>
            <a:r>
              <a:rPr lang="en-US" sz="3200" spc="300" dirty="0" smtClean="0">
                <a:latin typeface="Bell MT" panose="02020503060305020303" pitchFamily="18" charset="0"/>
              </a:rPr>
              <a:t>56</a:t>
            </a:r>
            <a:endParaRPr lang="ru-RU" sz="3200" spc="300" dirty="0">
              <a:latin typeface="Arsenica Trial" panose="000005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8" r="23104"/>
          <a:stretch/>
        </p:blipFill>
        <p:spPr>
          <a:xfrm>
            <a:off x="270805" y="1416926"/>
            <a:ext cx="2567592" cy="33265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r="29798"/>
          <a:stretch/>
        </p:blipFill>
        <p:spPr>
          <a:xfrm>
            <a:off x="3291825" y="1416926"/>
            <a:ext cx="2566875" cy="33265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92" r="23808"/>
          <a:stretch/>
        </p:blipFill>
        <p:spPr>
          <a:xfrm>
            <a:off x="6312128" y="1416926"/>
            <a:ext cx="2564183" cy="332652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4" r="35518"/>
          <a:stretch/>
        </p:blipFill>
        <p:spPr>
          <a:xfrm>
            <a:off x="9329739" y="1416926"/>
            <a:ext cx="2567234" cy="332652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270805" y="4743450"/>
            <a:ext cx="2567592" cy="1243013"/>
          </a:xfrm>
          <a:prstGeom prst="rect">
            <a:avLst/>
          </a:prstGeom>
          <a:solidFill>
            <a:srgbClr val="679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291466" y="4743449"/>
            <a:ext cx="2567592" cy="1243013"/>
          </a:xfrm>
          <a:prstGeom prst="rect">
            <a:avLst/>
          </a:prstGeom>
          <a:solidFill>
            <a:srgbClr val="679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289630" y="4743448"/>
            <a:ext cx="2567592" cy="1243013"/>
          </a:xfrm>
          <a:prstGeom prst="rect">
            <a:avLst/>
          </a:prstGeom>
          <a:solidFill>
            <a:srgbClr val="679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9329381" y="4743447"/>
            <a:ext cx="2567592" cy="1243013"/>
          </a:xfrm>
          <a:prstGeom prst="rect">
            <a:avLst/>
          </a:prstGeom>
          <a:solidFill>
            <a:srgbClr val="679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448202" y="4903288"/>
            <a:ext cx="22127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King</a:t>
            </a:r>
            <a:endParaRPr lang="ru-RU" dirty="0" smtClean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pPr algn="ctr"/>
            <a:r>
              <a:rPr lang="ru-RU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22 </a:t>
            </a:r>
            <a:r>
              <a:rPr lang="en-US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sq.</a:t>
            </a:r>
            <a:r>
              <a:rPr lang="ru-RU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м</a:t>
            </a:r>
          </a:p>
          <a:p>
            <a:pPr algn="ctr"/>
            <a:endParaRPr lang="ru-RU" sz="1200" dirty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pPr algn="ctr"/>
            <a:r>
              <a:rPr lang="en-US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14</a:t>
            </a:r>
            <a:r>
              <a:rPr lang="ru-RU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rooms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3457615" y="4903288"/>
            <a:ext cx="22127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Twin</a:t>
            </a:r>
            <a:endParaRPr lang="ru-RU" dirty="0" smtClean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pPr algn="ctr"/>
            <a:r>
              <a:rPr lang="ru-RU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22 </a:t>
            </a:r>
            <a:r>
              <a:rPr lang="en-US" sz="1200" dirty="0" err="1" smtClean="0">
                <a:solidFill>
                  <a:schemeClr val="bg1"/>
                </a:solidFill>
                <a:latin typeface="Montserrat" panose="00000500000000000000" pitchFamily="2" charset="-52"/>
              </a:rPr>
              <a:t>sq</a:t>
            </a:r>
            <a:r>
              <a:rPr lang="ru-RU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.м</a:t>
            </a:r>
            <a:endParaRPr lang="en-US" sz="1200" dirty="0" smtClean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pPr algn="ctr"/>
            <a:endParaRPr lang="ru-RU" sz="1200" dirty="0" smtClean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pPr algn="ctr"/>
            <a:r>
              <a:rPr lang="en-US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30 rooms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6467027" y="4903288"/>
            <a:ext cx="22127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King with </a:t>
            </a:r>
            <a:r>
              <a:rPr lang="en-US" dirty="0" err="1" smtClean="0">
                <a:solidFill>
                  <a:schemeClr val="bg1"/>
                </a:solidFill>
                <a:latin typeface="Montserrat" panose="00000500000000000000" pitchFamily="2" charset="-52"/>
              </a:rPr>
              <a:t>terrrace</a:t>
            </a:r>
            <a:r>
              <a:rPr lang="ru-RU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 </a:t>
            </a:r>
          </a:p>
          <a:p>
            <a:pPr algn="ctr"/>
            <a:r>
              <a:rPr lang="ru-RU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22 </a:t>
            </a:r>
            <a:r>
              <a:rPr lang="en-US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sq.</a:t>
            </a:r>
            <a:r>
              <a:rPr lang="ru-RU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м</a:t>
            </a:r>
          </a:p>
          <a:p>
            <a:pPr algn="ctr"/>
            <a:r>
              <a:rPr lang="en-US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5</a:t>
            </a:r>
            <a:r>
              <a:rPr lang="ru-RU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rooms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9506778" y="4903288"/>
            <a:ext cx="22127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Twin with terrace </a:t>
            </a:r>
            <a:endParaRPr lang="ru-RU" dirty="0" smtClean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pPr algn="ctr"/>
            <a:r>
              <a:rPr lang="ru-RU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22 </a:t>
            </a:r>
            <a:r>
              <a:rPr lang="en-US" sz="1200" dirty="0" err="1" smtClean="0">
                <a:solidFill>
                  <a:schemeClr val="bg1"/>
                </a:solidFill>
                <a:latin typeface="Montserrat" panose="00000500000000000000" pitchFamily="2" charset="-52"/>
              </a:rPr>
              <a:t>sq.m</a:t>
            </a:r>
            <a:endParaRPr lang="ru-RU" sz="1200" dirty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pPr algn="ctr"/>
            <a:r>
              <a:rPr lang="en-US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7</a:t>
            </a:r>
            <a:r>
              <a:rPr lang="ru-RU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rooms</a:t>
            </a:r>
            <a:endParaRPr lang="ru-RU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328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-154699"/>
            <a:ext cx="1571625" cy="1571625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186363" y="263606"/>
            <a:ext cx="6657975" cy="735013"/>
          </a:xfrm>
        </p:spPr>
        <p:txBody>
          <a:bodyPr>
            <a:normAutofit/>
          </a:bodyPr>
          <a:lstStyle/>
          <a:p>
            <a:pPr algn="r"/>
            <a:r>
              <a:rPr lang="en-US" sz="3200" spc="300" dirty="0">
                <a:latin typeface="Arsenica Trial" panose="00000500000000000000" pitchFamily="2" charset="0"/>
              </a:rPr>
              <a:t>NAVO RESTAURANT</a:t>
            </a:r>
            <a:endParaRPr lang="ru-RU" sz="3200" spc="300" dirty="0">
              <a:latin typeface="Arsenica Trial" panose="00000500000000000000" pitchFamily="2" charset="0"/>
            </a:endParaRPr>
          </a:p>
        </p:txBody>
      </p:sp>
      <p:sp>
        <p:nvSpPr>
          <p:cNvPr id="19" name="Объект 2"/>
          <p:cNvSpPr>
            <a:spLocks noGrp="1"/>
          </p:cNvSpPr>
          <p:nvPr>
            <p:ph idx="1"/>
          </p:nvPr>
        </p:nvSpPr>
        <p:spPr>
          <a:xfrm>
            <a:off x="500063" y="4841002"/>
            <a:ext cx="11299824" cy="1759823"/>
          </a:xfrm>
        </p:spPr>
        <p:txBody>
          <a:bodyPr>
            <a:noAutofit/>
          </a:bodyPr>
          <a:lstStyle/>
          <a:p>
            <a:pPr algn="just"/>
            <a:r>
              <a:rPr lang="en-US" sz="1200" dirty="0">
                <a:latin typeface="Montserrat" panose="00000500000000000000" pitchFamily="2" charset="-52"/>
              </a:rPr>
              <a:t>At </a:t>
            </a:r>
            <a:r>
              <a:rPr lang="en-US" sz="1200" dirty="0" err="1">
                <a:latin typeface="Montserrat" panose="00000500000000000000" pitchFamily="2" charset="-52"/>
              </a:rPr>
              <a:t>Navo</a:t>
            </a:r>
            <a:r>
              <a:rPr lang="en-US" sz="1200" dirty="0">
                <a:latin typeface="Montserrat" panose="00000500000000000000" pitchFamily="2" charset="-52"/>
              </a:rPr>
              <a:t> Restaurant, guests are greeted every morning by a hot and thoughtful breakfast in the form of a luxurious buffet. The selection includes fresh and high-quality products, hot dishes, pastries, fruits, and traditional flavors, creating a sophisticated yet cozy start to the day.</a:t>
            </a:r>
            <a:r>
              <a:rPr lang="ru-RU" sz="1200" dirty="0" smtClean="0">
                <a:latin typeface="Montserrat" panose="00000500000000000000" pitchFamily="2" charset="-52"/>
              </a:rPr>
              <a:t> </a:t>
            </a:r>
          </a:p>
          <a:p>
            <a:pPr algn="just"/>
            <a:r>
              <a:rPr lang="en-US" sz="1200" dirty="0">
                <a:latin typeface="Montserrat" panose="00000500000000000000" pitchFamily="2" charset="-52"/>
              </a:rPr>
              <a:t>The breakfast is complimentary for all hotel guests and reflects our commitment to attentive service and a high level of hospitality</a:t>
            </a:r>
            <a:r>
              <a:rPr lang="en-US" sz="1200" dirty="0" smtClean="0">
                <a:latin typeface="Montserrat" panose="00000500000000000000" pitchFamily="2" charset="-52"/>
              </a:rPr>
              <a:t>.</a:t>
            </a:r>
          </a:p>
          <a:p>
            <a:pPr algn="just"/>
            <a:r>
              <a:rPr lang="en-US" sz="1200" dirty="0" err="1">
                <a:latin typeface="Montserrat" panose="00000500000000000000" pitchFamily="2" charset="-52"/>
              </a:rPr>
              <a:t>Navo</a:t>
            </a:r>
            <a:r>
              <a:rPr lang="en-US" sz="1200" dirty="0">
                <a:latin typeface="Montserrat" panose="00000500000000000000" pitchFamily="2" charset="-52"/>
              </a:rPr>
              <a:t> Restaurant has successfully </a:t>
            </a:r>
            <a:r>
              <a:rPr lang="en-US" sz="1200" dirty="0" smtClean="0">
                <a:latin typeface="Montserrat" panose="00000500000000000000" pitchFamily="2" charset="-52"/>
              </a:rPr>
              <a:t>gained </a:t>
            </a:r>
            <a:r>
              <a:rPr lang="en-US" sz="1200" dirty="0">
                <a:latin typeface="Montserrat" panose="00000500000000000000" pitchFamily="2" charset="-52"/>
              </a:rPr>
              <a:t>the international “Halal” certification by Crescent Rating (Singapore), which increases the level of trust from international tourists and corporate clients, and strengthens the positioning of </a:t>
            </a:r>
            <a:r>
              <a:rPr lang="en-US" sz="1200" dirty="0" err="1">
                <a:latin typeface="Montserrat" panose="00000500000000000000" pitchFamily="2" charset="-52"/>
              </a:rPr>
              <a:t>Navo</a:t>
            </a:r>
            <a:r>
              <a:rPr lang="en-US" sz="1200" dirty="0">
                <a:latin typeface="Montserrat" panose="00000500000000000000" pitchFamily="2" charset="-52"/>
              </a:rPr>
              <a:t> Restaurant among guests from Muslim countries</a:t>
            </a:r>
            <a:r>
              <a:rPr lang="ru-RU" sz="1200" dirty="0" smtClean="0">
                <a:latin typeface="Montserrat" panose="00000500000000000000" pitchFamily="2" charset="-52"/>
              </a:rPr>
              <a:t>.</a:t>
            </a:r>
          </a:p>
          <a:p>
            <a:pPr algn="just"/>
            <a:endParaRPr lang="ru-RU" sz="1200" dirty="0">
              <a:latin typeface="Montserrat" panose="00000500000000000000" pitchFamily="2" charset="-52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78"/>
          <a:stretch/>
        </p:blipFill>
        <p:spPr>
          <a:xfrm>
            <a:off x="-1" y="1167607"/>
            <a:ext cx="5964027" cy="350440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4" b="7062"/>
          <a:stretch/>
        </p:blipFill>
        <p:spPr>
          <a:xfrm>
            <a:off x="6286499" y="1167607"/>
            <a:ext cx="5905502" cy="350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67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499696" y="5518832"/>
            <a:ext cx="11299824" cy="1185862"/>
          </a:xfrm>
        </p:spPr>
        <p:txBody>
          <a:bodyPr>
            <a:noAutofit/>
          </a:bodyPr>
          <a:lstStyle/>
          <a:p>
            <a:r>
              <a:rPr lang="en-US" sz="1400" dirty="0">
                <a:latin typeface="Montserrat" panose="00000500000000000000" pitchFamily="2" charset="-52"/>
              </a:rPr>
              <a:t>Conference hall area</a:t>
            </a:r>
            <a:r>
              <a:rPr lang="ru-RU" sz="1400" dirty="0" smtClean="0">
                <a:latin typeface="Montserrat" panose="00000500000000000000" pitchFamily="2" charset="-52"/>
              </a:rPr>
              <a:t>- </a:t>
            </a:r>
            <a:r>
              <a:rPr lang="ru-RU" sz="1400" b="1" dirty="0">
                <a:latin typeface="Montserrat" panose="00000500000000000000" pitchFamily="2" charset="-52"/>
              </a:rPr>
              <a:t>130 </a:t>
            </a:r>
            <a:r>
              <a:rPr lang="ru-RU" sz="1400" b="1" dirty="0" smtClean="0">
                <a:latin typeface="Montserrat" panose="00000500000000000000" pitchFamily="2" charset="-52"/>
              </a:rPr>
              <a:t>м².</a:t>
            </a:r>
          </a:p>
          <a:p>
            <a:r>
              <a:rPr lang="en-US" sz="1400" dirty="0">
                <a:latin typeface="Montserrat" panose="00000500000000000000" pitchFamily="2" charset="-52"/>
              </a:rPr>
              <a:t>Accommodates up to 110 guests in a theater seating arrangement and up to 40 guests in a classroom format</a:t>
            </a:r>
            <a:r>
              <a:rPr lang="ru-RU" sz="1400" dirty="0" smtClean="0">
                <a:latin typeface="Montserrat" panose="00000500000000000000" pitchFamily="2" charset="-52"/>
              </a:rPr>
              <a:t>.</a:t>
            </a:r>
            <a:endParaRPr lang="ru-RU" sz="1400" dirty="0">
              <a:latin typeface="Montserrat" panose="00000500000000000000" pitchFamily="2" charset="-52"/>
            </a:endParaRPr>
          </a:p>
          <a:p>
            <a:r>
              <a:rPr lang="en-US" sz="1400" dirty="0" smtClean="0">
                <a:latin typeface="Montserrat" panose="00000500000000000000" pitchFamily="2" charset="-52"/>
              </a:rPr>
              <a:t>The </a:t>
            </a:r>
            <a:r>
              <a:rPr lang="en-US" sz="1400" dirty="0">
                <a:latin typeface="Montserrat" panose="00000500000000000000" pitchFamily="2" charset="-52"/>
              </a:rPr>
              <a:t>outdoor terrace is 140 m² and is perfect for coffee breaks.</a:t>
            </a:r>
            <a:r>
              <a:rPr lang="ru-RU" sz="1400" dirty="0" smtClean="0">
                <a:latin typeface="Montserrat" panose="00000500000000000000" pitchFamily="2" charset="-52"/>
              </a:rPr>
              <a:t>.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5"/>
          <a:stretch/>
        </p:blipFill>
        <p:spPr>
          <a:xfrm>
            <a:off x="-11151" y="1343024"/>
            <a:ext cx="6042847" cy="386394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7"/>
          <a:stretch/>
        </p:blipFill>
        <p:spPr>
          <a:xfrm>
            <a:off x="6149608" y="1343025"/>
            <a:ext cx="6042391" cy="386394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-154699"/>
            <a:ext cx="1571625" cy="1571625"/>
          </a:xfrm>
          <a:prstGeom prst="rect">
            <a:avLst/>
          </a:prstGeom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857500" y="263606"/>
            <a:ext cx="8986839" cy="735013"/>
          </a:xfrm>
        </p:spPr>
        <p:txBody>
          <a:bodyPr>
            <a:noAutofit/>
          </a:bodyPr>
          <a:lstStyle/>
          <a:p>
            <a:pPr algn="r"/>
            <a:r>
              <a:rPr lang="en-US" sz="2400" spc="300" dirty="0">
                <a:latin typeface="Arsenica Trial" panose="00000500000000000000" pitchFamily="2" charset="0"/>
              </a:rPr>
              <a:t>CONFERENCE HALL AND ADJACENT TERRACE</a:t>
            </a:r>
            <a:endParaRPr lang="ru-RU" sz="2400" spc="300" dirty="0">
              <a:latin typeface="Arsenica Trial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733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7350919" y="2204130"/>
            <a:ext cx="4272329" cy="3482295"/>
          </a:xfrm>
        </p:spPr>
        <p:txBody>
          <a:bodyPr>
            <a:noAutofit/>
          </a:bodyPr>
          <a:lstStyle/>
          <a:p>
            <a:r>
              <a:rPr lang="en-US" sz="1400" dirty="0" err="1" smtClean="0">
                <a:latin typeface="Montserrat" panose="00000500000000000000" pitchFamily="2" charset="-52"/>
              </a:rPr>
              <a:t>Accomodation</a:t>
            </a:r>
            <a:r>
              <a:rPr lang="en-US" sz="1400" dirty="0" smtClean="0">
                <a:latin typeface="Montserrat" panose="00000500000000000000" pitchFamily="2" charset="-52"/>
              </a:rPr>
              <a:t>: 75</a:t>
            </a:r>
            <a:r>
              <a:rPr lang="ru-RU" sz="1400" dirty="0" smtClean="0">
                <a:latin typeface="Montserrat" panose="00000500000000000000" pitchFamily="2" charset="-52"/>
              </a:rPr>
              <a:t>%</a:t>
            </a:r>
            <a:endParaRPr lang="en-US" sz="1400" dirty="0" smtClean="0">
              <a:latin typeface="Montserrat" panose="00000500000000000000" pitchFamily="2" charset="-52"/>
            </a:endParaRPr>
          </a:p>
          <a:p>
            <a:endParaRPr lang="ru-RU" sz="1400" dirty="0" smtClean="0">
              <a:latin typeface="Montserrat" panose="00000500000000000000" pitchFamily="2" charset="-52"/>
            </a:endParaRPr>
          </a:p>
          <a:p>
            <a:r>
              <a:rPr lang="en-US" sz="1400" dirty="0" smtClean="0">
                <a:latin typeface="Montserrat" panose="00000500000000000000" pitchFamily="2" charset="-52"/>
              </a:rPr>
              <a:t>Restaurant: 11%</a:t>
            </a:r>
          </a:p>
          <a:p>
            <a:endParaRPr lang="ru-RU" sz="1400" dirty="0" smtClean="0">
              <a:latin typeface="Montserrat" panose="00000500000000000000" pitchFamily="2" charset="-52"/>
            </a:endParaRPr>
          </a:p>
          <a:p>
            <a:r>
              <a:rPr lang="en-US" sz="1400" dirty="0" smtClean="0">
                <a:latin typeface="Montserrat" panose="00000500000000000000" pitchFamily="2" charset="-52"/>
              </a:rPr>
              <a:t>Conference hall: 2%</a:t>
            </a:r>
          </a:p>
          <a:p>
            <a:endParaRPr lang="ru-RU" sz="1400" dirty="0" smtClean="0">
              <a:latin typeface="Montserrat" panose="00000500000000000000" pitchFamily="2" charset="-52"/>
            </a:endParaRPr>
          </a:p>
          <a:p>
            <a:r>
              <a:rPr lang="en-US" sz="1400" dirty="0" smtClean="0">
                <a:latin typeface="Montserrat" panose="00000500000000000000" pitchFamily="2" charset="-52"/>
              </a:rPr>
              <a:t>Coffee-break</a:t>
            </a:r>
            <a:r>
              <a:rPr lang="ru-RU" sz="1400" dirty="0" smtClean="0">
                <a:latin typeface="Montserrat" panose="00000500000000000000" pitchFamily="2" charset="-52"/>
              </a:rPr>
              <a:t>, </a:t>
            </a:r>
            <a:r>
              <a:rPr lang="en-US" sz="1400" dirty="0">
                <a:latin typeface="Montserrat" panose="00000500000000000000" pitchFamily="2" charset="-52"/>
              </a:rPr>
              <a:t>lunches and dinners for the corporate segment: </a:t>
            </a:r>
            <a:r>
              <a:rPr lang="en-US" sz="1400" dirty="0" smtClean="0">
                <a:latin typeface="Montserrat" panose="00000500000000000000" pitchFamily="2" charset="-52"/>
              </a:rPr>
              <a:t>11,8%</a:t>
            </a:r>
          </a:p>
          <a:p>
            <a:endParaRPr lang="en-US" sz="1400" dirty="0" smtClean="0">
              <a:latin typeface="Montserrat" panose="00000500000000000000" pitchFamily="2" charset="-52"/>
            </a:endParaRPr>
          </a:p>
          <a:p>
            <a:r>
              <a:rPr lang="en-US" sz="1400" dirty="0">
                <a:latin typeface="Montserrat" panose="00000500000000000000" pitchFamily="2" charset="-52"/>
              </a:rPr>
              <a:t>Laundry services: </a:t>
            </a:r>
            <a:r>
              <a:rPr lang="en-US" sz="1400" dirty="0" smtClean="0">
                <a:latin typeface="Montserrat" panose="00000500000000000000" pitchFamily="2" charset="-52"/>
              </a:rPr>
              <a:t>0,2%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-154699"/>
            <a:ext cx="1571625" cy="1571625"/>
          </a:xfrm>
          <a:prstGeom prst="rect">
            <a:avLst/>
          </a:prstGeom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857500" y="263606"/>
            <a:ext cx="8986839" cy="735013"/>
          </a:xfrm>
        </p:spPr>
        <p:txBody>
          <a:bodyPr>
            <a:normAutofit/>
          </a:bodyPr>
          <a:lstStyle/>
          <a:p>
            <a:pPr algn="r"/>
            <a:r>
              <a:rPr lang="en-US" sz="3200" spc="300" dirty="0">
                <a:latin typeface="Arsenica Trial" panose="00000500000000000000" pitchFamily="2" charset="0"/>
              </a:rPr>
              <a:t>INCOME DISTRIBUTION</a:t>
            </a:r>
            <a:endParaRPr lang="ru-RU" sz="3200" spc="300" dirty="0">
              <a:latin typeface="Arsenica Trial" panose="00000500000000000000" pitchFamily="2" charset="0"/>
            </a:endParaRPr>
          </a:p>
        </p:txBody>
      </p: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659584802"/>
              </p:ext>
            </p:extLst>
          </p:nvPr>
        </p:nvGraphicFramePr>
        <p:xfrm>
          <a:off x="565944" y="1416926"/>
          <a:ext cx="5649119" cy="4955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9477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892176" y="1068404"/>
            <a:ext cx="6808788" cy="3031958"/>
          </a:xfrm>
        </p:spPr>
        <p:txBody>
          <a:bodyPr>
            <a:noAutofit/>
          </a:bodyPr>
          <a:lstStyle/>
          <a:p>
            <a:r>
              <a:rPr lang="en-US" sz="1400" dirty="0">
                <a:latin typeface="Montserrat" panose="00000500000000000000" pitchFamily="2" charset="-52"/>
              </a:rPr>
              <a:t>A convenient location for tourists, within walking distance of the Islamic Civilization Center, </a:t>
            </a:r>
            <a:r>
              <a:rPr lang="en-US" sz="1400" dirty="0" err="1">
                <a:latin typeface="Montserrat" panose="00000500000000000000" pitchFamily="2" charset="-52"/>
              </a:rPr>
              <a:t>Khast</a:t>
            </a:r>
            <a:r>
              <a:rPr lang="en-US" sz="1400" dirty="0">
                <a:latin typeface="Montserrat" panose="00000500000000000000" pitchFamily="2" charset="-52"/>
              </a:rPr>
              <a:t>-Imam, and </a:t>
            </a:r>
            <a:r>
              <a:rPr lang="en-US" sz="1400" dirty="0" err="1">
                <a:latin typeface="Montserrat" panose="00000500000000000000" pitchFamily="2" charset="-52"/>
              </a:rPr>
              <a:t>Chorsu</a:t>
            </a:r>
            <a:r>
              <a:rPr lang="en-US" sz="1400" dirty="0">
                <a:latin typeface="Montserrat" panose="00000500000000000000" pitchFamily="2" charset="-52"/>
              </a:rPr>
              <a:t> Bazaar.</a:t>
            </a:r>
          </a:p>
          <a:p>
            <a:r>
              <a:rPr lang="en-US" sz="1400" dirty="0">
                <a:latin typeface="Montserrat" panose="00000500000000000000" pitchFamily="2" charset="-52"/>
              </a:rPr>
              <a:t>A fully national exterior, with many handmade decorative elements by Uzbek craftsmen, and an oriental atmosphere inside the hotel, which attracts foreign tourists.</a:t>
            </a:r>
          </a:p>
          <a:p>
            <a:r>
              <a:rPr lang="en-US" sz="1400" dirty="0">
                <a:latin typeface="Montserrat" panose="00000500000000000000" pitchFamily="2" charset="-52"/>
              </a:rPr>
              <a:t>One of the highest ratings on booking.com among Tashkent hotels, with a score of 9.1 out of 10. </a:t>
            </a:r>
          </a:p>
          <a:p>
            <a:r>
              <a:rPr lang="en-US" sz="1400" dirty="0">
                <a:latin typeface="Montserrat" panose="00000500000000000000" pitchFamily="2" charset="-52"/>
              </a:rPr>
              <a:t>The hotel has a Halal certificate from Crescent Rating (Singapore), making it the first </a:t>
            </a:r>
            <a:r>
              <a:rPr lang="en-US" sz="1400" dirty="0" err="1">
                <a:latin typeface="Montserrat" panose="00000500000000000000" pitchFamily="2" charset="-52"/>
              </a:rPr>
              <a:t>hotel+restaurant</a:t>
            </a:r>
            <a:r>
              <a:rPr lang="en-US" sz="1400" dirty="0">
                <a:latin typeface="Montserrat" panose="00000500000000000000" pitchFamily="2" charset="-52"/>
              </a:rPr>
              <a:t> project in Uzbekistan to receive this </a:t>
            </a:r>
            <a:r>
              <a:rPr lang="en-US" sz="1400" dirty="0" err="1">
                <a:latin typeface="Montserrat" panose="00000500000000000000" pitchFamily="2" charset="-52"/>
              </a:rPr>
              <a:t>certification.</a:t>
            </a:r>
            <a:r>
              <a:rPr lang="en-US" sz="1400" dirty="0" err="1" smtClean="0">
                <a:latin typeface="Montserrat" panose="00000500000000000000" pitchFamily="2" charset="-52"/>
              </a:rPr>
              <a:t>Opportunities</a:t>
            </a:r>
            <a:r>
              <a:rPr lang="en-US" sz="1400" dirty="0" smtClean="0">
                <a:latin typeface="Montserrat" panose="00000500000000000000" pitchFamily="2" charset="-52"/>
              </a:rPr>
              <a:t> </a:t>
            </a:r>
            <a:r>
              <a:rPr lang="en-US" sz="1400" dirty="0">
                <a:latin typeface="Montserrat" panose="00000500000000000000" pitchFamily="2" charset="-52"/>
              </a:rPr>
              <a:t>for conferences, coffee breaks, as well as lunches and dinners for the corporate segment</a:t>
            </a:r>
            <a:r>
              <a:rPr lang="ru-RU" sz="1400" dirty="0" smtClean="0">
                <a:latin typeface="Montserrat" panose="00000500000000000000" pitchFamily="2" charset="-52"/>
              </a:rPr>
              <a:t>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-154699"/>
            <a:ext cx="1571625" cy="1571625"/>
          </a:xfrm>
          <a:prstGeom prst="rect">
            <a:avLst/>
          </a:prstGeom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828925" y="263607"/>
            <a:ext cx="8986839" cy="735013"/>
          </a:xfrm>
        </p:spPr>
        <p:txBody>
          <a:bodyPr>
            <a:normAutofit/>
          </a:bodyPr>
          <a:lstStyle/>
          <a:p>
            <a:pPr algn="r"/>
            <a:r>
              <a:rPr lang="en-US" sz="3200" spc="300" dirty="0">
                <a:latin typeface="Arsenica Trial" panose="00000500000000000000" pitchFamily="2" charset="0"/>
              </a:rPr>
              <a:t>ADVANTAGES OF THE HOTEL</a:t>
            </a:r>
            <a:endParaRPr lang="ru-RU" sz="3200" spc="300" dirty="0">
              <a:latin typeface="Arsenica Trial" panose="00000500000000000000" pitchFamily="2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219" y="4433095"/>
            <a:ext cx="2662146" cy="91241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318" y="1370085"/>
            <a:ext cx="3692145" cy="49449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11"/>
          <a:stretch/>
        </p:blipFill>
        <p:spPr>
          <a:xfrm>
            <a:off x="990442" y="4433095"/>
            <a:ext cx="3306128" cy="176557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01825" y="6198668"/>
            <a:ext cx="30833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Montserrat" panose="00000500000000000000" pitchFamily="2" charset="-52"/>
              </a:rPr>
              <a:t>The Islamic Civilization Center is located 5 minutes away from the hotel.</a:t>
            </a:r>
            <a:endParaRPr lang="ru-RU" sz="1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555572" y="5315881"/>
            <a:ext cx="30833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Montserrat" panose="00000500000000000000" pitchFamily="2" charset="-52"/>
              </a:rPr>
              <a:t>The rating of the hotel on </a:t>
            </a:r>
            <a:r>
              <a:rPr lang="en-US" sz="1200" dirty="0" smtClean="0">
                <a:latin typeface="Montserrat" panose="00000500000000000000" pitchFamily="2" charset="-52"/>
              </a:rPr>
              <a:t>booking.com – 9.1/10</a:t>
            </a:r>
            <a:endParaRPr lang="ru-RU" sz="1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8161514" y="6315035"/>
            <a:ext cx="3387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 smtClean="0">
                <a:latin typeface="Montserrat" panose="00000500000000000000" pitchFamily="2" charset="-52"/>
              </a:rPr>
              <a:t> </a:t>
            </a:r>
            <a:r>
              <a:rPr lang="en-US" sz="1200" dirty="0" smtClean="0">
                <a:latin typeface="Montserrat" panose="00000500000000000000" pitchFamily="2" charset="-52"/>
              </a:rPr>
              <a:t>“Halal” certificate from </a:t>
            </a:r>
            <a:r>
              <a:rPr lang="ru-RU" sz="1200" dirty="0" smtClean="0">
                <a:latin typeface="Montserrat" panose="00000500000000000000" pitchFamily="2" charset="-52"/>
              </a:rPr>
              <a:t> </a:t>
            </a:r>
            <a:r>
              <a:rPr lang="en-US" sz="1200" dirty="0" smtClean="0">
                <a:latin typeface="Montserrat" panose="00000500000000000000" pitchFamily="2" charset="-52"/>
              </a:rPr>
              <a:t>Crescent Rating</a:t>
            </a:r>
          </a:p>
        </p:txBody>
      </p:sp>
    </p:spTree>
    <p:extLst>
      <p:ext uri="{BB962C8B-B14F-4D97-AF65-F5344CB8AC3E}">
        <p14:creationId xmlns:p14="http://schemas.microsoft.com/office/powerpoint/2010/main" val="3040641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837" y="0"/>
            <a:ext cx="1177925" cy="1177925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609958" y="5518149"/>
            <a:ext cx="8815948" cy="949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spc="300" dirty="0">
                <a:solidFill>
                  <a:srgbClr val="458D94"/>
                </a:solidFill>
                <a:latin typeface="Arsenica Trial" panose="00000500000000000000" pitchFamily="2" charset="0"/>
              </a:rPr>
              <a:t>THANK YOU FOR YOUR ATTENTION</a:t>
            </a:r>
            <a:endParaRPr lang="ru-RU" sz="3600" spc="300" dirty="0">
              <a:solidFill>
                <a:srgbClr val="458D94"/>
              </a:solidFill>
              <a:latin typeface="Arsenica Trial" panose="000005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3" b="5552"/>
          <a:stretch/>
        </p:blipFill>
        <p:spPr>
          <a:xfrm>
            <a:off x="1609958" y="374649"/>
            <a:ext cx="881594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623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2312</TotalTime>
  <Words>449</Words>
  <Application>Microsoft Office PowerPoint</Application>
  <PresentationFormat>Широкоэкранный</PresentationFormat>
  <Paragraphs>58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Arsenica Trial</vt:lpstr>
      <vt:lpstr>Bell MT</vt:lpstr>
      <vt:lpstr>Calibri</vt:lpstr>
      <vt:lpstr>Calibri Light</vt:lpstr>
      <vt:lpstr>Montserrat</vt:lpstr>
      <vt:lpstr>Тема Office</vt:lpstr>
      <vt:lpstr>Презентация PowerPoint</vt:lpstr>
      <vt:lpstr> INFORMATION ABOUT THE HOTE</vt:lpstr>
      <vt:lpstr>Презентация PowerPoint</vt:lpstr>
      <vt:lpstr>TOTAL NUMBER OF ROOMS: 56</vt:lpstr>
      <vt:lpstr>NAVO RESTAURANT</vt:lpstr>
      <vt:lpstr>CONFERENCE HALL AND ADJACENT TERRACE</vt:lpstr>
      <vt:lpstr>INCOME DISTRIBUTION</vt:lpstr>
      <vt:lpstr>ADVANTAGES OF THE HOTEL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13</cp:revision>
  <dcterms:created xsi:type="dcterms:W3CDTF">2026-06-17T23:33:12Z</dcterms:created>
  <dcterms:modified xsi:type="dcterms:W3CDTF">2026-06-23T04:30:52Z</dcterms:modified>
</cp:coreProperties>
</file>