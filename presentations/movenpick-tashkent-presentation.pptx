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10.jpg" ContentType="image/jpeg"/>
  <Override PartName="/ppt/media/image11.jpg" ContentType="image/jpeg"/>
  <Override PartName="/ppt/media/image13.jpg" ContentType="image/jpeg"/>
  <Override PartName="/ppt/media/image39.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2" r:id="rId2"/>
    <p:sldId id="259" r:id="rId3"/>
    <p:sldId id="262" r:id="rId4"/>
    <p:sldId id="269" r:id="rId5"/>
    <p:sldId id="264" r:id="rId6"/>
    <p:sldId id="271" r:id="rId7"/>
    <p:sldId id="263" r:id="rId8"/>
    <p:sldId id="273" r:id="rId9"/>
    <p:sldId id="275" r:id="rId10"/>
    <p:sldId id="280" r:id="rId11"/>
    <p:sldId id="285" r:id="rId12"/>
    <p:sldId id="286" r:id="rId13"/>
    <p:sldId id="287" r:id="rId14"/>
    <p:sldId id="288" r:id="rId15"/>
    <p:sldId id="289" r:id="rId16"/>
    <p:sldId id="290" r:id="rId17"/>
    <p:sldId id="291" r:id="rId18"/>
    <p:sldId id="292" r:id="rId19"/>
    <p:sldId id="270" r:id="rId20"/>
    <p:sldId id="293" r:id="rId21"/>
    <p:sldId id="294" r:id="rId22"/>
    <p:sldId id="272" r:id="rId23"/>
    <p:sldId id="295" r:id="rId24"/>
    <p:sldId id="296" r:id="rId25"/>
    <p:sldId id="297" r:id="rId26"/>
    <p:sldId id="298" r:id="rId27"/>
    <p:sldId id="281" r:id="rId2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4660"/>
  </p:normalViewPr>
  <p:slideViewPr>
    <p:cSldViewPr>
      <p:cViewPr>
        <p:scale>
          <a:sx n="90" d="100"/>
          <a:sy n="90" d="100"/>
        </p:scale>
        <p:origin x="1386" y="546"/>
      </p:cViewPr>
      <p:guideLst>
        <p:guide orient="horz" pos="2880"/>
        <p:guide pos="2160"/>
      </p:guideLst>
    </p:cSldViewPr>
  </p:slideViewPr>
  <p:notesTextViewPr>
    <p:cViewPr>
      <p:scale>
        <a:sx n="100" d="100"/>
        <a:sy n="100" d="100"/>
      </p:scale>
      <p:origin x="0" y="0"/>
    </p:cViewPr>
  </p:notesTextViewPr>
  <p:sorterViewPr>
    <p:cViewPr>
      <p:scale>
        <a:sx n="110" d="100"/>
        <a:sy n="110" d="100"/>
      </p:scale>
      <p:origin x="0" y="-27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575757"/>
            </a:solidFill>
          </a:ln>
        </p:spPr>
        <p:txBody>
          <a:bodyPr wrap="square" lIns="0" tIns="0" rIns="0" bIns="0" rtlCol="0"/>
          <a:lstStyle/>
          <a:p>
            <a:endParaRPr/>
          </a:p>
        </p:txBody>
      </p:sp>
      <p:sp>
        <p:nvSpPr>
          <p:cNvPr id="17" name="bg object 17"/>
          <p:cNvSpPr/>
          <p:nvPr/>
        </p:nvSpPr>
        <p:spPr>
          <a:xfrm>
            <a:off x="11120500" y="309625"/>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pic>
        <p:nvPicPr>
          <p:cNvPr id="18" name="bg object 18"/>
          <p:cNvPicPr/>
          <p:nvPr/>
        </p:nvPicPr>
        <p:blipFill>
          <a:blip r:embed="rId2" cstate="print"/>
          <a:stretch>
            <a:fillRect/>
          </a:stretch>
        </p:blipFill>
        <p:spPr>
          <a:xfrm>
            <a:off x="11766807" y="339886"/>
            <a:ext cx="147284" cy="68676"/>
          </a:xfrm>
          <a:prstGeom prst="rect">
            <a:avLst/>
          </a:prstGeom>
        </p:spPr>
      </p:pic>
      <p:sp>
        <p:nvSpPr>
          <p:cNvPr id="19" name="bg object 19"/>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AC9976"/>
          </a:solidFill>
        </p:spPr>
        <p:txBody>
          <a:bodyPr wrap="square" lIns="0" tIns="0" rIns="0" bIns="0" rtlCol="0"/>
          <a:lstStyle/>
          <a:p>
            <a:endParaRPr/>
          </a:p>
        </p:txBody>
      </p:sp>
      <p:pic>
        <p:nvPicPr>
          <p:cNvPr id="20" name="bg object 20"/>
          <p:cNvPicPr/>
          <p:nvPr/>
        </p:nvPicPr>
        <p:blipFill>
          <a:blip r:embed="rId3" cstate="print"/>
          <a:stretch>
            <a:fillRect/>
          </a:stretch>
        </p:blipFill>
        <p:spPr>
          <a:xfrm>
            <a:off x="0" y="0"/>
            <a:ext cx="12192000" cy="6858000"/>
          </a:xfrm>
          <a:prstGeom prst="rect">
            <a:avLst/>
          </a:prstGeom>
        </p:spPr>
      </p:pic>
      <p:sp>
        <p:nvSpPr>
          <p:cNvPr id="21" name="bg object 21"/>
          <p:cNvSpPr/>
          <p:nvPr/>
        </p:nvSpPr>
        <p:spPr>
          <a:xfrm>
            <a:off x="0" y="2247897"/>
            <a:ext cx="11673205" cy="4610100"/>
          </a:xfrm>
          <a:custGeom>
            <a:avLst/>
            <a:gdLst/>
            <a:ahLst/>
            <a:cxnLst/>
            <a:rect l="l" t="t" r="r" b="b"/>
            <a:pathLst>
              <a:path w="11673205" h="4610100">
                <a:moveTo>
                  <a:pt x="7756077" y="4572000"/>
                </a:moveTo>
                <a:lnTo>
                  <a:pt x="3411057" y="4572000"/>
                </a:lnTo>
                <a:lnTo>
                  <a:pt x="3445281" y="4610100"/>
                </a:lnTo>
                <a:lnTo>
                  <a:pt x="7729320" y="4610100"/>
                </a:lnTo>
                <a:lnTo>
                  <a:pt x="7756077" y="4572000"/>
                </a:lnTo>
                <a:close/>
              </a:path>
              <a:path w="11673205" h="4610100">
                <a:moveTo>
                  <a:pt x="7857759" y="4495800"/>
                </a:moveTo>
                <a:lnTo>
                  <a:pt x="3307618" y="4495800"/>
                </a:lnTo>
                <a:lnTo>
                  <a:pt x="3376705" y="4572000"/>
                </a:lnTo>
                <a:lnTo>
                  <a:pt x="7782301" y="4572000"/>
                </a:lnTo>
                <a:lnTo>
                  <a:pt x="7807992" y="4533900"/>
                </a:lnTo>
                <a:lnTo>
                  <a:pt x="7833146" y="4533900"/>
                </a:lnTo>
                <a:lnTo>
                  <a:pt x="7857759" y="4495800"/>
                </a:lnTo>
                <a:close/>
              </a:path>
              <a:path w="11673205" h="4610100">
                <a:moveTo>
                  <a:pt x="7905354" y="4457700"/>
                </a:moveTo>
                <a:lnTo>
                  <a:pt x="3238025" y="4457700"/>
                </a:lnTo>
                <a:lnTo>
                  <a:pt x="3272885" y="4495800"/>
                </a:lnTo>
                <a:lnTo>
                  <a:pt x="7881830" y="4495800"/>
                </a:lnTo>
                <a:lnTo>
                  <a:pt x="7905354" y="4457700"/>
                </a:lnTo>
                <a:close/>
              </a:path>
              <a:path w="11673205" h="4610100">
                <a:moveTo>
                  <a:pt x="7993935" y="4381500"/>
                </a:moveTo>
                <a:lnTo>
                  <a:pt x="3132691" y="4381500"/>
                </a:lnTo>
                <a:lnTo>
                  <a:pt x="3203039" y="4457700"/>
                </a:lnTo>
                <a:lnTo>
                  <a:pt x="7928330" y="4457700"/>
                </a:lnTo>
                <a:lnTo>
                  <a:pt x="7950754" y="4419600"/>
                </a:lnTo>
                <a:lnTo>
                  <a:pt x="7972624" y="4419600"/>
                </a:lnTo>
                <a:lnTo>
                  <a:pt x="7993935" y="4381500"/>
                </a:lnTo>
                <a:close/>
              </a:path>
              <a:path w="11673205" h="4610100">
                <a:moveTo>
                  <a:pt x="8127260" y="4267200"/>
                </a:moveTo>
                <a:lnTo>
                  <a:pt x="2990504" y="4267200"/>
                </a:lnTo>
                <a:lnTo>
                  <a:pt x="3097331" y="4381500"/>
                </a:lnTo>
                <a:lnTo>
                  <a:pt x="8014687" y="4381500"/>
                </a:lnTo>
                <a:lnTo>
                  <a:pt x="8034874" y="4343400"/>
                </a:lnTo>
                <a:lnTo>
                  <a:pt x="8054496" y="4343400"/>
                </a:lnTo>
                <a:lnTo>
                  <a:pt x="8073548" y="4305300"/>
                </a:lnTo>
                <a:lnTo>
                  <a:pt x="8109933" y="4305300"/>
                </a:lnTo>
                <a:lnTo>
                  <a:pt x="8127260" y="4267200"/>
                </a:lnTo>
                <a:close/>
              </a:path>
              <a:path w="11673205" h="4610100">
                <a:moveTo>
                  <a:pt x="6975331" y="4013200"/>
                </a:moveTo>
                <a:lnTo>
                  <a:pt x="2663432" y="4013200"/>
                </a:lnTo>
                <a:lnTo>
                  <a:pt x="2810007" y="4165600"/>
                </a:lnTo>
                <a:lnTo>
                  <a:pt x="2846350" y="4165600"/>
                </a:lnTo>
                <a:lnTo>
                  <a:pt x="2954649" y="4267200"/>
                </a:lnTo>
                <a:lnTo>
                  <a:pt x="8144006" y="4267200"/>
                </a:lnTo>
                <a:lnTo>
                  <a:pt x="8160168" y="4241800"/>
                </a:lnTo>
                <a:lnTo>
                  <a:pt x="8190729" y="4241800"/>
                </a:lnTo>
                <a:lnTo>
                  <a:pt x="8228487" y="4203700"/>
                </a:lnTo>
                <a:lnTo>
                  <a:pt x="8230961" y="4203700"/>
                </a:lnTo>
                <a:lnTo>
                  <a:pt x="8256146" y="4165600"/>
                </a:lnTo>
                <a:lnTo>
                  <a:pt x="8293120" y="4127500"/>
                </a:lnTo>
                <a:lnTo>
                  <a:pt x="8331936" y="4089400"/>
                </a:lnTo>
                <a:lnTo>
                  <a:pt x="7314984" y="4089400"/>
                </a:lnTo>
                <a:lnTo>
                  <a:pt x="7266702" y="4051300"/>
                </a:lnTo>
                <a:lnTo>
                  <a:pt x="7024115" y="4051300"/>
                </a:lnTo>
                <a:lnTo>
                  <a:pt x="6975331" y="4013200"/>
                </a:lnTo>
                <a:close/>
              </a:path>
              <a:path w="11673205" h="4610100">
                <a:moveTo>
                  <a:pt x="8362645" y="4051300"/>
                </a:moveTo>
                <a:lnTo>
                  <a:pt x="8176763" y="4051300"/>
                </a:lnTo>
                <a:lnTo>
                  <a:pt x="8129022" y="4089400"/>
                </a:lnTo>
                <a:lnTo>
                  <a:pt x="8331936" y="4089400"/>
                </a:lnTo>
                <a:lnTo>
                  <a:pt x="8362645" y="4051300"/>
                </a:lnTo>
                <a:close/>
              </a:path>
              <a:path w="11673205" h="4610100">
                <a:moveTo>
                  <a:pt x="34708" y="0"/>
                </a:moveTo>
                <a:lnTo>
                  <a:pt x="0" y="0"/>
                </a:lnTo>
                <a:lnTo>
                  <a:pt x="0" y="1308100"/>
                </a:lnTo>
                <a:lnTo>
                  <a:pt x="321810" y="1574800"/>
                </a:lnTo>
                <a:lnTo>
                  <a:pt x="368337" y="1651000"/>
                </a:lnTo>
                <a:lnTo>
                  <a:pt x="556298" y="1803400"/>
                </a:lnTo>
                <a:lnTo>
                  <a:pt x="603734" y="1879600"/>
                </a:lnTo>
                <a:lnTo>
                  <a:pt x="747064" y="1981200"/>
                </a:lnTo>
                <a:lnTo>
                  <a:pt x="795170" y="2057400"/>
                </a:lnTo>
                <a:lnTo>
                  <a:pt x="891855" y="2133600"/>
                </a:lnTo>
                <a:lnTo>
                  <a:pt x="940428" y="2209800"/>
                </a:lnTo>
                <a:lnTo>
                  <a:pt x="989151" y="2247900"/>
                </a:lnTo>
                <a:lnTo>
                  <a:pt x="1038019" y="2324100"/>
                </a:lnTo>
                <a:lnTo>
                  <a:pt x="1087031" y="2362200"/>
                </a:lnTo>
                <a:lnTo>
                  <a:pt x="1136182" y="2438400"/>
                </a:lnTo>
                <a:lnTo>
                  <a:pt x="1185470" y="2476500"/>
                </a:lnTo>
                <a:lnTo>
                  <a:pt x="1234890" y="2552700"/>
                </a:lnTo>
                <a:lnTo>
                  <a:pt x="1284441" y="2590800"/>
                </a:lnTo>
                <a:lnTo>
                  <a:pt x="1334118" y="2667000"/>
                </a:lnTo>
                <a:lnTo>
                  <a:pt x="1383918" y="2692400"/>
                </a:lnTo>
                <a:lnTo>
                  <a:pt x="1424452" y="2768600"/>
                </a:lnTo>
                <a:lnTo>
                  <a:pt x="1545418" y="2882900"/>
                </a:lnTo>
                <a:lnTo>
                  <a:pt x="1585527" y="2959100"/>
                </a:lnTo>
                <a:lnTo>
                  <a:pt x="1744883" y="3111500"/>
                </a:lnTo>
                <a:lnTo>
                  <a:pt x="1784450" y="3187700"/>
                </a:lnTo>
                <a:lnTo>
                  <a:pt x="1902494" y="3302000"/>
                </a:lnTo>
                <a:lnTo>
                  <a:pt x="2174033" y="3556000"/>
                </a:lnTo>
                <a:lnTo>
                  <a:pt x="2402353" y="3784600"/>
                </a:lnTo>
                <a:lnTo>
                  <a:pt x="2626489" y="4013200"/>
                </a:lnTo>
                <a:lnTo>
                  <a:pt x="6779160" y="4013200"/>
                </a:lnTo>
                <a:lnTo>
                  <a:pt x="6729835" y="3975100"/>
                </a:lnTo>
                <a:lnTo>
                  <a:pt x="6630818" y="3975100"/>
                </a:lnTo>
                <a:lnTo>
                  <a:pt x="6581116" y="3937000"/>
                </a:lnTo>
                <a:lnTo>
                  <a:pt x="6481303" y="3937000"/>
                </a:lnTo>
                <a:lnTo>
                  <a:pt x="6431183" y="3898900"/>
                </a:lnTo>
                <a:lnTo>
                  <a:pt x="6330493" y="3898900"/>
                </a:lnTo>
                <a:lnTo>
                  <a:pt x="6279915" y="3860800"/>
                </a:lnTo>
                <a:lnTo>
                  <a:pt x="6229175" y="3860800"/>
                </a:lnTo>
                <a:lnTo>
                  <a:pt x="6178269" y="3822700"/>
                </a:lnTo>
                <a:lnTo>
                  <a:pt x="6127193" y="3822700"/>
                </a:lnTo>
                <a:lnTo>
                  <a:pt x="6075941" y="3784600"/>
                </a:lnTo>
                <a:lnTo>
                  <a:pt x="6024510" y="3784600"/>
                </a:lnTo>
                <a:lnTo>
                  <a:pt x="5972895" y="3746500"/>
                </a:lnTo>
                <a:lnTo>
                  <a:pt x="5921092" y="3746500"/>
                </a:lnTo>
                <a:lnTo>
                  <a:pt x="5884548" y="3708400"/>
                </a:lnTo>
                <a:lnTo>
                  <a:pt x="5811169" y="3708400"/>
                </a:lnTo>
                <a:lnTo>
                  <a:pt x="5774331" y="3670300"/>
                </a:lnTo>
                <a:lnTo>
                  <a:pt x="5737392" y="3670300"/>
                </a:lnTo>
                <a:lnTo>
                  <a:pt x="5700349" y="3632200"/>
                </a:lnTo>
                <a:lnTo>
                  <a:pt x="5663203" y="3632200"/>
                </a:lnTo>
                <a:lnTo>
                  <a:pt x="5625951" y="3594100"/>
                </a:lnTo>
                <a:lnTo>
                  <a:pt x="5551124" y="3594100"/>
                </a:lnTo>
                <a:lnTo>
                  <a:pt x="5513545" y="3556000"/>
                </a:lnTo>
                <a:lnTo>
                  <a:pt x="5475855" y="3556000"/>
                </a:lnTo>
                <a:lnTo>
                  <a:pt x="5438051" y="3517900"/>
                </a:lnTo>
                <a:lnTo>
                  <a:pt x="5400132" y="3517900"/>
                </a:lnTo>
                <a:lnTo>
                  <a:pt x="5362097" y="3479800"/>
                </a:lnTo>
                <a:lnTo>
                  <a:pt x="5323944" y="3479800"/>
                </a:lnTo>
                <a:lnTo>
                  <a:pt x="5285671" y="3454400"/>
                </a:lnTo>
                <a:lnTo>
                  <a:pt x="5247277" y="3454400"/>
                </a:lnTo>
                <a:lnTo>
                  <a:pt x="5170119" y="3378200"/>
                </a:lnTo>
                <a:lnTo>
                  <a:pt x="5131353" y="3378200"/>
                </a:lnTo>
                <a:lnTo>
                  <a:pt x="5092459" y="3340100"/>
                </a:lnTo>
                <a:lnTo>
                  <a:pt x="5053437" y="3340100"/>
                </a:lnTo>
                <a:lnTo>
                  <a:pt x="5014284" y="3302000"/>
                </a:lnTo>
                <a:lnTo>
                  <a:pt x="4974999" y="3302000"/>
                </a:lnTo>
                <a:lnTo>
                  <a:pt x="4896028" y="3225800"/>
                </a:lnTo>
                <a:lnTo>
                  <a:pt x="4856339" y="3225800"/>
                </a:lnTo>
                <a:lnTo>
                  <a:pt x="4776545" y="3149600"/>
                </a:lnTo>
                <a:lnTo>
                  <a:pt x="4736437" y="3149600"/>
                </a:lnTo>
                <a:lnTo>
                  <a:pt x="4696186" y="3111500"/>
                </a:lnTo>
                <a:lnTo>
                  <a:pt x="4655792" y="3111500"/>
                </a:lnTo>
                <a:lnTo>
                  <a:pt x="4533728" y="2997200"/>
                </a:lnTo>
                <a:lnTo>
                  <a:pt x="4492741" y="2997200"/>
                </a:lnTo>
                <a:lnTo>
                  <a:pt x="4410312" y="2921000"/>
                </a:lnTo>
                <a:lnTo>
                  <a:pt x="4368865" y="2921000"/>
                </a:lnTo>
                <a:lnTo>
                  <a:pt x="4243581" y="2806700"/>
                </a:lnTo>
                <a:lnTo>
                  <a:pt x="4201500" y="2806700"/>
                </a:lnTo>
                <a:lnTo>
                  <a:pt x="4031535" y="2667000"/>
                </a:lnTo>
                <a:lnTo>
                  <a:pt x="3988626" y="2667000"/>
                </a:lnTo>
                <a:lnTo>
                  <a:pt x="3771496" y="2476500"/>
                </a:lnTo>
                <a:lnTo>
                  <a:pt x="3683410" y="2400300"/>
                </a:lnTo>
                <a:lnTo>
                  <a:pt x="3639097" y="2400300"/>
                </a:lnTo>
                <a:lnTo>
                  <a:pt x="3414760" y="2209800"/>
                </a:lnTo>
                <a:lnTo>
                  <a:pt x="3185670" y="2019300"/>
                </a:lnTo>
                <a:lnTo>
                  <a:pt x="2951635" y="1841500"/>
                </a:lnTo>
                <a:lnTo>
                  <a:pt x="2904217" y="1803400"/>
                </a:lnTo>
                <a:lnTo>
                  <a:pt x="2856593" y="1727200"/>
                </a:lnTo>
                <a:lnTo>
                  <a:pt x="2615311" y="1536700"/>
                </a:lnTo>
                <a:lnTo>
                  <a:pt x="2566412" y="1498600"/>
                </a:lnTo>
                <a:lnTo>
                  <a:pt x="2515448" y="1422400"/>
                </a:lnTo>
                <a:lnTo>
                  <a:pt x="1658054" y="787400"/>
                </a:lnTo>
                <a:lnTo>
                  <a:pt x="1509078" y="673100"/>
                </a:lnTo>
                <a:lnTo>
                  <a:pt x="1459613" y="673100"/>
                </a:lnTo>
                <a:lnTo>
                  <a:pt x="1311833" y="558800"/>
                </a:lnTo>
                <a:lnTo>
                  <a:pt x="1262787" y="558800"/>
                </a:lnTo>
                <a:lnTo>
                  <a:pt x="1116332" y="444500"/>
                </a:lnTo>
                <a:lnTo>
                  <a:pt x="1067750" y="444500"/>
                </a:lnTo>
                <a:lnTo>
                  <a:pt x="970955" y="368300"/>
                </a:lnTo>
                <a:lnTo>
                  <a:pt x="922749" y="368300"/>
                </a:lnTo>
                <a:lnTo>
                  <a:pt x="874672" y="342900"/>
                </a:lnTo>
                <a:lnTo>
                  <a:pt x="826730" y="342900"/>
                </a:lnTo>
                <a:lnTo>
                  <a:pt x="731255" y="266700"/>
                </a:lnTo>
                <a:lnTo>
                  <a:pt x="683728" y="266700"/>
                </a:lnTo>
                <a:lnTo>
                  <a:pt x="636346" y="228600"/>
                </a:lnTo>
                <a:lnTo>
                  <a:pt x="589110" y="228600"/>
                </a:lnTo>
                <a:lnTo>
                  <a:pt x="542023" y="190500"/>
                </a:lnTo>
                <a:lnTo>
                  <a:pt x="495089" y="190500"/>
                </a:lnTo>
                <a:lnTo>
                  <a:pt x="448310" y="152400"/>
                </a:lnTo>
                <a:lnTo>
                  <a:pt x="401688" y="152400"/>
                </a:lnTo>
                <a:lnTo>
                  <a:pt x="355226" y="114300"/>
                </a:lnTo>
                <a:lnTo>
                  <a:pt x="308928" y="114300"/>
                </a:lnTo>
                <a:lnTo>
                  <a:pt x="262795" y="76200"/>
                </a:lnTo>
                <a:lnTo>
                  <a:pt x="171036" y="76200"/>
                </a:lnTo>
                <a:lnTo>
                  <a:pt x="125416" y="38100"/>
                </a:lnTo>
                <a:lnTo>
                  <a:pt x="79973" y="38100"/>
                </a:lnTo>
                <a:lnTo>
                  <a:pt x="34708" y="0"/>
                </a:lnTo>
                <a:close/>
              </a:path>
              <a:path w="11673205" h="4610100">
                <a:moveTo>
                  <a:pt x="10071093" y="2362200"/>
                </a:moveTo>
                <a:lnTo>
                  <a:pt x="8047383" y="2362200"/>
                </a:lnTo>
                <a:lnTo>
                  <a:pt x="7832163" y="2514600"/>
                </a:lnTo>
                <a:lnTo>
                  <a:pt x="7777663" y="2514600"/>
                </a:lnTo>
                <a:lnTo>
                  <a:pt x="7556934" y="2667000"/>
                </a:lnTo>
                <a:lnTo>
                  <a:pt x="7217835" y="2882900"/>
                </a:lnTo>
                <a:lnTo>
                  <a:pt x="7164136" y="2921000"/>
                </a:lnTo>
                <a:lnTo>
                  <a:pt x="7112334" y="2959100"/>
                </a:lnTo>
                <a:lnTo>
                  <a:pt x="7062322" y="2959100"/>
                </a:lnTo>
                <a:lnTo>
                  <a:pt x="7013996" y="2997200"/>
                </a:lnTo>
                <a:lnTo>
                  <a:pt x="6967250" y="3035300"/>
                </a:lnTo>
                <a:lnTo>
                  <a:pt x="6921979" y="3073400"/>
                </a:lnTo>
                <a:lnTo>
                  <a:pt x="6878077" y="3111500"/>
                </a:lnTo>
                <a:lnTo>
                  <a:pt x="6753535" y="3187700"/>
                </a:lnTo>
                <a:lnTo>
                  <a:pt x="6675424" y="3225800"/>
                </a:lnTo>
                <a:lnTo>
                  <a:pt x="6637528" y="3263900"/>
                </a:lnTo>
                <a:lnTo>
                  <a:pt x="6600263" y="3302000"/>
                </a:lnTo>
                <a:lnTo>
                  <a:pt x="6563526" y="3302000"/>
                </a:lnTo>
                <a:lnTo>
                  <a:pt x="6491210" y="3378200"/>
                </a:lnTo>
                <a:lnTo>
                  <a:pt x="6516537" y="3378200"/>
                </a:lnTo>
                <a:lnTo>
                  <a:pt x="6548325" y="3416300"/>
                </a:lnTo>
                <a:lnTo>
                  <a:pt x="6581290" y="3454400"/>
                </a:lnTo>
                <a:lnTo>
                  <a:pt x="6615399" y="3454400"/>
                </a:lnTo>
                <a:lnTo>
                  <a:pt x="6650620" y="3479800"/>
                </a:lnTo>
                <a:lnTo>
                  <a:pt x="6686918" y="3479800"/>
                </a:lnTo>
                <a:lnTo>
                  <a:pt x="6724262" y="3517900"/>
                </a:lnTo>
                <a:lnTo>
                  <a:pt x="6762616" y="3556000"/>
                </a:lnTo>
                <a:lnTo>
                  <a:pt x="6801949" y="3556000"/>
                </a:lnTo>
                <a:lnTo>
                  <a:pt x="6842227" y="3594100"/>
                </a:lnTo>
                <a:lnTo>
                  <a:pt x="6883416" y="3594100"/>
                </a:lnTo>
                <a:lnTo>
                  <a:pt x="6925483" y="3632200"/>
                </a:lnTo>
                <a:lnTo>
                  <a:pt x="6968396" y="3670300"/>
                </a:lnTo>
                <a:lnTo>
                  <a:pt x="7012120" y="3670300"/>
                </a:lnTo>
                <a:lnTo>
                  <a:pt x="7056623" y="3708400"/>
                </a:lnTo>
                <a:lnTo>
                  <a:pt x="7101871" y="3708400"/>
                </a:lnTo>
                <a:lnTo>
                  <a:pt x="7147831" y="3746500"/>
                </a:lnTo>
                <a:lnTo>
                  <a:pt x="7194470" y="3746500"/>
                </a:lnTo>
                <a:lnTo>
                  <a:pt x="7241754" y="3784600"/>
                </a:lnTo>
                <a:lnTo>
                  <a:pt x="7289651" y="3784600"/>
                </a:lnTo>
                <a:lnTo>
                  <a:pt x="7338126" y="3822700"/>
                </a:lnTo>
                <a:lnTo>
                  <a:pt x="7387147" y="3822700"/>
                </a:lnTo>
                <a:lnTo>
                  <a:pt x="7436681" y="3860800"/>
                </a:lnTo>
                <a:lnTo>
                  <a:pt x="7486693" y="3860800"/>
                </a:lnTo>
                <a:lnTo>
                  <a:pt x="7537152" y="3898900"/>
                </a:lnTo>
                <a:lnTo>
                  <a:pt x="7639273" y="3898900"/>
                </a:lnTo>
                <a:lnTo>
                  <a:pt x="7690870" y="3937000"/>
                </a:lnTo>
                <a:lnTo>
                  <a:pt x="7794968" y="3937000"/>
                </a:lnTo>
                <a:lnTo>
                  <a:pt x="7847403" y="3975100"/>
                </a:lnTo>
                <a:lnTo>
                  <a:pt x="7952879" y="3975100"/>
                </a:lnTo>
                <a:lnTo>
                  <a:pt x="8005854" y="4013200"/>
                </a:lnTo>
                <a:lnTo>
                  <a:pt x="8377981" y="4013200"/>
                </a:lnTo>
                <a:lnTo>
                  <a:pt x="8420229" y="3975100"/>
                </a:lnTo>
                <a:lnTo>
                  <a:pt x="8460058" y="3937000"/>
                </a:lnTo>
                <a:lnTo>
                  <a:pt x="8497760" y="3898900"/>
                </a:lnTo>
                <a:lnTo>
                  <a:pt x="8533625" y="3860800"/>
                </a:lnTo>
                <a:lnTo>
                  <a:pt x="8567944" y="3822700"/>
                </a:lnTo>
                <a:lnTo>
                  <a:pt x="8601007" y="3784600"/>
                </a:lnTo>
                <a:lnTo>
                  <a:pt x="8633104" y="3746500"/>
                </a:lnTo>
                <a:lnTo>
                  <a:pt x="8664526" y="3708400"/>
                </a:lnTo>
                <a:lnTo>
                  <a:pt x="8757648" y="3594100"/>
                </a:lnTo>
                <a:lnTo>
                  <a:pt x="8821680" y="3517900"/>
                </a:lnTo>
                <a:lnTo>
                  <a:pt x="8855153" y="3479800"/>
                </a:lnTo>
                <a:lnTo>
                  <a:pt x="8889984" y="3454400"/>
                </a:lnTo>
                <a:lnTo>
                  <a:pt x="8926464" y="3416300"/>
                </a:lnTo>
                <a:lnTo>
                  <a:pt x="8990774" y="3340100"/>
                </a:lnTo>
                <a:lnTo>
                  <a:pt x="9054324" y="3302000"/>
                </a:lnTo>
                <a:lnTo>
                  <a:pt x="9117118" y="3225800"/>
                </a:lnTo>
                <a:lnTo>
                  <a:pt x="9179157" y="3149600"/>
                </a:lnTo>
                <a:lnTo>
                  <a:pt x="9240444" y="3073400"/>
                </a:lnTo>
                <a:lnTo>
                  <a:pt x="9300982" y="3035300"/>
                </a:lnTo>
                <a:lnTo>
                  <a:pt x="9360772" y="2959100"/>
                </a:lnTo>
                <a:lnTo>
                  <a:pt x="9419818" y="2921000"/>
                </a:lnTo>
                <a:lnTo>
                  <a:pt x="9478120" y="2844800"/>
                </a:lnTo>
                <a:lnTo>
                  <a:pt x="9592507" y="2768600"/>
                </a:lnTo>
                <a:lnTo>
                  <a:pt x="9648595" y="2692400"/>
                </a:lnTo>
                <a:lnTo>
                  <a:pt x="9758574" y="2628900"/>
                </a:lnTo>
                <a:lnTo>
                  <a:pt x="9812469" y="2590800"/>
                </a:lnTo>
                <a:lnTo>
                  <a:pt x="9865637" y="2514600"/>
                </a:lnTo>
                <a:lnTo>
                  <a:pt x="9969804" y="2438400"/>
                </a:lnTo>
                <a:lnTo>
                  <a:pt x="10020807" y="2400300"/>
                </a:lnTo>
                <a:lnTo>
                  <a:pt x="10071093" y="2362200"/>
                </a:lnTo>
                <a:close/>
              </a:path>
              <a:path w="11673205" h="4610100">
                <a:moveTo>
                  <a:pt x="10447837" y="2133600"/>
                </a:moveTo>
                <a:lnTo>
                  <a:pt x="8514901" y="2133600"/>
                </a:lnTo>
                <a:lnTo>
                  <a:pt x="8413052" y="2209800"/>
                </a:lnTo>
                <a:lnTo>
                  <a:pt x="8361685" y="2209800"/>
                </a:lnTo>
                <a:lnTo>
                  <a:pt x="8258072" y="2286000"/>
                </a:lnTo>
                <a:lnTo>
                  <a:pt x="8205830" y="2286000"/>
                </a:lnTo>
                <a:lnTo>
                  <a:pt x="8100484" y="2362200"/>
                </a:lnTo>
                <a:lnTo>
                  <a:pt x="10120664" y="2362200"/>
                </a:lnTo>
                <a:lnTo>
                  <a:pt x="10169522" y="2324100"/>
                </a:lnTo>
                <a:lnTo>
                  <a:pt x="10217670" y="2286000"/>
                </a:lnTo>
                <a:lnTo>
                  <a:pt x="10265110" y="2247900"/>
                </a:lnTo>
                <a:lnTo>
                  <a:pt x="10311845" y="2209800"/>
                </a:lnTo>
                <a:lnTo>
                  <a:pt x="10357876" y="2171700"/>
                </a:lnTo>
                <a:lnTo>
                  <a:pt x="10403206" y="2171700"/>
                </a:lnTo>
                <a:lnTo>
                  <a:pt x="10447837" y="2133600"/>
                </a:lnTo>
                <a:close/>
              </a:path>
              <a:path w="11673205" h="4610100">
                <a:moveTo>
                  <a:pt x="10660595" y="2019300"/>
                </a:moveTo>
                <a:lnTo>
                  <a:pt x="8764273" y="2019300"/>
                </a:lnTo>
                <a:lnTo>
                  <a:pt x="8665432" y="2095500"/>
                </a:lnTo>
                <a:lnTo>
                  <a:pt x="8615556" y="2095500"/>
                </a:lnTo>
                <a:lnTo>
                  <a:pt x="8565378" y="2133600"/>
                </a:lnTo>
                <a:lnTo>
                  <a:pt x="10491772" y="2133600"/>
                </a:lnTo>
                <a:lnTo>
                  <a:pt x="10535013" y="2095500"/>
                </a:lnTo>
                <a:lnTo>
                  <a:pt x="10577563" y="2057400"/>
                </a:lnTo>
                <a:lnTo>
                  <a:pt x="10619423" y="2057400"/>
                </a:lnTo>
                <a:lnTo>
                  <a:pt x="10660595" y="2019300"/>
                </a:lnTo>
                <a:close/>
              </a:path>
              <a:path w="11673205" h="4610100">
                <a:moveTo>
                  <a:pt x="10740889" y="1981200"/>
                </a:moveTo>
                <a:lnTo>
                  <a:pt x="8861887" y="1981200"/>
                </a:lnTo>
                <a:lnTo>
                  <a:pt x="8813234" y="2019300"/>
                </a:lnTo>
                <a:lnTo>
                  <a:pt x="10701083" y="2019300"/>
                </a:lnTo>
                <a:lnTo>
                  <a:pt x="10740889" y="1981200"/>
                </a:lnTo>
                <a:close/>
              </a:path>
              <a:path w="11673205" h="4610100">
                <a:moveTo>
                  <a:pt x="10856234" y="1943100"/>
                </a:moveTo>
                <a:lnTo>
                  <a:pt x="8958261" y="1943100"/>
                </a:lnTo>
                <a:lnTo>
                  <a:pt x="8910230" y="1981200"/>
                </a:lnTo>
                <a:lnTo>
                  <a:pt x="10818462" y="1981200"/>
                </a:lnTo>
                <a:lnTo>
                  <a:pt x="10856234" y="1943100"/>
                </a:lnTo>
                <a:close/>
              </a:path>
              <a:path w="11673205" h="4610100">
                <a:moveTo>
                  <a:pt x="10965521" y="1905000"/>
                </a:moveTo>
                <a:lnTo>
                  <a:pt x="9053382" y="1905000"/>
                </a:lnTo>
                <a:lnTo>
                  <a:pt x="9005979" y="1943100"/>
                </a:lnTo>
                <a:lnTo>
                  <a:pt x="10929761" y="1943100"/>
                </a:lnTo>
                <a:lnTo>
                  <a:pt x="10965521" y="1905000"/>
                </a:lnTo>
                <a:close/>
              </a:path>
              <a:path w="11673205" h="4610100">
                <a:moveTo>
                  <a:pt x="11068811" y="1879600"/>
                </a:moveTo>
                <a:lnTo>
                  <a:pt x="9193683" y="1879600"/>
                </a:lnTo>
                <a:lnTo>
                  <a:pt x="9147236" y="1905000"/>
                </a:lnTo>
                <a:lnTo>
                  <a:pt x="11035043" y="1905000"/>
                </a:lnTo>
                <a:lnTo>
                  <a:pt x="11068811" y="1879600"/>
                </a:lnTo>
                <a:close/>
              </a:path>
              <a:path w="11673205" h="4610100">
                <a:moveTo>
                  <a:pt x="11257654" y="1841500"/>
                </a:moveTo>
                <a:lnTo>
                  <a:pt x="9285612" y="1841500"/>
                </a:lnTo>
                <a:lnTo>
                  <a:pt x="9239809" y="1879600"/>
                </a:lnTo>
                <a:lnTo>
                  <a:pt x="11227807" y="1879600"/>
                </a:lnTo>
                <a:lnTo>
                  <a:pt x="11257654" y="1841500"/>
                </a:lnTo>
                <a:close/>
              </a:path>
              <a:path w="11673205" h="4610100">
                <a:moveTo>
                  <a:pt x="11566140" y="1803400"/>
                </a:moveTo>
                <a:lnTo>
                  <a:pt x="9421061" y="1803400"/>
                </a:lnTo>
                <a:lnTo>
                  <a:pt x="9376239" y="1841500"/>
                </a:lnTo>
                <a:lnTo>
                  <a:pt x="11543884" y="1841500"/>
                </a:lnTo>
                <a:lnTo>
                  <a:pt x="11566140" y="1803400"/>
                </a:lnTo>
                <a:close/>
              </a:path>
              <a:path w="11673205" h="4610100">
                <a:moveTo>
                  <a:pt x="11638657" y="1765300"/>
                </a:moveTo>
                <a:lnTo>
                  <a:pt x="9553538" y="1765300"/>
                </a:lnTo>
                <a:lnTo>
                  <a:pt x="9509712" y="1803400"/>
                </a:lnTo>
                <a:lnTo>
                  <a:pt x="11672605" y="1803400"/>
                </a:lnTo>
                <a:lnTo>
                  <a:pt x="11638657" y="1765300"/>
                </a:lnTo>
                <a:close/>
              </a:path>
              <a:path w="11673205" h="4610100">
                <a:moveTo>
                  <a:pt x="11526216" y="1727200"/>
                </a:moveTo>
                <a:lnTo>
                  <a:pt x="9725474" y="1727200"/>
                </a:lnTo>
                <a:lnTo>
                  <a:pt x="9682999" y="1765300"/>
                </a:lnTo>
                <a:lnTo>
                  <a:pt x="11565449" y="1765300"/>
                </a:lnTo>
                <a:lnTo>
                  <a:pt x="11526216" y="1727200"/>
                </a:lnTo>
                <a:close/>
              </a:path>
              <a:path w="11673205" h="4610100">
                <a:moveTo>
                  <a:pt x="11398158" y="1689100"/>
                </a:moveTo>
                <a:lnTo>
                  <a:pt x="9891937" y="1689100"/>
                </a:lnTo>
                <a:lnTo>
                  <a:pt x="9850840" y="1727200"/>
                </a:lnTo>
                <a:lnTo>
                  <a:pt x="11442557" y="1727200"/>
                </a:lnTo>
                <a:lnTo>
                  <a:pt x="11398158" y="1689100"/>
                </a:lnTo>
                <a:close/>
              </a:path>
              <a:path w="11673205" h="4610100">
                <a:moveTo>
                  <a:pt x="11254842" y="1651000"/>
                </a:moveTo>
                <a:lnTo>
                  <a:pt x="10092159" y="1651000"/>
                </a:lnTo>
                <a:lnTo>
                  <a:pt x="10052822" y="1689100"/>
                </a:lnTo>
                <a:lnTo>
                  <a:pt x="11304288" y="1689100"/>
                </a:lnTo>
                <a:lnTo>
                  <a:pt x="11254842" y="1651000"/>
                </a:lnTo>
                <a:close/>
              </a:path>
              <a:path w="11673205" h="4610100">
                <a:moveTo>
                  <a:pt x="10983051" y="1612900"/>
                </a:moveTo>
                <a:lnTo>
                  <a:pt x="10429917" y="1612900"/>
                </a:lnTo>
                <a:lnTo>
                  <a:pt x="10393855" y="1651000"/>
                </a:lnTo>
                <a:lnTo>
                  <a:pt x="11040641" y="1651000"/>
                </a:lnTo>
                <a:lnTo>
                  <a:pt x="10983051" y="1612900"/>
                </a:lnTo>
                <a:close/>
              </a:path>
            </a:pathLst>
          </a:custGeom>
          <a:solidFill>
            <a:srgbClr val="FFFFFF">
              <a:alpha val="17646"/>
            </a:srgbClr>
          </a:solidFill>
        </p:spPr>
        <p:txBody>
          <a:bodyPr wrap="square" lIns="0" tIns="0" rIns="0" bIns="0" rtlCol="0"/>
          <a:lstStyle/>
          <a:p>
            <a:endParaRPr/>
          </a:p>
        </p:txBody>
      </p:sp>
      <p:sp>
        <p:nvSpPr>
          <p:cNvPr id="22" name="bg object 22"/>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sp>
        <p:nvSpPr>
          <p:cNvPr id="2" name="Holder 2"/>
          <p:cNvSpPr>
            <a:spLocks noGrp="1"/>
          </p:cNvSpPr>
          <p:nvPr>
            <p:ph type="ctrTitle"/>
          </p:nvPr>
        </p:nvSpPr>
        <p:spPr>
          <a:xfrm>
            <a:off x="1358011" y="3651504"/>
            <a:ext cx="4215130" cy="777875"/>
          </a:xfrm>
          <a:prstGeom prst="rect">
            <a:avLst/>
          </a:prstGeom>
        </p:spPr>
        <p:txBody>
          <a:bodyPr wrap="square" lIns="0" tIns="0" rIns="0" bIns="0">
            <a:spAutoFit/>
          </a:bodyPr>
          <a:lstStyle>
            <a:lvl1pPr>
              <a:defRPr sz="2000" b="0" i="0">
                <a:solidFill>
                  <a:srgbClr val="AC9976"/>
                </a:solidFill>
                <a:latin typeface="Lucida Sans Unicode"/>
                <a:cs typeface="Lucida Sans Unicode"/>
              </a:defRPr>
            </a:lvl1pPr>
          </a:lstStyle>
          <a:p>
            <a:endParaRPr/>
          </a:p>
        </p:txBody>
      </p:sp>
      <p:sp>
        <p:nvSpPr>
          <p:cNvPr id="3" name="Holder 3"/>
          <p:cNvSpPr>
            <a:spLocks noGrp="1"/>
          </p:cNvSpPr>
          <p:nvPr>
            <p:ph type="subTitle" idx="4"/>
          </p:nvPr>
        </p:nvSpPr>
        <p:spPr>
          <a:xfrm>
            <a:off x="1358011" y="3651504"/>
            <a:ext cx="4215130" cy="7778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120501" y="309625"/>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pic>
        <p:nvPicPr>
          <p:cNvPr id="17" name="bg object 17"/>
          <p:cNvPicPr/>
          <p:nvPr/>
        </p:nvPicPr>
        <p:blipFill>
          <a:blip r:embed="rId2" cstate="print"/>
          <a:stretch>
            <a:fillRect/>
          </a:stretch>
        </p:blipFill>
        <p:spPr>
          <a:xfrm>
            <a:off x="11766807" y="339886"/>
            <a:ext cx="147284" cy="68676"/>
          </a:xfrm>
          <a:prstGeom prst="rect">
            <a:avLst/>
          </a:prstGeom>
        </p:spPr>
      </p:pic>
      <p:sp>
        <p:nvSpPr>
          <p:cNvPr id="18" name="bg object 18"/>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AC997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000" b="0" i="0">
                <a:solidFill>
                  <a:srgbClr val="AC9976"/>
                </a:solidFill>
                <a:latin typeface="Lucida Sans Unicode"/>
                <a:cs typeface="Lucida Sans Unicode"/>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AC9976"/>
                </a:solidFill>
                <a:latin typeface="Lucida Sans Unicode"/>
                <a:cs typeface="Lucida Sans Unicode"/>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AC9976"/>
                </a:solidFill>
                <a:latin typeface="Lucida Sans Unicode"/>
                <a:cs typeface="Lucida Sans Unicod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DEBE3"/>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5562600" y="104773"/>
            <a:ext cx="1266825" cy="664845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44207" y="316468"/>
            <a:ext cx="4264025" cy="667385"/>
          </a:xfrm>
          <a:prstGeom prst="rect">
            <a:avLst/>
          </a:prstGeom>
        </p:spPr>
        <p:txBody>
          <a:bodyPr wrap="square" lIns="0" tIns="0" rIns="0" bIns="0">
            <a:spAutoFit/>
          </a:bodyPr>
          <a:lstStyle>
            <a:lvl1pPr>
              <a:defRPr sz="2000" b="0" i="0">
                <a:solidFill>
                  <a:srgbClr val="AC9976"/>
                </a:solidFill>
                <a:latin typeface="Lucida Sans Unicode"/>
                <a:cs typeface="Lucida Sans Unicode"/>
              </a:defRPr>
            </a:lvl1pPr>
          </a:lstStyle>
          <a:p>
            <a:endParaRPr/>
          </a:p>
        </p:txBody>
      </p:sp>
      <p:sp>
        <p:nvSpPr>
          <p:cNvPr id="3" name="Holder 3"/>
          <p:cNvSpPr>
            <a:spLocks noGrp="1"/>
          </p:cNvSpPr>
          <p:nvPr>
            <p:ph type="body" idx="1"/>
          </p:nvPr>
        </p:nvSpPr>
        <p:spPr>
          <a:xfrm>
            <a:off x="500570" y="1820148"/>
            <a:ext cx="4899660" cy="456120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jpg"/><Relationship Id="rId1" Type="http://schemas.openxmlformats.org/officeDocument/2006/relationships/slideLayout" Target="../slideLayouts/slideLayout5.xm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22.jpeg"/><Relationship Id="rId11" Type="http://schemas.openxmlformats.org/officeDocument/2006/relationships/image" Target="../media/image27.jpeg"/><Relationship Id="rId5" Type="http://schemas.openxmlformats.org/officeDocument/2006/relationships/image" Target="../media/image21.jpeg"/><Relationship Id="rId10" Type="http://schemas.openxmlformats.org/officeDocument/2006/relationships/image" Target="../media/image26.png"/><Relationship Id="rId4" Type="http://schemas.openxmlformats.org/officeDocument/2006/relationships/image" Target="../media/image20.jpe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7.jp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9.jp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jpeg"/><Relationship Id="rId4" Type="http://schemas.openxmlformats.org/officeDocument/2006/relationships/image" Target="../media/image37.jpg"/></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g"/><Relationship Id="rId1" Type="http://schemas.openxmlformats.org/officeDocument/2006/relationships/slideLayout" Target="../slideLayouts/slideLayout5.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72498E07-5BCA-796D-382D-1ADE1A2390E6}"/>
              </a:ext>
            </a:extLst>
          </p:cNvPr>
          <p:cNvPicPr>
            <a:picLocks noChangeAspect="1"/>
          </p:cNvPicPr>
          <p:nvPr/>
        </p:nvPicPr>
        <p:blipFill>
          <a:blip r:embed="rId2">
            <a:extLst>
              <a:ext uri="{28A0092B-C50C-407E-A947-70E740481C1C}">
                <a14:useLocalDpi xmlns:a14="http://schemas.microsoft.com/office/drawing/2010/main" val="0"/>
              </a:ext>
            </a:extLst>
          </a:blip>
          <a:srcRect l="3337" t="11372" r="22983" b="30037"/>
          <a:stretch/>
        </p:blipFill>
        <p:spPr>
          <a:xfrm>
            <a:off x="3544" y="0"/>
            <a:ext cx="12188456" cy="6852601"/>
          </a:xfrm>
          <a:prstGeom prst="rect">
            <a:avLst/>
          </a:prstGeom>
        </p:spPr>
      </p:pic>
      <p:sp>
        <p:nvSpPr>
          <p:cNvPr id="6" name="object 12">
            <a:extLst>
              <a:ext uri="{FF2B5EF4-FFF2-40B4-BE49-F238E27FC236}">
                <a16:creationId xmlns:a16="http://schemas.microsoft.com/office/drawing/2014/main" id="{74A02433-AAD3-1AF7-E83F-6EFB52D975EE}"/>
              </a:ext>
            </a:extLst>
          </p:cNvPr>
          <p:cNvSpPr/>
          <p:nvPr/>
        </p:nvSpPr>
        <p:spPr>
          <a:xfrm>
            <a:off x="-228600" y="2281428"/>
            <a:ext cx="11673205" cy="4610100"/>
          </a:xfrm>
          <a:custGeom>
            <a:avLst/>
            <a:gdLst/>
            <a:ahLst/>
            <a:cxnLst/>
            <a:rect l="l" t="t" r="r" b="b"/>
            <a:pathLst>
              <a:path w="11673205" h="4610100">
                <a:moveTo>
                  <a:pt x="7756077" y="4572000"/>
                </a:moveTo>
                <a:lnTo>
                  <a:pt x="3411057" y="4572000"/>
                </a:lnTo>
                <a:lnTo>
                  <a:pt x="3445281" y="4610100"/>
                </a:lnTo>
                <a:lnTo>
                  <a:pt x="7729320" y="4610100"/>
                </a:lnTo>
                <a:lnTo>
                  <a:pt x="7756077" y="4572000"/>
                </a:lnTo>
                <a:close/>
              </a:path>
              <a:path w="11673205" h="4610100">
                <a:moveTo>
                  <a:pt x="7857759" y="4495800"/>
                </a:moveTo>
                <a:lnTo>
                  <a:pt x="3307618" y="4495800"/>
                </a:lnTo>
                <a:lnTo>
                  <a:pt x="3376705" y="4572000"/>
                </a:lnTo>
                <a:lnTo>
                  <a:pt x="7782301" y="4572000"/>
                </a:lnTo>
                <a:lnTo>
                  <a:pt x="7807992" y="4533900"/>
                </a:lnTo>
                <a:lnTo>
                  <a:pt x="7833146" y="4533900"/>
                </a:lnTo>
                <a:lnTo>
                  <a:pt x="7857759" y="4495800"/>
                </a:lnTo>
                <a:close/>
              </a:path>
              <a:path w="11673205" h="4610100">
                <a:moveTo>
                  <a:pt x="7905354" y="4457700"/>
                </a:moveTo>
                <a:lnTo>
                  <a:pt x="3238025" y="4457700"/>
                </a:lnTo>
                <a:lnTo>
                  <a:pt x="3272885" y="4495800"/>
                </a:lnTo>
                <a:lnTo>
                  <a:pt x="7881830" y="4495800"/>
                </a:lnTo>
                <a:lnTo>
                  <a:pt x="7905354" y="4457700"/>
                </a:lnTo>
                <a:close/>
              </a:path>
              <a:path w="11673205" h="4610100">
                <a:moveTo>
                  <a:pt x="7993935" y="4381500"/>
                </a:moveTo>
                <a:lnTo>
                  <a:pt x="3132691" y="4381500"/>
                </a:lnTo>
                <a:lnTo>
                  <a:pt x="3203039" y="4457700"/>
                </a:lnTo>
                <a:lnTo>
                  <a:pt x="7928330" y="4457700"/>
                </a:lnTo>
                <a:lnTo>
                  <a:pt x="7950754" y="4419600"/>
                </a:lnTo>
                <a:lnTo>
                  <a:pt x="7972624" y="4419600"/>
                </a:lnTo>
                <a:lnTo>
                  <a:pt x="7993935" y="4381500"/>
                </a:lnTo>
                <a:close/>
              </a:path>
              <a:path w="11673205" h="4610100">
                <a:moveTo>
                  <a:pt x="8127260" y="4267200"/>
                </a:moveTo>
                <a:lnTo>
                  <a:pt x="2990504" y="4267200"/>
                </a:lnTo>
                <a:lnTo>
                  <a:pt x="3097331" y="4381500"/>
                </a:lnTo>
                <a:lnTo>
                  <a:pt x="8014687" y="4381500"/>
                </a:lnTo>
                <a:lnTo>
                  <a:pt x="8034874" y="4343400"/>
                </a:lnTo>
                <a:lnTo>
                  <a:pt x="8054496" y="4343400"/>
                </a:lnTo>
                <a:lnTo>
                  <a:pt x="8073548" y="4305300"/>
                </a:lnTo>
                <a:lnTo>
                  <a:pt x="8109933" y="4305300"/>
                </a:lnTo>
                <a:lnTo>
                  <a:pt x="8127260" y="4267200"/>
                </a:lnTo>
                <a:close/>
              </a:path>
              <a:path w="11673205" h="4610100">
                <a:moveTo>
                  <a:pt x="6975331" y="4013200"/>
                </a:moveTo>
                <a:lnTo>
                  <a:pt x="2663432" y="4013200"/>
                </a:lnTo>
                <a:lnTo>
                  <a:pt x="2810007" y="4165600"/>
                </a:lnTo>
                <a:lnTo>
                  <a:pt x="2846350" y="4165600"/>
                </a:lnTo>
                <a:lnTo>
                  <a:pt x="2954649" y="4267200"/>
                </a:lnTo>
                <a:lnTo>
                  <a:pt x="8144006" y="4267200"/>
                </a:lnTo>
                <a:lnTo>
                  <a:pt x="8160168" y="4241800"/>
                </a:lnTo>
                <a:lnTo>
                  <a:pt x="8190729" y="4241800"/>
                </a:lnTo>
                <a:lnTo>
                  <a:pt x="8228487" y="4203700"/>
                </a:lnTo>
                <a:lnTo>
                  <a:pt x="8230961" y="4203700"/>
                </a:lnTo>
                <a:lnTo>
                  <a:pt x="8256146" y="4165600"/>
                </a:lnTo>
                <a:lnTo>
                  <a:pt x="8293120" y="4127500"/>
                </a:lnTo>
                <a:lnTo>
                  <a:pt x="8331936" y="4089400"/>
                </a:lnTo>
                <a:lnTo>
                  <a:pt x="7314984" y="4089400"/>
                </a:lnTo>
                <a:lnTo>
                  <a:pt x="7266702" y="4051300"/>
                </a:lnTo>
                <a:lnTo>
                  <a:pt x="7024115" y="4051300"/>
                </a:lnTo>
                <a:lnTo>
                  <a:pt x="6975331" y="4013200"/>
                </a:lnTo>
                <a:close/>
              </a:path>
              <a:path w="11673205" h="4610100">
                <a:moveTo>
                  <a:pt x="8362645" y="4051300"/>
                </a:moveTo>
                <a:lnTo>
                  <a:pt x="8176763" y="4051300"/>
                </a:lnTo>
                <a:lnTo>
                  <a:pt x="8129022" y="4089400"/>
                </a:lnTo>
                <a:lnTo>
                  <a:pt x="8331936" y="4089400"/>
                </a:lnTo>
                <a:lnTo>
                  <a:pt x="8362645" y="4051300"/>
                </a:lnTo>
                <a:close/>
              </a:path>
              <a:path w="11673205" h="4610100">
                <a:moveTo>
                  <a:pt x="34708" y="0"/>
                </a:moveTo>
                <a:lnTo>
                  <a:pt x="0" y="0"/>
                </a:lnTo>
                <a:lnTo>
                  <a:pt x="0" y="1308100"/>
                </a:lnTo>
                <a:lnTo>
                  <a:pt x="321810" y="1574800"/>
                </a:lnTo>
                <a:lnTo>
                  <a:pt x="368337" y="1651000"/>
                </a:lnTo>
                <a:lnTo>
                  <a:pt x="556298" y="1803400"/>
                </a:lnTo>
                <a:lnTo>
                  <a:pt x="603734" y="1879600"/>
                </a:lnTo>
                <a:lnTo>
                  <a:pt x="747064" y="1981200"/>
                </a:lnTo>
                <a:lnTo>
                  <a:pt x="795170" y="2057400"/>
                </a:lnTo>
                <a:lnTo>
                  <a:pt x="891855" y="2133600"/>
                </a:lnTo>
                <a:lnTo>
                  <a:pt x="940428" y="2209800"/>
                </a:lnTo>
                <a:lnTo>
                  <a:pt x="989151" y="2247900"/>
                </a:lnTo>
                <a:lnTo>
                  <a:pt x="1038019" y="2324100"/>
                </a:lnTo>
                <a:lnTo>
                  <a:pt x="1087031" y="2362200"/>
                </a:lnTo>
                <a:lnTo>
                  <a:pt x="1136182" y="2438400"/>
                </a:lnTo>
                <a:lnTo>
                  <a:pt x="1185470" y="2476500"/>
                </a:lnTo>
                <a:lnTo>
                  <a:pt x="1234890" y="2552700"/>
                </a:lnTo>
                <a:lnTo>
                  <a:pt x="1284441" y="2590800"/>
                </a:lnTo>
                <a:lnTo>
                  <a:pt x="1334118" y="2667000"/>
                </a:lnTo>
                <a:lnTo>
                  <a:pt x="1383918" y="2692400"/>
                </a:lnTo>
                <a:lnTo>
                  <a:pt x="1424452" y="2768600"/>
                </a:lnTo>
                <a:lnTo>
                  <a:pt x="1545418" y="2882900"/>
                </a:lnTo>
                <a:lnTo>
                  <a:pt x="1585527" y="2959100"/>
                </a:lnTo>
                <a:lnTo>
                  <a:pt x="1744883" y="3111500"/>
                </a:lnTo>
                <a:lnTo>
                  <a:pt x="1784450" y="3187700"/>
                </a:lnTo>
                <a:lnTo>
                  <a:pt x="1902494" y="3302000"/>
                </a:lnTo>
                <a:lnTo>
                  <a:pt x="2174033" y="3556000"/>
                </a:lnTo>
                <a:lnTo>
                  <a:pt x="2402353" y="3784600"/>
                </a:lnTo>
                <a:lnTo>
                  <a:pt x="2626489" y="4013200"/>
                </a:lnTo>
                <a:lnTo>
                  <a:pt x="6779160" y="4013200"/>
                </a:lnTo>
                <a:lnTo>
                  <a:pt x="6729835" y="3975100"/>
                </a:lnTo>
                <a:lnTo>
                  <a:pt x="6630818" y="3975100"/>
                </a:lnTo>
                <a:lnTo>
                  <a:pt x="6581116" y="3937000"/>
                </a:lnTo>
                <a:lnTo>
                  <a:pt x="6481303" y="3937000"/>
                </a:lnTo>
                <a:lnTo>
                  <a:pt x="6431183" y="3898900"/>
                </a:lnTo>
                <a:lnTo>
                  <a:pt x="6330493" y="3898900"/>
                </a:lnTo>
                <a:lnTo>
                  <a:pt x="6279915" y="3860800"/>
                </a:lnTo>
                <a:lnTo>
                  <a:pt x="6229175" y="3860800"/>
                </a:lnTo>
                <a:lnTo>
                  <a:pt x="6178269" y="3822700"/>
                </a:lnTo>
                <a:lnTo>
                  <a:pt x="6127193" y="3822700"/>
                </a:lnTo>
                <a:lnTo>
                  <a:pt x="6075941" y="3784600"/>
                </a:lnTo>
                <a:lnTo>
                  <a:pt x="6024510" y="3784600"/>
                </a:lnTo>
                <a:lnTo>
                  <a:pt x="5972895" y="3746500"/>
                </a:lnTo>
                <a:lnTo>
                  <a:pt x="5921092" y="3746500"/>
                </a:lnTo>
                <a:lnTo>
                  <a:pt x="5884548" y="3708400"/>
                </a:lnTo>
                <a:lnTo>
                  <a:pt x="5811169" y="3708400"/>
                </a:lnTo>
                <a:lnTo>
                  <a:pt x="5774331" y="3670300"/>
                </a:lnTo>
                <a:lnTo>
                  <a:pt x="5737392" y="3670300"/>
                </a:lnTo>
                <a:lnTo>
                  <a:pt x="5700349" y="3632200"/>
                </a:lnTo>
                <a:lnTo>
                  <a:pt x="5663203" y="3632200"/>
                </a:lnTo>
                <a:lnTo>
                  <a:pt x="5625951" y="3594100"/>
                </a:lnTo>
                <a:lnTo>
                  <a:pt x="5551124" y="3594100"/>
                </a:lnTo>
                <a:lnTo>
                  <a:pt x="5513545" y="3556000"/>
                </a:lnTo>
                <a:lnTo>
                  <a:pt x="5475855" y="3556000"/>
                </a:lnTo>
                <a:lnTo>
                  <a:pt x="5438051" y="3517900"/>
                </a:lnTo>
                <a:lnTo>
                  <a:pt x="5400132" y="3517900"/>
                </a:lnTo>
                <a:lnTo>
                  <a:pt x="5362097" y="3479800"/>
                </a:lnTo>
                <a:lnTo>
                  <a:pt x="5323944" y="3479800"/>
                </a:lnTo>
                <a:lnTo>
                  <a:pt x="5285671" y="3454400"/>
                </a:lnTo>
                <a:lnTo>
                  <a:pt x="5247277" y="3454400"/>
                </a:lnTo>
                <a:lnTo>
                  <a:pt x="5170119" y="3378200"/>
                </a:lnTo>
                <a:lnTo>
                  <a:pt x="5131353" y="3378200"/>
                </a:lnTo>
                <a:lnTo>
                  <a:pt x="5092459" y="3340100"/>
                </a:lnTo>
                <a:lnTo>
                  <a:pt x="5053437" y="3340100"/>
                </a:lnTo>
                <a:lnTo>
                  <a:pt x="5014284" y="3302000"/>
                </a:lnTo>
                <a:lnTo>
                  <a:pt x="4974999" y="3302000"/>
                </a:lnTo>
                <a:lnTo>
                  <a:pt x="4896028" y="3225800"/>
                </a:lnTo>
                <a:lnTo>
                  <a:pt x="4856339" y="3225800"/>
                </a:lnTo>
                <a:lnTo>
                  <a:pt x="4776545" y="3149600"/>
                </a:lnTo>
                <a:lnTo>
                  <a:pt x="4736437" y="3149600"/>
                </a:lnTo>
                <a:lnTo>
                  <a:pt x="4696186" y="3111500"/>
                </a:lnTo>
                <a:lnTo>
                  <a:pt x="4655792" y="3111500"/>
                </a:lnTo>
                <a:lnTo>
                  <a:pt x="4533728" y="2997200"/>
                </a:lnTo>
                <a:lnTo>
                  <a:pt x="4492741" y="2997200"/>
                </a:lnTo>
                <a:lnTo>
                  <a:pt x="4410312" y="2921000"/>
                </a:lnTo>
                <a:lnTo>
                  <a:pt x="4368865" y="2921000"/>
                </a:lnTo>
                <a:lnTo>
                  <a:pt x="4243581" y="2806700"/>
                </a:lnTo>
                <a:lnTo>
                  <a:pt x="4201500" y="2806700"/>
                </a:lnTo>
                <a:lnTo>
                  <a:pt x="4031535" y="2667000"/>
                </a:lnTo>
                <a:lnTo>
                  <a:pt x="3988626" y="2667000"/>
                </a:lnTo>
                <a:lnTo>
                  <a:pt x="3771496" y="2476500"/>
                </a:lnTo>
                <a:lnTo>
                  <a:pt x="3683410" y="2400300"/>
                </a:lnTo>
                <a:lnTo>
                  <a:pt x="3639097" y="2400300"/>
                </a:lnTo>
                <a:lnTo>
                  <a:pt x="3414760" y="2209800"/>
                </a:lnTo>
                <a:lnTo>
                  <a:pt x="3185670" y="2019300"/>
                </a:lnTo>
                <a:lnTo>
                  <a:pt x="2951635" y="1841500"/>
                </a:lnTo>
                <a:lnTo>
                  <a:pt x="2904217" y="1803400"/>
                </a:lnTo>
                <a:lnTo>
                  <a:pt x="2856593" y="1727200"/>
                </a:lnTo>
                <a:lnTo>
                  <a:pt x="2615311" y="1536700"/>
                </a:lnTo>
                <a:lnTo>
                  <a:pt x="2566412" y="1498600"/>
                </a:lnTo>
                <a:lnTo>
                  <a:pt x="2515448" y="1422400"/>
                </a:lnTo>
                <a:lnTo>
                  <a:pt x="1658054" y="787400"/>
                </a:lnTo>
                <a:lnTo>
                  <a:pt x="1509078" y="673100"/>
                </a:lnTo>
                <a:lnTo>
                  <a:pt x="1459613" y="673100"/>
                </a:lnTo>
                <a:lnTo>
                  <a:pt x="1311833" y="558800"/>
                </a:lnTo>
                <a:lnTo>
                  <a:pt x="1262787" y="558800"/>
                </a:lnTo>
                <a:lnTo>
                  <a:pt x="1116332" y="444500"/>
                </a:lnTo>
                <a:lnTo>
                  <a:pt x="1067750" y="444500"/>
                </a:lnTo>
                <a:lnTo>
                  <a:pt x="970955" y="368300"/>
                </a:lnTo>
                <a:lnTo>
                  <a:pt x="922749" y="368300"/>
                </a:lnTo>
                <a:lnTo>
                  <a:pt x="874672" y="342900"/>
                </a:lnTo>
                <a:lnTo>
                  <a:pt x="826730" y="342900"/>
                </a:lnTo>
                <a:lnTo>
                  <a:pt x="731255" y="266700"/>
                </a:lnTo>
                <a:lnTo>
                  <a:pt x="683728" y="266700"/>
                </a:lnTo>
                <a:lnTo>
                  <a:pt x="636346" y="228600"/>
                </a:lnTo>
                <a:lnTo>
                  <a:pt x="589110" y="228600"/>
                </a:lnTo>
                <a:lnTo>
                  <a:pt x="542023" y="190500"/>
                </a:lnTo>
                <a:lnTo>
                  <a:pt x="495089" y="190500"/>
                </a:lnTo>
                <a:lnTo>
                  <a:pt x="448310" y="152400"/>
                </a:lnTo>
                <a:lnTo>
                  <a:pt x="401688" y="152400"/>
                </a:lnTo>
                <a:lnTo>
                  <a:pt x="355226" y="114300"/>
                </a:lnTo>
                <a:lnTo>
                  <a:pt x="308928" y="114300"/>
                </a:lnTo>
                <a:lnTo>
                  <a:pt x="262795" y="76200"/>
                </a:lnTo>
                <a:lnTo>
                  <a:pt x="171036" y="76200"/>
                </a:lnTo>
                <a:lnTo>
                  <a:pt x="125416" y="38100"/>
                </a:lnTo>
                <a:lnTo>
                  <a:pt x="79973" y="38100"/>
                </a:lnTo>
                <a:lnTo>
                  <a:pt x="34708" y="0"/>
                </a:lnTo>
                <a:close/>
              </a:path>
              <a:path w="11673205" h="4610100">
                <a:moveTo>
                  <a:pt x="10071093" y="2362200"/>
                </a:moveTo>
                <a:lnTo>
                  <a:pt x="8047383" y="2362200"/>
                </a:lnTo>
                <a:lnTo>
                  <a:pt x="7832163" y="2514600"/>
                </a:lnTo>
                <a:lnTo>
                  <a:pt x="7777663" y="2514600"/>
                </a:lnTo>
                <a:lnTo>
                  <a:pt x="7556934" y="2667000"/>
                </a:lnTo>
                <a:lnTo>
                  <a:pt x="7217835" y="2882900"/>
                </a:lnTo>
                <a:lnTo>
                  <a:pt x="7164136" y="2921000"/>
                </a:lnTo>
                <a:lnTo>
                  <a:pt x="7112334" y="2959100"/>
                </a:lnTo>
                <a:lnTo>
                  <a:pt x="7062322" y="2959100"/>
                </a:lnTo>
                <a:lnTo>
                  <a:pt x="7013996" y="2997200"/>
                </a:lnTo>
                <a:lnTo>
                  <a:pt x="6967250" y="3035300"/>
                </a:lnTo>
                <a:lnTo>
                  <a:pt x="6921979" y="3073400"/>
                </a:lnTo>
                <a:lnTo>
                  <a:pt x="6878077" y="3111500"/>
                </a:lnTo>
                <a:lnTo>
                  <a:pt x="6753535" y="3187700"/>
                </a:lnTo>
                <a:lnTo>
                  <a:pt x="6675424" y="3225800"/>
                </a:lnTo>
                <a:lnTo>
                  <a:pt x="6637528" y="3263900"/>
                </a:lnTo>
                <a:lnTo>
                  <a:pt x="6600263" y="3302000"/>
                </a:lnTo>
                <a:lnTo>
                  <a:pt x="6563526" y="3302000"/>
                </a:lnTo>
                <a:lnTo>
                  <a:pt x="6491210" y="3378200"/>
                </a:lnTo>
                <a:lnTo>
                  <a:pt x="6516537" y="3378200"/>
                </a:lnTo>
                <a:lnTo>
                  <a:pt x="6548325" y="3416300"/>
                </a:lnTo>
                <a:lnTo>
                  <a:pt x="6581290" y="3454400"/>
                </a:lnTo>
                <a:lnTo>
                  <a:pt x="6615399" y="3454400"/>
                </a:lnTo>
                <a:lnTo>
                  <a:pt x="6650620" y="3479800"/>
                </a:lnTo>
                <a:lnTo>
                  <a:pt x="6686918" y="3479800"/>
                </a:lnTo>
                <a:lnTo>
                  <a:pt x="6724262" y="3517900"/>
                </a:lnTo>
                <a:lnTo>
                  <a:pt x="6762616" y="3556000"/>
                </a:lnTo>
                <a:lnTo>
                  <a:pt x="6801949" y="3556000"/>
                </a:lnTo>
                <a:lnTo>
                  <a:pt x="6842227" y="3594100"/>
                </a:lnTo>
                <a:lnTo>
                  <a:pt x="6883416" y="3594100"/>
                </a:lnTo>
                <a:lnTo>
                  <a:pt x="6925483" y="3632200"/>
                </a:lnTo>
                <a:lnTo>
                  <a:pt x="6968396" y="3670300"/>
                </a:lnTo>
                <a:lnTo>
                  <a:pt x="7012120" y="3670300"/>
                </a:lnTo>
                <a:lnTo>
                  <a:pt x="7056623" y="3708400"/>
                </a:lnTo>
                <a:lnTo>
                  <a:pt x="7101871" y="3708400"/>
                </a:lnTo>
                <a:lnTo>
                  <a:pt x="7147831" y="3746500"/>
                </a:lnTo>
                <a:lnTo>
                  <a:pt x="7194470" y="3746500"/>
                </a:lnTo>
                <a:lnTo>
                  <a:pt x="7241754" y="3784600"/>
                </a:lnTo>
                <a:lnTo>
                  <a:pt x="7289651" y="3784600"/>
                </a:lnTo>
                <a:lnTo>
                  <a:pt x="7338126" y="3822700"/>
                </a:lnTo>
                <a:lnTo>
                  <a:pt x="7387147" y="3822700"/>
                </a:lnTo>
                <a:lnTo>
                  <a:pt x="7436681" y="3860800"/>
                </a:lnTo>
                <a:lnTo>
                  <a:pt x="7486693" y="3860800"/>
                </a:lnTo>
                <a:lnTo>
                  <a:pt x="7537152" y="3898900"/>
                </a:lnTo>
                <a:lnTo>
                  <a:pt x="7639273" y="3898900"/>
                </a:lnTo>
                <a:lnTo>
                  <a:pt x="7690870" y="3937000"/>
                </a:lnTo>
                <a:lnTo>
                  <a:pt x="7794968" y="3937000"/>
                </a:lnTo>
                <a:lnTo>
                  <a:pt x="7847403" y="3975100"/>
                </a:lnTo>
                <a:lnTo>
                  <a:pt x="7952879" y="3975100"/>
                </a:lnTo>
                <a:lnTo>
                  <a:pt x="8005854" y="4013200"/>
                </a:lnTo>
                <a:lnTo>
                  <a:pt x="8377981" y="4013200"/>
                </a:lnTo>
                <a:lnTo>
                  <a:pt x="8420229" y="3975100"/>
                </a:lnTo>
                <a:lnTo>
                  <a:pt x="8460058" y="3937000"/>
                </a:lnTo>
                <a:lnTo>
                  <a:pt x="8497760" y="3898900"/>
                </a:lnTo>
                <a:lnTo>
                  <a:pt x="8533625" y="3860800"/>
                </a:lnTo>
                <a:lnTo>
                  <a:pt x="8567944" y="3822700"/>
                </a:lnTo>
                <a:lnTo>
                  <a:pt x="8601007" y="3784600"/>
                </a:lnTo>
                <a:lnTo>
                  <a:pt x="8633104" y="3746500"/>
                </a:lnTo>
                <a:lnTo>
                  <a:pt x="8664526" y="3708400"/>
                </a:lnTo>
                <a:lnTo>
                  <a:pt x="8757648" y="3594100"/>
                </a:lnTo>
                <a:lnTo>
                  <a:pt x="8821680" y="3517900"/>
                </a:lnTo>
                <a:lnTo>
                  <a:pt x="8855153" y="3479800"/>
                </a:lnTo>
                <a:lnTo>
                  <a:pt x="8889984" y="3454400"/>
                </a:lnTo>
                <a:lnTo>
                  <a:pt x="8926464" y="3416300"/>
                </a:lnTo>
                <a:lnTo>
                  <a:pt x="8990774" y="3340100"/>
                </a:lnTo>
                <a:lnTo>
                  <a:pt x="9054324" y="3302000"/>
                </a:lnTo>
                <a:lnTo>
                  <a:pt x="9117118" y="3225800"/>
                </a:lnTo>
                <a:lnTo>
                  <a:pt x="9179157" y="3149600"/>
                </a:lnTo>
                <a:lnTo>
                  <a:pt x="9240444" y="3073400"/>
                </a:lnTo>
                <a:lnTo>
                  <a:pt x="9300982" y="3035300"/>
                </a:lnTo>
                <a:lnTo>
                  <a:pt x="9360772" y="2959100"/>
                </a:lnTo>
                <a:lnTo>
                  <a:pt x="9419818" y="2921000"/>
                </a:lnTo>
                <a:lnTo>
                  <a:pt x="9478120" y="2844800"/>
                </a:lnTo>
                <a:lnTo>
                  <a:pt x="9592507" y="2768600"/>
                </a:lnTo>
                <a:lnTo>
                  <a:pt x="9648595" y="2692400"/>
                </a:lnTo>
                <a:lnTo>
                  <a:pt x="9758574" y="2628900"/>
                </a:lnTo>
                <a:lnTo>
                  <a:pt x="9812469" y="2590800"/>
                </a:lnTo>
                <a:lnTo>
                  <a:pt x="9865637" y="2514600"/>
                </a:lnTo>
                <a:lnTo>
                  <a:pt x="9969804" y="2438400"/>
                </a:lnTo>
                <a:lnTo>
                  <a:pt x="10020807" y="2400300"/>
                </a:lnTo>
                <a:lnTo>
                  <a:pt x="10071093" y="2362200"/>
                </a:lnTo>
                <a:close/>
              </a:path>
              <a:path w="11673205" h="4610100">
                <a:moveTo>
                  <a:pt x="10447837" y="2133600"/>
                </a:moveTo>
                <a:lnTo>
                  <a:pt x="8514901" y="2133600"/>
                </a:lnTo>
                <a:lnTo>
                  <a:pt x="8413052" y="2209800"/>
                </a:lnTo>
                <a:lnTo>
                  <a:pt x="8361685" y="2209800"/>
                </a:lnTo>
                <a:lnTo>
                  <a:pt x="8258072" y="2286000"/>
                </a:lnTo>
                <a:lnTo>
                  <a:pt x="8205830" y="2286000"/>
                </a:lnTo>
                <a:lnTo>
                  <a:pt x="8100484" y="2362200"/>
                </a:lnTo>
                <a:lnTo>
                  <a:pt x="10120664" y="2362200"/>
                </a:lnTo>
                <a:lnTo>
                  <a:pt x="10169522" y="2324100"/>
                </a:lnTo>
                <a:lnTo>
                  <a:pt x="10217670" y="2286000"/>
                </a:lnTo>
                <a:lnTo>
                  <a:pt x="10265110" y="2247900"/>
                </a:lnTo>
                <a:lnTo>
                  <a:pt x="10311845" y="2209800"/>
                </a:lnTo>
                <a:lnTo>
                  <a:pt x="10357876" y="2171700"/>
                </a:lnTo>
                <a:lnTo>
                  <a:pt x="10403206" y="2171700"/>
                </a:lnTo>
                <a:lnTo>
                  <a:pt x="10447837" y="2133600"/>
                </a:lnTo>
                <a:close/>
              </a:path>
              <a:path w="11673205" h="4610100">
                <a:moveTo>
                  <a:pt x="10660595" y="2019300"/>
                </a:moveTo>
                <a:lnTo>
                  <a:pt x="8764273" y="2019300"/>
                </a:lnTo>
                <a:lnTo>
                  <a:pt x="8665432" y="2095500"/>
                </a:lnTo>
                <a:lnTo>
                  <a:pt x="8615556" y="2095500"/>
                </a:lnTo>
                <a:lnTo>
                  <a:pt x="8565378" y="2133600"/>
                </a:lnTo>
                <a:lnTo>
                  <a:pt x="10491772" y="2133600"/>
                </a:lnTo>
                <a:lnTo>
                  <a:pt x="10535013" y="2095500"/>
                </a:lnTo>
                <a:lnTo>
                  <a:pt x="10577563" y="2057400"/>
                </a:lnTo>
                <a:lnTo>
                  <a:pt x="10619423" y="2057400"/>
                </a:lnTo>
                <a:lnTo>
                  <a:pt x="10660595" y="2019300"/>
                </a:lnTo>
                <a:close/>
              </a:path>
              <a:path w="11673205" h="4610100">
                <a:moveTo>
                  <a:pt x="10740889" y="1981200"/>
                </a:moveTo>
                <a:lnTo>
                  <a:pt x="8861887" y="1981200"/>
                </a:lnTo>
                <a:lnTo>
                  <a:pt x="8813234" y="2019300"/>
                </a:lnTo>
                <a:lnTo>
                  <a:pt x="10701083" y="2019300"/>
                </a:lnTo>
                <a:lnTo>
                  <a:pt x="10740889" y="1981200"/>
                </a:lnTo>
                <a:close/>
              </a:path>
              <a:path w="11673205" h="4610100">
                <a:moveTo>
                  <a:pt x="10856234" y="1943100"/>
                </a:moveTo>
                <a:lnTo>
                  <a:pt x="8958261" y="1943100"/>
                </a:lnTo>
                <a:lnTo>
                  <a:pt x="8910230" y="1981200"/>
                </a:lnTo>
                <a:lnTo>
                  <a:pt x="10818462" y="1981200"/>
                </a:lnTo>
                <a:lnTo>
                  <a:pt x="10856234" y="1943100"/>
                </a:lnTo>
                <a:close/>
              </a:path>
              <a:path w="11673205" h="4610100">
                <a:moveTo>
                  <a:pt x="10965521" y="1905000"/>
                </a:moveTo>
                <a:lnTo>
                  <a:pt x="9053382" y="1905000"/>
                </a:lnTo>
                <a:lnTo>
                  <a:pt x="9005979" y="1943100"/>
                </a:lnTo>
                <a:lnTo>
                  <a:pt x="10929761" y="1943100"/>
                </a:lnTo>
                <a:lnTo>
                  <a:pt x="10965521" y="1905000"/>
                </a:lnTo>
                <a:close/>
              </a:path>
              <a:path w="11673205" h="4610100">
                <a:moveTo>
                  <a:pt x="11068811" y="1879600"/>
                </a:moveTo>
                <a:lnTo>
                  <a:pt x="9193683" y="1879600"/>
                </a:lnTo>
                <a:lnTo>
                  <a:pt x="9147236" y="1905000"/>
                </a:lnTo>
                <a:lnTo>
                  <a:pt x="11035043" y="1905000"/>
                </a:lnTo>
                <a:lnTo>
                  <a:pt x="11068811" y="1879600"/>
                </a:lnTo>
                <a:close/>
              </a:path>
              <a:path w="11673205" h="4610100">
                <a:moveTo>
                  <a:pt x="11257654" y="1841500"/>
                </a:moveTo>
                <a:lnTo>
                  <a:pt x="9285612" y="1841500"/>
                </a:lnTo>
                <a:lnTo>
                  <a:pt x="9239809" y="1879600"/>
                </a:lnTo>
                <a:lnTo>
                  <a:pt x="11227807" y="1879600"/>
                </a:lnTo>
                <a:lnTo>
                  <a:pt x="11257654" y="1841500"/>
                </a:lnTo>
                <a:close/>
              </a:path>
              <a:path w="11673205" h="4610100">
                <a:moveTo>
                  <a:pt x="11566140" y="1803400"/>
                </a:moveTo>
                <a:lnTo>
                  <a:pt x="9421061" y="1803400"/>
                </a:lnTo>
                <a:lnTo>
                  <a:pt x="9376239" y="1841500"/>
                </a:lnTo>
                <a:lnTo>
                  <a:pt x="11543884" y="1841500"/>
                </a:lnTo>
                <a:lnTo>
                  <a:pt x="11566140" y="1803400"/>
                </a:lnTo>
                <a:close/>
              </a:path>
              <a:path w="11673205" h="4610100">
                <a:moveTo>
                  <a:pt x="11638657" y="1765300"/>
                </a:moveTo>
                <a:lnTo>
                  <a:pt x="9553538" y="1765300"/>
                </a:lnTo>
                <a:lnTo>
                  <a:pt x="9509712" y="1803400"/>
                </a:lnTo>
                <a:lnTo>
                  <a:pt x="11672605" y="1803400"/>
                </a:lnTo>
                <a:lnTo>
                  <a:pt x="11638657" y="1765300"/>
                </a:lnTo>
                <a:close/>
              </a:path>
              <a:path w="11673205" h="4610100">
                <a:moveTo>
                  <a:pt x="11526216" y="1727200"/>
                </a:moveTo>
                <a:lnTo>
                  <a:pt x="9725474" y="1727200"/>
                </a:lnTo>
                <a:lnTo>
                  <a:pt x="9682999" y="1765300"/>
                </a:lnTo>
                <a:lnTo>
                  <a:pt x="11565449" y="1765300"/>
                </a:lnTo>
                <a:lnTo>
                  <a:pt x="11526216" y="1727200"/>
                </a:lnTo>
                <a:close/>
              </a:path>
              <a:path w="11673205" h="4610100">
                <a:moveTo>
                  <a:pt x="11398158" y="1689100"/>
                </a:moveTo>
                <a:lnTo>
                  <a:pt x="9891937" y="1689100"/>
                </a:lnTo>
                <a:lnTo>
                  <a:pt x="9850840" y="1727200"/>
                </a:lnTo>
                <a:lnTo>
                  <a:pt x="11442557" y="1727200"/>
                </a:lnTo>
                <a:lnTo>
                  <a:pt x="11398158" y="1689100"/>
                </a:lnTo>
                <a:close/>
              </a:path>
              <a:path w="11673205" h="4610100">
                <a:moveTo>
                  <a:pt x="11254842" y="1651000"/>
                </a:moveTo>
                <a:lnTo>
                  <a:pt x="10092159" y="1651000"/>
                </a:lnTo>
                <a:lnTo>
                  <a:pt x="10052822" y="1689100"/>
                </a:lnTo>
                <a:lnTo>
                  <a:pt x="11304288" y="1689100"/>
                </a:lnTo>
                <a:lnTo>
                  <a:pt x="11254842" y="1651000"/>
                </a:lnTo>
                <a:close/>
              </a:path>
              <a:path w="11673205" h="4610100">
                <a:moveTo>
                  <a:pt x="10983051" y="1612900"/>
                </a:moveTo>
                <a:lnTo>
                  <a:pt x="10429917" y="1612900"/>
                </a:lnTo>
                <a:lnTo>
                  <a:pt x="10393855" y="1651000"/>
                </a:lnTo>
                <a:lnTo>
                  <a:pt x="11040641" y="1651000"/>
                </a:lnTo>
                <a:lnTo>
                  <a:pt x="10983051" y="1612900"/>
                </a:lnTo>
                <a:close/>
              </a:path>
            </a:pathLst>
          </a:custGeom>
          <a:solidFill>
            <a:srgbClr val="FFFFFF">
              <a:alpha val="17646"/>
            </a:srgbClr>
          </a:solidFill>
        </p:spPr>
        <p:txBody>
          <a:bodyPr wrap="square" lIns="0" tIns="0" rIns="0" bIns="0" rtlCol="0"/>
          <a:lstStyle/>
          <a:p>
            <a:endParaRPr/>
          </a:p>
        </p:txBody>
      </p:sp>
      <p:sp>
        <p:nvSpPr>
          <p:cNvPr id="7" name="object 8">
            <a:extLst>
              <a:ext uri="{FF2B5EF4-FFF2-40B4-BE49-F238E27FC236}">
                <a16:creationId xmlns:a16="http://schemas.microsoft.com/office/drawing/2014/main" id="{15F801A9-71BA-3759-278E-759E55142DFC}"/>
              </a:ext>
            </a:extLst>
          </p:cNvPr>
          <p:cNvSpPr txBox="1"/>
          <p:nvPr/>
        </p:nvSpPr>
        <p:spPr>
          <a:xfrm>
            <a:off x="967740" y="5562600"/>
            <a:ext cx="4122420" cy="571500"/>
          </a:xfrm>
          <a:prstGeom prst="rect">
            <a:avLst/>
          </a:prstGeom>
        </p:spPr>
        <p:txBody>
          <a:bodyPr vert="horz" wrap="square" lIns="0" tIns="12700" rIns="0" bIns="0" rtlCol="0">
            <a:spAutoFit/>
          </a:bodyPr>
          <a:lstStyle/>
          <a:p>
            <a:pPr marL="12700">
              <a:lnSpc>
                <a:spcPts val="2865"/>
              </a:lnSpc>
              <a:spcBef>
                <a:spcPts val="100"/>
              </a:spcBef>
            </a:pPr>
            <a:r>
              <a:rPr lang="en-US" sz="2400" spc="-170" dirty="0">
                <a:solidFill>
                  <a:srgbClr val="FFFFFF"/>
                </a:solidFill>
                <a:latin typeface="Lucida Sans Unicode"/>
                <a:cs typeface="Lucida Sans Unicode"/>
              </a:rPr>
              <a:t>Hotel</a:t>
            </a:r>
            <a:r>
              <a:rPr sz="2400" spc="-170" dirty="0">
                <a:solidFill>
                  <a:srgbClr val="FFFFFF"/>
                </a:solidFill>
                <a:latin typeface="Lucida Sans Unicode"/>
                <a:cs typeface="Lucida Sans Unicode"/>
              </a:rPr>
              <a:t> </a:t>
            </a:r>
            <a:r>
              <a:rPr sz="2400" spc="-10" dirty="0">
                <a:solidFill>
                  <a:srgbClr val="FFFFFF"/>
                </a:solidFill>
                <a:latin typeface="Lucida Sans Unicode"/>
                <a:cs typeface="Lucida Sans Unicode"/>
              </a:rPr>
              <a:t>Presentation</a:t>
            </a:r>
            <a:endParaRPr sz="2400" dirty="0">
              <a:latin typeface="Lucida Sans Unicode"/>
              <a:cs typeface="Lucida Sans Unicode"/>
            </a:endParaRPr>
          </a:p>
          <a:p>
            <a:pPr marL="12700">
              <a:lnSpc>
                <a:spcPts val="1425"/>
              </a:lnSpc>
            </a:pPr>
            <a:r>
              <a:rPr lang="en-US" sz="1200" spc="85" dirty="0">
                <a:solidFill>
                  <a:srgbClr val="FFFFFF"/>
                </a:solidFill>
                <a:latin typeface="Lucida Sans Unicode"/>
                <a:cs typeface="Lucida Sans Unicode"/>
              </a:rPr>
              <a:t>Opening</a:t>
            </a:r>
            <a:r>
              <a:rPr sz="1200" spc="-80" dirty="0">
                <a:solidFill>
                  <a:srgbClr val="FFFFFF"/>
                </a:solidFill>
                <a:latin typeface="Lucida Sans Unicode"/>
                <a:cs typeface="Lucida Sans Unicode"/>
              </a:rPr>
              <a:t> </a:t>
            </a:r>
            <a:r>
              <a:rPr lang="en-US" sz="1200" spc="-80" dirty="0">
                <a:solidFill>
                  <a:srgbClr val="FFFFFF"/>
                </a:solidFill>
                <a:latin typeface="Lucida Sans Unicode"/>
                <a:cs typeface="Lucida Sans Unicode"/>
              </a:rPr>
              <a:t>March, </a:t>
            </a:r>
            <a:r>
              <a:rPr sz="1200" spc="-20" dirty="0">
                <a:solidFill>
                  <a:srgbClr val="FFFFFF"/>
                </a:solidFill>
                <a:latin typeface="Lucida Sans Unicode"/>
                <a:cs typeface="Lucida Sans Unicode"/>
              </a:rPr>
              <a:t>202</a:t>
            </a:r>
            <a:r>
              <a:rPr lang="en-US" sz="1200" spc="-20" dirty="0">
                <a:solidFill>
                  <a:srgbClr val="FFFFFF"/>
                </a:solidFill>
                <a:latin typeface="Lucida Sans Unicode"/>
                <a:cs typeface="Lucida Sans Unicode"/>
              </a:rPr>
              <a:t>6</a:t>
            </a:r>
            <a:endParaRPr sz="1200" dirty="0">
              <a:latin typeface="Lucida Sans Unicode"/>
              <a:cs typeface="Lucida Sans Unicode"/>
            </a:endParaRPr>
          </a:p>
        </p:txBody>
      </p:sp>
      <p:sp>
        <p:nvSpPr>
          <p:cNvPr id="9" name="TextBox 8">
            <a:extLst>
              <a:ext uri="{FF2B5EF4-FFF2-40B4-BE49-F238E27FC236}">
                <a16:creationId xmlns:a16="http://schemas.microsoft.com/office/drawing/2014/main" id="{01417CE8-CFA6-A06B-41E7-968222170897}"/>
              </a:ext>
            </a:extLst>
          </p:cNvPr>
          <p:cNvSpPr txBox="1"/>
          <p:nvPr/>
        </p:nvSpPr>
        <p:spPr>
          <a:xfrm>
            <a:off x="3028950" y="2595110"/>
            <a:ext cx="6515100" cy="369332"/>
          </a:xfrm>
          <a:prstGeom prst="rect">
            <a:avLst/>
          </a:prstGeom>
          <a:noFill/>
        </p:spPr>
        <p:txBody>
          <a:bodyPr wrap="square">
            <a:spAutoFit/>
          </a:bodyPr>
          <a:lstStyle/>
          <a:p>
            <a:endParaRPr lang="ru-RU" dirty="0"/>
          </a:p>
        </p:txBody>
      </p:sp>
      <p:pic>
        <p:nvPicPr>
          <p:cNvPr id="11" name="Рисунок 10" descr="Изображение выглядит как текст, Шрифт, Графика, графический дизайн&#10;&#10;Автоматически созданное описание">
            <a:extLst>
              <a:ext uri="{FF2B5EF4-FFF2-40B4-BE49-F238E27FC236}">
                <a16:creationId xmlns:a16="http://schemas.microsoft.com/office/drawing/2014/main" id="{BB7C56EA-BC98-C7C9-5DD9-DE5321001A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4400" y="575071"/>
            <a:ext cx="3138805" cy="881896"/>
          </a:xfrm>
          <a:prstGeom prst="rect">
            <a:avLst/>
          </a:prstGeom>
        </p:spPr>
      </p:pic>
    </p:spTree>
    <p:extLst>
      <p:ext uri="{BB962C8B-B14F-4D97-AF65-F5344CB8AC3E}">
        <p14:creationId xmlns:p14="http://schemas.microsoft.com/office/powerpoint/2010/main" val="3252047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514104"/>
            <a:ext cx="6091555" cy="2344420"/>
          </a:xfrm>
          <a:custGeom>
            <a:avLst/>
            <a:gdLst/>
            <a:ahLst/>
            <a:cxnLst/>
            <a:rect l="l" t="t" r="r" b="b"/>
            <a:pathLst>
              <a:path w="6091555" h="2344420">
                <a:moveTo>
                  <a:pt x="0" y="0"/>
                </a:moveTo>
                <a:lnTo>
                  <a:pt x="0" y="1523715"/>
                </a:lnTo>
                <a:lnTo>
                  <a:pt x="46050" y="1579599"/>
                </a:lnTo>
                <a:lnTo>
                  <a:pt x="84966" y="1603433"/>
                </a:lnTo>
                <a:lnTo>
                  <a:pt x="123697" y="1651100"/>
                </a:lnTo>
                <a:lnTo>
                  <a:pt x="162244" y="1674934"/>
                </a:lnTo>
                <a:lnTo>
                  <a:pt x="200603" y="1722602"/>
                </a:lnTo>
                <a:lnTo>
                  <a:pt x="238775" y="1746436"/>
                </a:lnTo>
                <a:lnTo>
                  <a:pt x="276759" y="1794104"/>
                </a:lnTo>
                <a:lnTo>
                  <a:pt x="352156" y="1841771"/>
                </a:lnTo>
                <a:lnTo>
                  <a:pt x="389568" y="1889439"/>
                </a:lnTo>
                <a:lnTo>
                  <a:pt x="463811" y="1937107"/>
                </a:lnTo>
                <a:lnTo>
                  <a:pt x="500640" y="1984774"/>
                </a:lnTo>
                <a:lnTo>
                  <a:pt x="645986" y="2080110"/>
                </a:lnTo>
                <a:lnTo>
                  <a:pt x="823151" y="2199279"/>
                </a:lnTo>
                <a:lnTo>
                  <a:pt x="961184" y="2294614"/>
                </a:lnTo>
                <a:lnTo>
                  <a:pt x="979870" y="2294614"/>
                </a:lnTo>
                <a:lnTo>
                  <a:pt x="988570" y="2318448"/>
                </a:lnTo>
                <a:lnTo>
                  <a:pt x="997163" y="2318448"/>
                </a:lnTo>
                <a:lnTo>
                  <a:pt x="1059066" y="2342282"/>
                </a:lnTo>
                <a:lnTo>
                  <a:pt x="1061143" y="2343892"/>
                </a:lnTo>
                <a:lnTo>
                  <a:pt x="3418647" y="2343892"/>
                </a:lnTo>
                <a:lnTo>
                  <a:pt x="3420824" y="2342282"/>
                </a:lnTo>
                <a:lnTo>
                  <a:pt x="3452258" y="2342282"/>
                </a:lnTo>
                <a:lnTo>
                  <a:pt x="3482898" y="2318448"/>
                </a:lnTo>
                <a:lnTo>
                  <a:pt x="3512739" y="2294614"/>
                </a:lnTo>
                <a:lnTo>
                  <a:pt x="3541772" y="2270780"/>
                </a:lnTo>
                <a:lnTo>
                  <a:pt x="3569990" y="2246946"/>
                </a:lnTo>
                <a:lnTo>
                  <a:pt x="3597386" y="2246946"/>
                </a:lnTo>
                <a:lnTo>
                  <a:pt x="3623954" y="2223113"/>
                </a:lnTo>
                <a:lnTo>
                  <a:pt x="3649685" y="2199279"/>
                </a:lnTo>
                <a:lnTo>
                  <a:pt x="3674572" y="2175445"/>
                </a:lnTo>
                <a:lnTo>
                  <a:pt x="3698609" y="2151611"/>
                </a:lnTo>
                <a:lnTo>
                  <a:pt x="3721788" y="2151611"/>
                </a:lnTo>
                <a:lnTo>
                  <a:pt x="3744102" y="2127777"/>
                </a:lnTo>
                <a:lnTo>
                  <a:pt x="3765544" y="2103943"/>
                </a:lnTo>
                <a:lnTo>
                  <a:pt x="3786106" y="2080110"/>
                </a:lnTo>
                <a:lnTo>
                  <a:pt x="3805781" y="2080110"/>
                </a:lnTo>
                <a:lnTo>
                  <a:pt x="3824562" y="2056276"/>
                </a:lnTo>
                <a:lnTo>
                  <a:pt x="3842443" y="2032442"/>
                </a:lnTo>
                <a:lnTo>
                  <a:pt x="3859415" y="2032442"/>
                </a:lnTo>
                <a:lnTo>
                  <a:pt x="3875471" y="2008608"/>
                </a:lnTo>
                <a:lnTo>
                  <a:pt x="3890605" y="2008608"/>
                </a:lnTo>
                <a:lnTo>
                  <a:pt x="3914575" y="1984774"/>
                </a:lnTo>
                <a:lnTo>
                  <a:pt x="3916148" y="1984774"/>
                </a:lnTo>
                <a:lnTo>
                  <a:pt x="3932165" y="1960940"/>
                </a:lnTo>
                <a:lnTo>
                  <a:pt x="3955668" y="1937107"/>
                </a:lnTo>
                <a:lnTo>
                  <a:pt x="3980337" y="1913273"/>
                </a:lnTo>
                <a:lnTo>
                  <a:pt x="3337923" y="1913273"/>
                </a:lnTo>
                <a:lnTo>
                  <a:pt x="3289971" y="1889439"/>
                </a:lnTo>
                <a:lnTo>
                  <a:pt x="3145380" y="1889439"/>
                </a:lnTo>
                <a:lnTo>
                  <a:pt x="3096901" y="1865605"/>
                </a:lnTo>
                <a:lnTo>
                  <a:pt x="2999459" y="1865605"/>
                </a:lnTo>
                <a:lnTo>
                  <a:pt x="2950472" y="1841771"/>
                </a:lnTo>
                <a:lnTo>
                  <a:pt x="2901295" y="1841771"/>
                </a:lnTo>
                <a:lnTo>
                  <a:pt x="2851916" y="1817937"/>
                </a:lnTo>
                <a:lnTo>
                  <a:pt x="2802325" y="1817937"/>
                </a:lnTo>
                <a:lnTo>
                  <a:pt x="2702461" y="1770270"/>
                </a:lnTo>
                <a:lnTo>
                  <a:pt x="2652168" y="1770270"/>
                </a:lnTo>
                <a:lnTo>
                  <a:pt x="2550802" y="1722602"/>
                </a:lnTo>
                <a:lnTo>
                  <a:pt x="2499709" y="1722602"/>
                </a:lnTo>
                <a:lnTo>
                  <a:pt x="2448328" y="1698768"/>
                </a:lnTo>
                <a:lnTo>
                  <a:pt x="2411873" y="1674934"/>
                </a:lnTo>
                <a:lnTo>
                  <a:pt x="2375266" y="1674934"/>
                </a:lnTo>
                <a:lnTo>
                  <a:pt x="2301580" y="1627267"/>
                </a:lnTo>
                <a:lnTo>
                  <a:pt x="2264493" y="1627267"/>
                </a:lnTo>
                <a:lnTo>
                  <a:pt x="2152214" y="1555765"/>
                </a:lnTo>
                <a:lnTo>
                  <a:pt x="2114435" y="1555765"/>
                </a:lnTo>
                <a:lnTo>
                  <a:pt x="1883800" y="1412762"/>
                </a:lnTo>
                <a:lnTo>
                  <a:pt x="1844665" y="1412762"/>
                </a:lnTo>
                <a:lnTo>
                  <a:pt x="1645784" y="1293593"/>
                </a:lnTo>
                <a:lnTo>
                  <a:pt x="1605340" y="1245925"/>
                </a:lnTo>
                <a:lnTo>
                  <a:pt x="1399575" y="1126756"/>
                </a:lnTo>
                <a:lnTo>
                  <a:pt x="1357686" y="1102922"/>
                </a:lnTo>
                <a:lnTo>
                  <a:pt x="1315544" y="1055254"/>
                </a:lnTo>
                <a:lnTo>
                  <a:pt x="1187555" y="983753"/>
                </a:lnTo>
                <a:lnTo>
                  <a:pt x="1144359" y="936085"/>
                </a:lnTo>
                <a:lnTo>
                  <a:pt x="1100890" y="912251"/>
                </a:lnTo>
                <a:lnTo>
                  <a:pt x="1057145" y="864584"/>
                </a:lnTo>
                <a:lnTo>
                  <a:pt x="968810" y="816916"/>
                </a:lnTo>
                <a:lnTo>
                  <a:pt x="924212" y="769248"/>
                </a:lnTo>
                <a:lnTo>
                  <a:pt x="879323" y="745415"/>
                </a:lnTo>
                <a:lnTo>
                  <a:pt x="834139" y="697747"/>
                </a:lnTo>
                <a:lnTo>
                  <a:pt x="788655" y="673913"/>
                </a:lnTo>
                <a:lnTo>
                  <a:pt x="696776" y="578578"/>
                </a:lnTo>
                <a:lnTo>
                  <a:pt x="650373" y="554744"/>
                </a:lnTo>
                <a:lnTo>
                  <a:pt x="556620" y="459408"/>
                </a:lnTo>
                <a:lnTo>
                  <a:pt x="509263" y="435575"/>
                </a:lnTo>
                <a:lnTo>
                  <a:pt x="413568" y="340239"/>
                </a:lnTo>
                <a:lnTo>
                  <a:pt x="365223" y="292572"/>
                </a:lnTo>
                <a:lnTo>
                  <a:pt x="316542" y="268738"/>
                </a:lnTo>
                <a:lnTo>
                  <a:pt x="164795" y="125735"/>
                </a:lnTo>
                <a:lnTo>
                  <a:pt x="114373" y="101901"/>
                </a:lnTo>
                <a:lnTo>
                  <a:pt x="13809" y="6565"/>
                </a:lnTo>
                <a:lnTo>
                  <a:pt x="0" y="0"/>
                </a:lnTo>
                <a:close/>
              </a:path>
              <a:path w="6091555" h="2344420">
                <a:moveTo>
                  <a:pt x="3999852" y="1889439"/>
                </a:moveTo>
                <a:lnTo>
                  <a:pt x="3908282" y="1889439"/>
                </a:lnTo>
                <a:lnTo>
                  <a:pt x="3860871" y="1913273"/>
                </a:lnTo>
                <a:lnTo>
                  <a:pt x="3980337" y="1913273"/>
                </a:lnTo>
                <a:lnTo>
                  <a:pt x="3999852" y="1889439"/>
                </a:lnTo>
                <a:close/>
              </a:path>
              <a:path w="6091555" h="2344420">
                <a:moveTo>
                  <a:pt x="5575743" y="554744"/>
                </a:moveTo>
                <a:lnTo>
                  <a:pt x="4388256" y="554744"/>
                </a:lnTo>
                <a:lnTo>
                  <a:pt x="4191576" y="650079"/>
                </a:lnTo>
                <a:lnTo>
                  <a:pt x="4141182" y="650079"/>
                </a:lnTo>
                <a:lnTo>
                  <a:pt x="3934839" y="745415"/>
                </a:lnTo>
                <a:lnTo>
                  <a:pt x="3882082" y="793082"/>
                </a:lnTo>
                <a:lnTo>
                  <a:pt x="3666503" y="888418"/>
                </a:lnTo>
                <a:lnTo>
                  <a:pt x="3611491" y="936085"/>
                </a:lnTo>
                <a:lnTo>
                  <a:pt x="3556040" y="959919"/>
                </a:lnTo>
                <a:lnTo>
                  <a:pt x="3500156" y="1007587"/>
                </a:lnTo>
                <a:lnTo>
                  <a:pt x="3443842" y="1031421"/>
                </a:lnTo>
                <a:lnTo>
                  <a:pt x="3387102" y="1079088"/>
                </a:lnTo>
                <a:lnTo>
                  <a:pt x="3329941" y="1102922"/>
                </a:lnTo>
                <a:lnTo>
                  <a:pt x="3272364" y="1150590"/>
                </a:lnTo>
                <a:lnTo>
                  <a:pt x="3220139" y="1174424"/>
                </a:lnTo>
                <a:lnTo>
                  <a:pt x="3170706" y="1222091"/>
                </a:lnTo>
                <a:lnTo>
                  <a:pt x="3123816" y="1245925"/>
                </a:lnTo>
                <a:lnTo>
                  <a:pt x="3079222" y="1269759"/>
                </a:lnTo>
                <a:lnTo>
                  <a:pt x="3036678" y="1293593"/>
                </a:lnTo>
                <a:lnTo>
                  <a:pt x="2956750" y="1365094"/>
                </a:lnTo>
                <a:lnTo>
                  <a:pt x="2918872" y="1388928"/>
                </a:lnTo>
                <a:lnTo>
                  <a:pt x="2882056" y="1412762"/>
                </a:lnTo>
                <a:lnTo>
                  <a:pt x="2846053" y="1436596"/>
                </a:lnTo>
                <a:lnTo>
                  <a:pt x="2810618" y="1460430"/>
                </a:lnTo>
                <a:lnTo>
                  <a:pt x="2807283" y="1460430"/>
                </a:lnTo>
                <a:lnTo>
                  <a:pt x="2838272" y="1484264"/>
                </a:lnTo>
                <a:lnTo>
                  <a:pt x="2871144" y="1508097"/>
                </a:lnTo>
                <a:lnTo>
                  <a:pt x="2905817" y="1531931"/>
                </a:lnTo>
                <a:lnTo>
                  <a:pt x="2942208" y="1555765"/>
                </a:lnTo>
                <a:lnTo>
                  <a:pt x="2980234" y="1579599"/>
                </a:lnTo>
                <a:lnTo>
                  <a:pt x="3019812" y="1603433"/>
                </a:lnTo>
                <a:lnTo>
                  <a:pt x="3060859" y="1603433"/>
                </a:lnTo>
                <a:lnTo>
                  <a:pt x="3103292" y="1627267"/>
                </a:lnTo>
                <a:lnTo>
                  <a:pt x="3147028" y="1651100"/>
                </a:lnTo>
                <a:lnTo>
                  <a:pt x="3191985" y="1674934"/>
                </a:lnTo>
                <a:lnTo>
                  <a:pt x="3238078" y="1698768"/>
                </a:lnTo>
                <a:lnTo>
                  <a:pt x="3285226" y="1722602"/>
                </a:lnTo>
                <a:lnTo>
                  <a:pt x="3333346" y="1746436"/>
                </a:lnTo>
                <a:lnTo>
                  <a:pt x="3382354" y="1746436"/>
                </a:lnTo>
                <a:lnTo>
                  <a:pt x="3482704" y="1794104"/>
                </a:lnTo>
                <a:lnTo>
                  <a:pt x="3533881" y="1794104"/>
                </a:lnTo>
                <a:lnTo>
                  <a:pt x="3585614" y="1817937"/>
                </a:lnTo>
                <a:lnTo>
                  <a:pt x="3637821" y="1817937"/>
                </a:lnTo>
                <a:lnTo>
                  <a:pt x="3690419" y="1841771"/>
                </a:lnTo>
                <a:lnTo>
                  <a:pt x="3743325" y="1841771"/>
                </a:lnTo>
                <a:lnTo>
                  <a:pt x="3796456" y="1865605"/>
                </a:lnTo>
                <a:lnTo>
                  <a:pt x="4009574" y="1865605"/>
                </a:lnTo>
                <a:lnTo>
                  <a:pt x="4051786" y="1841771"/>
                </a:lnTo>
                <a:lnTo>
                  <a:pt x="4090347" y="1794104"/>
                </a:lnTo>
                <a:lnTo>
                  <a:pt x="4126012" y="1746436"/>
                </a:lnTo>
                <a:lnTo>
                  <a:pt x="4159539" y="1722602"/>
                </a:lnTo>
                <a:lnTo>
                  <a:pt x="4191684" y="1674934"/>
                </a:lnTo>
                <a:lnTo>
                  <a:pt x="4223203" y="1651100"/>
                </a:lnTo>
                <a:lnTo>
                  <a:pt x="4254851" y="1603433"/>
                </a:lnTo>
                <a:lnTo>
                  <a:pt x="4287386" y="1579599"/>
                </a:lnTo>
                <a:lnTo>
                  <a:pt x="4321564" y="1531931"/>
                </a:lnTo>
                <a:lnTo>
                  <a:pt x="4358140" y="1484264"/>
                </a:lnTo>
                <a:lnTo>
                  <a:pt x="4422009" y="1412762"/>
                </a:lnTo>
                <a:lnTo>
                  <a:pt x="4484695" y="1365094"/>
                </a:lnTo>
                <a:lnTo>
                  <a:pt x="4546202" y="1293593"/>
                </a:lnTo>
                <a:lnTo>
                  <a:pt x="4606537" y="1222091"/>
                </a:lnTo>
                <a:lnTo>
                  <a:pt x="4665704" y="1174424"/>
                </a:lnTo>
                <a:lnTo>
                  <a:pt x="4723711" y="1126756"/>
                </a:lnTo>
                <a:lnTo>
                  <a:pt x="4780562" y="1079088"/>
                </a:lnTo>
                <a:lnTo>
                  <a:pt x="4836264" y="1031421"/>
                </a:lnTo>
                <a:lnTo>
                  <a:pt x="4890821" y="983753"/>
                </a:lnTo>
                <a:lnTo>
                  <a:pt x="4944240" y="936085"/>
                </a:lnTo>
                <a:lnTo>
                  <a:pt x="4996525" y="888418"/>
                </a:lnTo>
                <a:lnTo>
                  <a:pt x="5047684" y="864584"/>
                </a:lnTo>
                <a:lnTo>
                  <a:pt x="5097722" y="816916"/>
                </a:lnTo>
                <a:lnTo>
                  <a:pt x="5146643" y="793082"/>
                </a:lnTo>
                <a:lnTo>
                  <a:pt x="5194455" y="745415"/>
                </a:lnTo>
                <a:lnTo>
                  <a:pt x="5241162" y="721581"/>
                </a:lnTo>
                <a:lnTo>
                  <a:pt x="5286771" y="697747"/>
                </a:lnTo>
                <a:lnTo>
                  <a:pt x="5331286" y="673913"/>
                </a:lnTo>
                <a:lnTo>
                  <a:pt x="5374714" y="650079"/>
                </a:lnTo>
                <a:lnTo>
                  <a:pt x="5417061" y="626245"/>
                </a:lnTo>
                <a:lnTo>
                  <a:pt x="5458331" y="602411"/>
                </a:lnTo>
                <a:lnTo>
                  <a:pt x="5498531" y="602411"/>
                </a:lnTo>
                <a:lnTo>
                  <a:pt x="5537667" y="578578"/>
                </a:lnTo>
                <a:lnTo>
                  <a:pt x="5575743" y="554744"/>
                </a:lnTo>
                <a:close/>
              </a:path>
              <a:path w="6091555" h="2344420">
                <a:moveTo>
                  <a:pt x="5717573" y="507076"/>
                </a:moveTo>
                <a:lnTo>
                  <a:pt x="4530506" y="507076"/>
                </a:lnTo>
                <a:lnTo>
                  <a:pt x="4436181" y="554744"/>
                </a:lnTo>
                <a:lnTo>
                  <a:pt x="5612766" y="554744"/>
                </a:lnTo>
                <a:lnTo>
                  <a:pt x="5648742" y="530910"/>
                </a:lnTo>
                <a:lnTo>
                  <a:pt x="5683676" y="530910"/>
                </a:lnTo>
                <a:lnTo>
                  <a:pt x="5717573" y="507076"/>
                </a:lnTo>
                <a:close/>
              </a:path>
              <a:path w="6091555" h="2344420">
                <a:moveTo>
                  <a:pt x="6045579" y="459408"/>
                </a:moveTo>
                <a:lnTo>
                  <a:pt x="4668119" y="459408"/>
                </a:lnTo>
                <a:lnTo>
                  <a:pt x="4576898" y="507076"/>
                </a:lnTo>
                <a:lnTo>
                  <a:pt x="5813104" y="507076"/>
                </a:lnTo>
                <a:lnTo>
                  <a:pt x="5842913" y="483242"/>
                </a:lnTo>
                <a:lnTo>
                  <a:pt x="6023674" y="483242"/>
                </a:lnTo>
                <a:lnTo>
                  <a:pt x="6045579" y="459408"/>
                </a:lnTo>
                <a:close/>
              </a:path>
              <a:path w="6091555" h="2344420">
                <a:moveTo>
                  <a:pt x="6017407" y="411741"/>
                </a:moveTo>
                <a:lnTo>
                  <a:pt x="4844190" y="411741"/>
                </a:lnTo>
                <a:lnTo>
                  <a:pt x="4800979" y="435575"/>
                </a:lnTo>
                <a:lnTo>
                  <a:pt x="4757227" y="435575"/>
                </a:lnTo>
                <a:lnTo>
                  <a:pt x="4712939" y="459408"/>
                </a:lnTo>
                <a:lnTo>
                  <a:pt x="6091007" y="459408"/>
                </a:lnTo>
                <a:lnTo>
                  <a:pt x="6055588" y="435575"/>
                </a:lnTo>
                <a:lnTo>
                  <a:pt x="6017407" y="411741"/>
                </a:lnTo>
                <a:close/>
              </a:path>
              <a:path w="6091555" h="2344420">
                <a:moveTo>
                  <a:pt x="5932892" y="387907"/>
                </a:moveTo>
                <a:lnTo>
                  <a:pt x="4970535" y="387907"/>
                </a:lnTo>
                <a:lnTo>
                  <a:pt x="4928972" y="411741"/>
                </a:lnTo>
                <a:lnTo>
                  <a:pt x="5976497" y="411741"/>
                </a:lnTo>
                <a:lnTo>
                  <a:pt x="5932892" y="387907"/>
                </a:lnTo>
                <a:close/>
              </a:path>
              <a:path w="6091555" h="2344420">
                <a:moveTo>
                  <a:pt x="5837725" y="364073"/>
                </a:moveTo>
                <a:lnTo>
                  <a:pt x="5091858" y="364073"/>
                </a:lnTo>
                <a:lnTo>
                  <a:pt x="5051982" y="387907"/>
                </a:lnTo>
                <a:lnTo>
                  <a:pt x="5886623" y="387907"/>
                </a:lnTo>
                <a:lnTo>
                  <a:pt x="5837725" y="364073"/>
                </a:lnTo>
                <a:close/>
              </a:path>
              <a:path w="6091555" h="2344420">
                <a:moveTo>
                  <a:pt x="5616484" y="340239"/>
                </a:moveTo>
                <a:lnTo>
                  <a:pt x="5318979" y="340239"/>
                </a:lnTo>
                <a:lnTo>
                  <a:pt x="5282591" y="364073"/>
                </a:lnTo>
                <a:lnTo>
                  <a:pt x="5675576" y="364073"/>
                </a:lnTo>
                <a:lnTo>
                  <a:pt x="5616484" y="340239"/>
                </a:lnTo>
                <a:close/>
              </a:path>
            </a:pathLst>
          </a:custGeom>
          <a:solidFill>
            <a:srgbClr val="EDEBE3">
              <a:alpha val="49803"/>
            </a:srgbClr>
          </a:solidFill>
        </p:spPr>
        <p:txBody>
          <a:bodyPr wrap="square" lIns="0" tIns="0" rIns="0" bIns="0" rtlCol="0"/>
          <a:lstStyle/>
          <a:p>
            <a:endParaRPr/>
          </a:p>
        </p:txBody>
      </p:sp>
      <p:sp>
        <p:nvSpPr>
          <p:cNvPr id="4" name="object 4"/>
          <p:cNvSpPr txBox="1">
            <a:spLocks noGrp="1"/>
          </p:cNvSpPr>
          <p:nvPr>
            <p:ph type="title"/>
          </p:nvPr>
        </p:nvSpPr>
        <p:spPr>
          <a:xfrm>
            <a:off x="644207" y="316468"/>
            <a:ext cx="4264025" cy="635895"/>
          </a:xfrm>
          <a:prstGeom prst="rect">
            <a:avLst/>
          </a:prstGeom>
        </p:spPr>
        <p:txBody>
          <a:bodyPr vert="horz" wrap="square" lIns="0" tIns="263985" rIns="0" bIns="0" rtlCol="0">
            <a:spAutoFit/>
          </a:bodyPr>
          <a:lstStyle/>
          <a:p>
            <a:pPr marL="12700">
              <a:lnSpc>
                <a:spcPct val="100000"/>
              </a:lnSpc>
              <a:spcBef>
                <a:spcPts val="100"/>
              </a:spcBef>
            </a:pPr>
            <a:r>
              <a:rPr sz="2400" spc="-125" dirty="0">
                <a:latin typeface="Arial Black"/>
                <a:cs typeface="Arial Black"/>
              </a:rPr>
              <a:t>T</a:t>
            </a:r>
            <a:r>
              <a:rPr lang="en-US" sz="2400" spc="-125" dirty="0">
                <a:latin typeface="Arial Black"/>
                <a:cs typeface="Arial Black"/>
              </a:rPr>
              <a:t>a</a:t>
            </a:r>
            <a:r>
              <a:rPr sz="2400" spc="-125" dirty="0">
                <a:latin typeface="Arial Black"/>
                <a:cs typeface="Arial Black"/>
              </a:rPr>
              <a:t>ble</a:t>
            </a:r>
            <a:r>
              <a:rPr sz="2400" spc="-240" dirty="0">
                <a:latin typeface="Arial Black"/>
                <a:cs typeface="Arial Black"/>
              </a:rPr>
              <a:t> </a:t>
            </a:r>
            <a:r>
              <a:rPr sz="2400" spc="-120" dirty="0">
                <a:latin typeface="Arial Black"/>
                <a:cs typeface="Arial Black"/>
              </a:rPr>
              <a:t>of</a:t>
            </a:r>
            <a:r>
              <a:rPr sz="2400" spc="-185" dirty="0">
                <a:latin typeface="Arial Black"/>
                <a:cs typeface="Arial Black"/>
              </a:rPr>
              <a:t> </a:t>
            </a:r>
            <a:r>
              <a:rPr sz="2400" spc="-85" dirty="0">
                <a:latin typeface="Arial Black"/>
                <a:cs typeface="Arial Black"/>
              </a:rPr>
              <a:t>Content</a:t>
            </a:r>
            <a:endParaRPr sz="2400" dirty="0">
              <a:latin typeface="Arial Black"/>
              <a:cs typeface="Arial Black"/>
            </a:endParaRPr>
          </a:p>
        </p:txBody>
      </p:sp>
      <p:sp>
        <p:nvSpPr>
          <p:cNvPr id="5" name="object 5"/>
          <p:cNvSpPr txBox="1"/>
          <p:nvPr/>
        </p:nvSpPr>
        <p:spPr>
          <a:xfrm>
            <a:off x="11187810" y="290766"/>
            <a:ext cx="92075" cy="151765"/>
          </a:xfrm>
          <a:prstGeom prst="rect">
            <a:avLst/>
          </a:prstGeom>
        </p:spPr>
        <p:txBody>
          <a:bodyPr vert="horz" wrap="square" lIns="0" tIns="15875" rIns="0" bIns="0" rtlCol="0">
            <a:spAutoFit/>
          </a:bodyPr>
          <a:lstStyle/>
          <a:p>
            <a:pPr marL="12700">
              <a:lnSpc>
                <a:spcPct val="100000"/>
              </a:lnSpc>
              <a:spcBef>
                <a:spcPts val="125"/>
              </a:spcBef>
            </a:pPr>
            <a:r>
              <a:rPr sz="800" spc="-50" dirty="0">
                <a:solidFill>
                  <a:srgbClr val="FFFFFF"/>
                </a:solidFill>
                <a:latin typeface="Lucida Sans Unicode"/>
                <a:cs typeface="Lucida Sans Unicode"/>
              </a:rPr>
              <a:t>4</a:t>
            </a:r>
            <a:endParaRPr sz="800">
              <a:latin typeface="Lucida Sans Unicode"/>
              <a:cs typeface="Lucida Sans Unicode"/>
            </a:endParaRPr>
          </a:p>
        </p:txBody>
      </p:sp>
      <p:sp>
        <p:nvSpPr>
          <p:cNvPr id="6" name="object 6"/>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aphicFrame>
        <p:nvGraphicFramePr>
          <p:cNvPr id="7" name="object 7"/>
          <p:cNvGraphicFramePr>
            <a:graphicFrameLocks noGrp="1"/>
          </p:cNvGraphicFramePr>
          <p:nvPr>
            <p:extLst>
              <p:ext uri="{D42A27DB-BD31-4B8C-83A1-F6EECF244321}">
                <p14:modId xmlns:p14="http://schemas.microsoft.com/office/powerpoint/2010/main" val="4178201366"/>
              </p:ext>
            </p:extLst>
          </p:nvPr>
        </p:nvGraphicFramePr>
        <p:xfrm>
          <a:off x="538670" y="1820148"/>
          <a:ext cx="4823460" cy="4561205"/>
        </p:xfrm>
        <a:graphic>
          <a:graphicData uri="http://schemas.openxmlformats.org/drawingml/2006/table">
            <a:tbl>
              <a:tblPr firstRow="1" bandRow="1">
                <a:tableStyleId>{2D5ABB26-0587-4C30-8999-92F81FD0307C}</a:tableStyleId>
              </a:tblPr>
              <a:tblGrid>
                <a:gridCol w="574675">
                  <a:extLst>
                    <a:ext uri="{9D8B030D-6E8A-4147-A177-3AD203B41FA5}">
                      <a16:colId xmlns:a16="http://schemas.microsoft.com/office/drawing/2014/main" val="20000"/>
                    </a:ext>
                  </a:extLst>
                </a:gridCol>
                <a:gridCol w="4248785">
                  <a:extLst>
                    <a:ext uri="{9D8B030D-6E8A-4147-A177-3AD203B41FA5}">
                      <a16:colId xmlns:a16="http://schemas.microsoft.com/office/drawing/2014/main" val="20001"/>
                    </a:ext>
                  </a:extLst>
                </a:gridCol>
              </a:tblGrid>
              <a:tr h="503555">
                <a:tc>
                  <a:txBody>
                    <a:bodyPr/>
                    <a:lstStyle/>
                    <a:p>
                      <a:pPr marL="91440">
                        <a:lnSpc>
                          <a:spcPct val="100000"/>
                        </a:lnSpc>
                        <a:spcBef>
                          <a:spcPts val="90"/>
                        </a:spcBef>
                      </a:pPr>
                      <a:r>
                        <a:rPr sz="1800" spc="-315" dirty="0">
                          <a:solidFill>
                            <a:srgbClr val="AC9976"/>
                          </a:solidFill>
                          <a:latin typeface="Lucida Sans Unicode"/>
                          <a:cs typeface="Lucida Sans Unicode"/>
                        </a:rPr>
                        <a:t>01</a:t>
                      </a:r>
                      <a:endParaRPr sz="1800">
                        <a:latin typeface="Lucida Sans Unicode"/>
                        <a:cs typeface="Lucida Sans Unicode"/>
                      </a:endParaRPr>
                    </a:p>
                  </a:txBody>
                  <a:tcPr marL="0" marR="0" marT="11430" marB="0">
                    <a:lnB w="3175">
                      <a:solidFill>
                        <a:srgbClr val="F1F1F1"/>
                      </a:solidFill>
                      <a:prstDash val="solid"/>
                    </a:lnB>
                  </a:tcPr>
                </a:tc>
                <a:tc>
                  <a:txBody>
                    <a:bodyPr/>
                    <a:lstStyle/>
                    <a:p>
                      <a:pPr marL="194310">
                        <a:lnSpc>
                          <a:spcPct val="100000"/>
                        </a:lnSpc>
                        <a:spcBef>
                          <a:spcPts val="90"/>
                        </a:spcBef>
                      </a:pPr>
                      <a:r>
                        <a:rPr lang="en-US" sz="1800" dirty="0">
                          <a:solidFill>
                            <a:srgbClr val="AC9976"/>
                          </a:solidFill>
                          <a:latin typeface="Lucida Sans Unicode"/>
                          <a:cs typeface="Lucida Sans Unicode"/>
                        </a:rPr>
                        <a:t>Location</a:t>
                      </a:r>
                      <a:endParaRPr sz="1800" dirty="0">
                        <a:latin typeface="Lucida Sans Unicode"/>
                        <a:cs typeface="Lucida Sans Unicode"/>
                      </a:endParaRPr>
                    </a:p>
                  </a:txBody>
                  <a:tcPr marL="0" marR="0" marT="11430" marB="0">
                    <a:lnB w="3175">
                      <a:solidFill>
                        <a:srgbClr val="F1F1F1"/>
                      </a:solidFill>
                      <a:prstDash val="solid"/>
                    </a:lnB>
                  </a:tcPr>
                </a:tc>
                <a:extLst>
                  <a:ext uri="{0D108BD9-81ED-4DB2-BD59-A6C34878D82A}">
                    <a16:rowId xmlns:a16="http://schemas.microsoft.com/office/drawing/2014/main" val="10000"/>
                  </a:ext>
                </a:extLst>
              </a:tr>
              <a:tr h="676275">
                <a:tc>
                  <a:txBody>
                    <a:bodyPr/>
                    <a:lstStyle/>
                    <a:p>
                      <a:pPr marL="91440">
                        <a:lnSpc>
                          <a:spcPct val="100000"/>
                        </a:lnSpc>
                        <a:spcBef>
                          <a:spcPts val="1460"/>
                        </a:spcBef>
                      </a:pPr>
                      <a:r>
                        <a:rPr sz="1800" spc="-25" dirty="0">
                          <a:solidFill>
                            <a:srgbClr val="AC9976"/>
                          </a:solidFill>
                          <a:latin typeface="Lucida Sans Unicode"/>
                          <a:cs typeface="Lucida Sans Unicode"/>
                        </a:rPr>
                        <a:t>02</a:t>
                      </a:r>
                      <a:endParaRPr sz="1800">
                        <a:latin typeface="Lucida Sans Unicode"/>
                        <a:cs typeface="Lucida Sans Unicode"/>
                      </a:endParaRPr>
                    </a:p>
                  </a:txBody>
                  <a:tcPr marL="0" marR="0" marT="185420" marB="0">
                    <a:lnT w="3175">
                      <a:solidFill>
                        <a:srgbClr val="F1F1F1"/>
                      </a:solidFill>
                      <a:prstDash val="solid"/>
                    </a:lnT>
                    <a:lnB w="3175">
                      <a:solidFill>
                        <a:srgbClr val="F1F1F1"/>
                      </a:solidFill>
                      <a:prstDash val="solid"/>
                    </a:lnB>
                  </a:tcPr>
                </a:tc>
                <a:tc>
                  <a:txBody>
                    <a:bodyPr/>
                    <a:lstStyle/>
                    <a:p>
                      <a:pPr marL="194310">
                        <a:lnSpc>
                          <a:spcPct val="100000"/>
                        </a:lnSpc>
                        <a:spcBef>
                          <a:spcPts val="1460"/>
                        </a:spcBef>
                      </a:pPr>
                      <a:r>
                        <a:rPr lang="en-US" sz="1800" dirty="0">
                          <a:solidFill>
                            <a:srgbClr val="AC9976"/>
                          </a:solidFill>
                          <a:latin typeface="Lucida Sans Unicode"/>
                          <a:cs typeface="Lucida Sans Unicode"/>
                        </a:rPr>
                        <a:t>Hotel overview</a:t>
                      </a:r>
                      <a:endParaRPr sz="1800" dirty="0">
                        <a:latin typeface="Lucida Sans Unicode"/>
                        <a:cs typeface="Lucida Sans Unicode"/>
                      </a:endParaRPr>
                    </a:p>
                  </a:txBody>
                  <a:tcPr marL="0" marR="0" marT="185420" marB="0">
                    <a:lnT w="3175">
                      <a:solidFill>
                        <a:srgbClr val="F1F1F1"/>
                      </a:solidFill>
                      <a:prstDash val="solid"/>
                    </a:lnT>
                    <a:lnB w="3175">
                      <a:solidFill>
                        <a:srgbClr val="F1F1F1"/>
                      </a:solidFill>
                      <a:prstDash val="solid"/>
                    </a:lnB>
                  </a:tcPr>
                </a:tc>
                <a:extLst>
                  <a:ext uri="{0D108BD9-81ED-4DB2-BD59-A6C34878D82A}">
                    <a16:rowId xmlns:a16="http://schemas.microsoft.com/office/drawing/2014/main" val="10001"/>
                  </a:ext>
                </a:extLst>
              </a:tr>
              <a:tr h="676275">
                <a:tc>
                  <a:txBody>
                    <a:bodyPr/>
                    <a:lstStyle/>
                    <a:p>
                      <a:pPr marL="91440">
                        <a:lnSpc>
                          <a:spcPct val="100000"/>
                        </a:lnSpc>
                        <a:spcBef>
                          <a:spcPts val="1470"/>
                        </a:spcBef>
                      </a:pPr>
                      <a:r>
                        <a:rPr sz="1800" spc="-25" dirty="0">
                          <a:solidFill>
                            <a:srgbClr val="AC9976"/>
                          </a:solidFill>
                          <a:latin typeface="Lucida Sans Unicode"/>
                          <a:cs typeface="Lucida Sans Unicode"/>
                        </a:rPr>
                        <a:t>03</a:t>
                      </a:r>
                      <a:endParaRPr sz="1800">
                        <a:latin typeface="Lucida Sans Unicode"/>
                        <a:cs typeface="Lucida Sans Unicode"/>
                      </a:endParaRPr>
                    </a:p>
                  </a:txBody>
                  <a:tcPr marL="0" marR="0" marT="186690" marB="0">
                    <a:lnT w="3175">
                      <a:solidFill>
                        <a:srgbClr val="F1F1F1"/>
                      </a:solidFill>
                      <a:prstDash val="solid"/>
                    </a:lnT>
                    <a:lnB w="3175">
                      <a:solidFill>
                        <a:srgbClr val="F1F1F1"/>
                      </a:solidFill>
                      <a:prstDash val="solid"/>
                    </a:lnB>
                  </a:tcPr>
                </a:tc>
                <a:tc>
                  <a:txBody>
                    <a:bodyPr/>
                    <a:lstStyle/>
                    <a:p>
                      <a:pPr marL="194310">
                        <a:lnSpc>
                          <a:spcPct val="100000"/>
                        </a:lnSpc>
                        <a:spcBef>
                          <a:spcPts val="1470"/>
                        </a:spcBef>
                      </a:pPr>
                      <a:r>
                        <a:rPr lang="en-US" sz="1800" dirty="0">
                          <a:solidFill>
                            <a:srgbClr val="AC9976"/>
                          </a:solidFill>
                          <a:latin typeface="Lucida Sans Unicode"/>
                          <a:cs typeface="Lucida Sans Unicode"/>
                        </a:rPr>
                        <a:t>Rooms</a:t>
                      </a:r>
                      <a:endParaRPr sz="1800" dirty="0">
                        <a:latin typeface="Lucida Sans Unicode"/>
                        <a:cs typeface="Lucida Sans Unicode"/>
                      </a:endParaRPr>
                    </a:p>
                  </a:txBody>
                  <a:tcPr marL="0" marR="0" marT="186690" marB="0">
                    <a:lnT w="3175">
                      <a:solidFill>
                        <a:srgbClr val="F1F1F1"/>
                      </a:solidFill>
                      <a:prstDash val="solid"/>
                    </a:lnT>
                    <a:lnB w="3175">
                      <a:solidFill>
                        <a:srgbClr val="F1F1F1"/>
                      </a:solidFill>
                      <a:prstDash val="solid"/>
                    </a:lnB>
                  </a:tcPr>
                </a:tc>
                <a:extLst>
                  <a:ext uri="{0D108BD9-81ED-4DB2-BD59-A6C34878D82A}">
                    <a16:rowId xmlns:a16="http://schemas.microsoft.com/office/drawing/2014/main" val="10002"/>
                  </a:ext>
                </a:extLst>
              </a:tr>
              <a:tr h="676275">
                <a:tc>
                  <a:txBody>
                    <a:bodyPr/>
                    <a:lstStyle/>
                    <a:p>
                      <a:pPr marL="91440">
                        <a:lnSpc>
                          <a:spcPct val="100000"/>
                        </a:lnSpc>
                        <a:spcBef>
                          <a:spcPts val="1480"/>
                        </a:spcBef>
                      </a:pPr>
                      <a:r>
                        <a:rPr sz="1800" spc="-25" dirty="0">
                          <a:solidFill>
                            <a:srgbClr val="AC9976"/>
                          </a:solidFill>
                          <a:latin typeface="Lucida Sans Unicode"/>
                          <a:cs typeface="Lucida Sans Unicode"/>
                        </a:rPr>
                        <a:t>04</a:t>
                      </a:r>
                      <a:endParaRPr sz="1800">
                        <a:latin typeface="Lucida Sans Unicode"/>
                        <a:cs typeface="Lucida Sans Unicode"/>
                      </a:endParaRPr>
                    </a:p>
                  </a:txBody>
                  <a:tcPr marL="0" marR="0" marT="187960" marB="0">
                    <a:lnT w="3175">
                      <a:solidFill>
                        <a:srgbClr val="F1F1F1"/>
                      </a:solidFill>
                      <a:prstDash val="solid"/>
                    </a:lnT>
                    <a:lnB w="3175">
                      <a:solidFill>
                        <a:srgbClr val="F1F1F1"/>
                      </a:solidFill>
                      <a:prstDash val="solid"/>
                    </a:lnB>
                  </a:tcPr>
                </a:tc>
                <a:tc>
                  <a:txBody>
                    <a:bodyPr/>
                    <a:lstStyle/>
                    <a:p>
                      <a:pPr marL="194310">
                        <a:lnSpc>
                          <a:spcPct val="100000"/>
                        </a:lnSpc>
                        <a:spcBef>
                          <a:spcPts val="1480"/>
                        </a:spcBef>
                      </a:pPr>
                      <a:r>
                        <a:rPr lang="en-US" sz="1800" dirty="0">
                          <a:solidFill>
                            <a:srgbClr val="AC9976"/>
                          </a:solidFill>
                          <a:latin typeface="Lucida Sans Unicode"/>
                          <a:cs typeface="Lucida Sans Unicode"/>
                        </a:rPr>
                        <a:t>Dining</a:t>
                      </a:r>
                      <a:endParaRPr sz="1800" dirty="0">
                        <a:latin typeface="Lucida Sans Unicode"/>
                        <a:cs typeface="Lucida Sans Unicode"/>
                      </a:endParaRPr>
                    </a:p>
                  </a:txBody>
                  <a:tcPr marL="0" marR="0" marT="187960" marB="0">
                    <a:lnT w="3175">
                      <a:solidFill>
                        <a:srgbClr val="F1F1F1"/>
                      </a:solidFill>
                      <a:prstDash val="solid"/>
                    </a:lnT>
                    <a:lnB w="3175">
                      <a:solidFill>
                        <a:srgbClr val="F1F1F1"/>
                      </a:solidFill>
                      <a:prstDash val="solid"/>
                    </a:lnB>
                  </a:tcPr>
                </a:tc>
                <a:extLst>
                  <a:ext uri="{0D108BD9-81ED-4DB2-BD59-A6C34878D82A}">
                    <a16:rowId xmlns:a16="http://schemas.microsoft.com/office/drawing/2014/main" val="10003"/>
                  </a:ext>
                </a:extLst>
              </a:tr>
              <a:tr h="676275">
                <a:tc>
                  <a:txBody>
                    <a:bodyPr/>
                    <a:lstStyle/>
                    <a:p>
                      <a:pPr marL="91440">
                        <a:lnSpc>
                          <a:spcPct val="100000"/>
                        </a:lnSpc>
                        <a:spcBef>
                          <a:spcPts val="1485"/>
                        </a:spcBef>
                      </a:pPr>
                      <a:r>
                        <a:rPr sz="1800" spc="-25" dirty="0">
                          <a:solidFill>
                            <a:srgbClr val="AC9976"/>
                          </a:solidFill>
                          <a:latin typeface="Lucida Sans Unicode"/>
                          <a:cs typeface="Lucida Sans Unicode"/>
                        </a:rPr>
                        <a:t>05</a:t>
                      </a:r>
                      <a:endParaRPr sz="1800">
                        <a:latin typeface="Lucida Sans Unicode"/>
                        <a:cs typeface="Lucida Sans Unicode"/>
                      </a:endParaRPr>
                    </a:p>
                  </a:txBody>
                  <a:tcPr marL="0" marR="0" marT="188595" marB="0">
                    <a:lnT w="3175">
                      <a:solidFill>
                        <a:srgbClr val="F1F1F1"/>
                      </a:solidFill>
                      <a:prstDash val="solid"/>
                    </a:lnT>
                    <a:lnB w="3175">
                      <a:solidFill>
                        <a:srgbClr val="F1F1F1"/>
                      </a:solidFill>
                      <a:prstDash val="solid"/>
                    </a:lnB>
                  </a:tcPr>
                </a:tc>
                <a:tc>
                  <a:txBody>
                    <a:bodyPr/>
                    <a:lstStyle/>
                    <a:p>
                      <a:pPr marL="194310">
                        <a:lnSpc>
                          <a:spcPct val="100000"/>
                        </a:lnSpc>
                        <a:spcBef>
                          <a:spcPts val="1485"/>
                        </a:spcBef>
                      </a:pPr>
                      <a:r>
                        <a:rPr lang="en-US" sz="1800" dirty="0">
                          <a:solidFill>
                            <a:srgbClr val="AC9976"/>
                          </a:solidFill>
                          <a:latin typeface="Lucida Sans Unicode"/>
                          <a:cs typeface="Lucida Sans Unicode"/>
                        </a:rPr>
                        <a:t>Fitness and Spa</a:t>
                      </a:r>
                      <a:endParaRPr sz="1800" dirty="0">
                        <a:latin typeface="Lucida Sans Unicode"/>
                        <a:cs typeface="Lucida Sans Unicode"/>
                      </a:endParaRPr>
                    </a:p>
                  </a:txBody>
                  <a:tcPr marL="0" marR="0" marT="188595" marB="0">
                    <a:lnT w="3175">
                      <a:solidFill>
                        <a:srgbClr val="F1F1F1"/>
                      </a:solidFill>
                      <a:prstDash val="solid"/>
                    </a:lnT>
                    <a:lnB w="3175">
                      <a:solidFill>
                        <a:srgbClr val="F1F1F1"/>
                      </a:solidFill>
                      <a:prstDash val="solid"/>
                    </a:lnB>
                  </a:tcPr>
                </a:tc>
                <a:extLst>
                  <a:ext uri="{0D108BD9-81ED-4DB2-BD59-A6C34878D82A}">
                    <a16:rowId xmlns:a16="http://schemas.microsoft.com/office/drawing/2014/main" val="10004"/>
                  </a:ext>
                </a:extLst>
              </a:tr>
              <a:tr h="676275">
                <a:tc>
                  <a:txBody>
                    <a:bodyPr/>
                    <a:lstStyle/>
                    <a:p>
                      <a:pPr marL="91440">
                        <a:lnSpc>
                          <a:spcPct val="100000"/>
                        </a:lnSpc>
                        <a:spcBef>
                          <a:spcPts val="1490"/>
                        </a:spcBef>
                      </a:pPr>
                      <a:r>
                        <a:rPr sz="1800" spc="-25" dirty="0">
                          <a:solidFill>
                            <a:srgbClr val="AC9976"/>
                          </a:solidFill>
                          <a:latin typeface="Lucida Sans Unicode"/>
                          <a:cs typeface="Lucida Sans Unicode"/>
                        </a:rPr>
                        <a:t>06</a:t>
                      </a:r>
                      <a:endParaRPr sz="1800">
                        <a:latin typeface="Lucida Sans Unicode"/>
                        <a:cs typeface="Lucida Sans Unicode"/>
                      </a:endParaRPr>
                    </a:p>
                  </a:txBody>
                  <a:tcPr marL="0" marR="0" marT="189230" marB="0">
                    <a:lnT w="3175">
                      <a:solidFill>
                        <a:srgbClr val="F1F1F1"/>
                      </a:solidFill>
                      <a:prstDash val="solid"/>
                    </a:lnT>
                    <a:lnB w="3175">
                      <a:solidFill>
                        <a:srgbClr val="F1F1F1"/>
                      </a:solidFill>
                      <a:prstDash val="solid"/>
                    </a:lnB>
                  </a:tcPr>
                </a:tc>
                <a:tc>
                  <a:txBody>
                    <a:bodyPr/>
                    <a:lstStyle/>
                    <a:p>
                      <a:pPr marL="194310">
                        <a:lnSpc>
                          <a:spcPct val="100000"/>
                        </a:lnSpc>
                        <a:spcBef>
                          <a:spcPts val="1485"/>
                        </a:spcBef>
                      </a:pPr>
                      <a:r>
                        <a:rPr lang="en-US" sz="1800" dirty="0">
                          <a:solidFill>
                            <a:srgbClr val="AC9976"/>
                          </a:solidFill>
                          <a:latin typeface="Lucida Sans Unicode"/>
                          <a:ea typeface="+mn-ea"/>
                          <a:cs typeface="Lucida Sans Unicode"/>
                        </a:rPr>
                        <a:t>Conferences</a:t>
                      </a:r>
                      <a:endParaRPr sz="1800" dirty="0">
                        <a:solidFill>
                          <a:srgbClr val="AC9976"/>
                        </a:solidFill>
                        <a:latin typeface="Lucida Sans Unicode"/>
                        <a:ea typeface="+mn-ea"/>
                        <a:cs typeface="Lucida Sans Unicode"/>
                      </a:endParaRPr>
                    </a:p>
                  </a:txBody>
                  <a:tcPr marL="0" marR="0" marT="189230" marB="0">
                    <a:lnT w="3175">
                      <a:solidFill>
                        <a:srgbClr val="F1F1F1"/>
                      </a:solidFill>
                      <a:prstDash val="solid"/>
                    </a:lnT>
                    <a:lnB w="3175">
                      <a:solidFill>
                        <a:srgbClr val="F1F1F1"/>
                      </a:solidFill>
                      <a:prstDash val="solid"/>
                    </a:lnB>
                  </a:tcPr>
                </a:tc>
                <a:extLst>
                  <a:ext uri="{0D108BD9-81ED-4DB2-BD59-A6C34878D82A}">
                    <a16:rowId xmlns:a16="http://schemas.microsoft.com/office/drawing/2014/main" val="10005"/>
                  </a:ext>
                </a:extLst>
              </a:tr>
              <a:tr h="676275">
                <a:tc>
                  <a:txBody>
                    <a:bodyPr/>
                    <a:lstStyle/>
                    <a:p>
                      <a:pPr marL="91440">
                        <a:lnSpc>
                          <a:spcPct val="100000"/>
                        </a:lnSpc>
                        <a:spcBef>
                          <a:spcPts val="1500"/>
                        </a:spcBef>
                      </a:pPr>
                      <a:r>
                        <a:rPr sz="1800" spc="-25" dirty="0">
                          <a:solidFill>
                            <a:srgbClr val="AC9976"/>
                          </a:solidFill>
                          <a:latin typeface="Lucida Sans Unicode"/>
                          <a:cs typeface="Lucida Sans Unicode"/>
                        </a:rPr>
                        <a:t>07</a:t>
                      </a:r>
                      <a:endParaRPr sz="1800">
                        <a:latin typeface="Lucida Sans Unicode"/>
                        <a:cs typeface="Lucida Sans Unicode"/>
                      </a:endParaRPr>
                    </a:p>
                  </a:txBody>
                  <a:tcPr marL="0" marR="0" marT="190500" marB="0">
                    <a:lnT w="3175">
                      <a:solidFill>
                        <a:srgbClr val="F1F1F1"/>
                      </a:solidFill>
                      <a:prstDash val="solid"/>
                    </a:lnT>
                    <a:lnB w="3175">
                      <a:solidFill>
                        <a:srgbClr val="F1F1F1"/>
                      </a:solidFill>
                      <a:prstDash val="solid"/>
                    </a:lnB>
                  </a:tcPr>
                </a:tc>
                <a:tc>
                  <a:txBody>
                    <a:bodyPr/>
                    <a:lstStyle/>
                    <a:p>
                      <a:pPr marL="194310">
                        <a:lnSpc>
                          <a:spcPct val="100000"/>
                        </a:lnSpc>
                        <a:spcBef>
                          <a:spcPts val="1500"/>
                        </a:spcBef>
                      </a:pPr>
                      <a:r>
                        <a:rPr lang="en-US" sz="1800" dirty="0">
                          <a:solidFill>
                            <a:srgbClr val="AC9976"/>
                          </a:solidFill>
                          <a:latin typeface="Lucida Sans Unicode"/>
                          <a:cs typeface="Lucida Sans Unicode"/>
                        </a:rPr>
                        <a:t>Contacts</a:t>
                      </a:r>
                      <a:endParaRPr sz="1800" dirty="0">
                        <a:latin typeface="Lucida Sans Unicode"/>
                        <a:cs typeface="Lucida Sans Unicode"/>
                      </a:endParaRPr>
                    </a:p>
                  </a:txBody>
                  <a:tcPr marL="0" marR="0" marT="190500" marB="0">
                    <a:lnT w="3175">
                      <a:solidFill>
                        <a:srgbClr val="F1F1F1"/>
                      </a:solidFill>
                      <a:prstDash val="solid"/>
                    </a:lnT>
                    <a:lnB w="3175">
                      <a:solidFill>
                        <a:srgbClr val="F1F1F1"/>
                      </a:solidFill>
                      <a:prstDash val="solid"/>
                    </a:lnB>
                  </a:tcPr>
                </a:tc>
                <a:extLst>
                  <a:ext uri="{0D108BD9-81ED-4DB2-BD59-A6C34878D82A}">
                    <a16:rowId xmlns:a16="http://schemas.microsoft.com/office/drawing/2014/main" val="10006"/>
                  </a:ext>
                </a:extLst>
              </a:tr>
            </a:tbl>
          </a:graphicData>
        </a:graphic>
      </p:graphicFrame>
      <p:pic>
        <p:nvPicPr>
          <p:cNvPr id="8" name="object 8"/>
          <p:cNvPicPr/>
          <p:nvPr/>
        </p:nvPicPr>
        <p:blipFill>
          <a:blip r:embed="rId2" cstate="print"/>
          <a:stretch>
            <a:fillRect/>
          </a:stretch>
        </p:blipFill>
        <p:spPr>
          <a:xfrm>
            <a:off x="6229350" y="104775"/>
            <a:ext cx="5848350" cy="66436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09626"/>
            <a:ext cx="11120500" cy="6548898"/>
            <a:chOff x="0" y="309626"/>
            <a:chExt cx="11120500" cy="6548898"/>
          </a:xfrm>
        </p:grpSpPr>
        <p:sp>
          <p:nvSpPr>
            <p:cNvPr id="4" name="object 4"/>
            <p:cNvSpPr/>
            <p:nvPr/>
          </p:nvSpPr>
          <p:spPr>
            <a:xfrm>
              <a:off x="0" y="4514104"/>
              <a:ext cx="6091555" cy="2344420"/>
            </a:xfrm>
            <a:custGeom>
              <a:avLst/>
              <a:gdLst/>
              <a:ahLst/>
              <a:cxnLst/>
              <a:rect l="l" t="t" r="r" b="b"/>
              <a:pathLst>
                <a:path w="6091555" h="2344420">
                  <a:moveTo>
                    <a:pt x="0" y="0"/>
                  </a:moveTo>
                  <a:lnTo>
                    <a:pt x="0" y="1523715"/>
                  </a:lnTo>
                  <a:lnTo>
                    <a:pt x="46050" y="1579599"/>
                  </a:lnTo>
                  <a:lnTo>
                    <a:pt x="84966" y="1603433"/>
                  </a:lnTo>
                  <a:lnTo>
                    <a:pt x="123697" y="1651100"/>
                  </a:lnTo>
                  <a:lnTo>
                    <a:pt x="162244" y="1674934"/>
                  </a:lnTo>
                  <a:lnTo>
                    <a:pt x="200603" y="1722602"/>
                  </a:lnTo>
                  <a:lnTo>
                    <a:pt x="238775" y="1746436"/>
                  </a:lnTo>
                  <a:lnTo>
                    <a:pt x="276759" y="1794104"/>
                  </a:lnTo>
                  <a:lnTo>
                    <a:pt x="352156" y="1841771"/>
                  </a:lnTo>
                  <a:lnTo>
                    <a:pt x="389568" y="1889439"/>
                  </a:lnTo>
                  <a:lnTo>
                    <a:pt x="463811" y="1937107"/>
                  </a:lnTo>
                  <a:lnTo>
                    <a:pt x="500640" y="1984774"/>
                  </a:lnTo>
                  <a:lnTo>
                    <a:pt x="645986" y="2080110"/>
                  </a:lnTo>
                  <a:lnTo>
                    <a:pt x="823151" y="2199279"/>
                  </a:lnTo>
                  <a:lnTo>
                    <a:pt x="961184" y="2294614"/>
                  </a:lnTo>
                  <a:lnTo>
                    <a:pt x="979870" y="2294614"/>
                  </a:lnTo>
                  <a:lnTo>
                    <a:pt x="988570" y="2318448"/>
                  </a:lnTo>
                  <a:lnTo>
                    <a:pt x="997163" y="2318448"/>
                  </a:lnTo>
                  <a:lnTo>
                    <a:pt x="1059066" y="2342282"/>
                  </a:lnTo>
                  <a:lnTo>
                    <a:pt x="1061143" y="2343892"/>
                  </a:lnTo>
                  <a:lnTo>
                    <a:pt x="3418647" y="2343892"/>
                  </a:lnTo>
                  <a:lnTo>
                    <a:pt x="3420824" y="2342282"/>
                  </a:lnTo>
                  <a:lnTo>
                    <a:pt x="3452258" y="2342282"/>
                  </a:lnTo>
                  <a:lnTo>
                    <a:pt x="3482898" y="2318448"/>
                  </a:lnTo>
                  <a:lnTo>
                    <a:pt x="3512739" y="2294614"/>
                  </a:lnTo>
                  <a:lnTo>
                    <a:pt x="3541772" y="2270780"/>
                  </a:lnTo>
                  <a:lnTo>
                    <a:pt x="3569990" y="2246946"/>
                  </a:lnTo>
                  <a:lnTo>
                    <a:pt x="3597386" y="2246946"/>
                  </a:lnTo>
                  <a:lnTo>
                    <a:pt x="3623954" y="2223113"/>
                  </a:lnTo>
                  <a:lnTo>
                    <a:pt x="3649685" y="2199279"/>
                  </a:lnTo>
                  <a:lnTo>
                    <a:pt x="3674572" y="2175445"/>
                  </a:lnTo>
                  <a:lnTo>
                    <a:pt x="3698609" y="2151611"/>
                  </a:lnTo>
                  <a:lnTo>
                    <a:pt x="3721788" y="2151611"/>
                  </a:lnTo>
                  <a:lnTo>
                    <a:pt x="3744102" y="2127777"/>
                  </a:lnTo>
                  <a:lnTo>
                    <a:pt x="3765544" y="2103943"/>
                  </a:lnTo>
                  <a:lnTo>
                    <a:pt x="3786106" y="2080110"/>
                  </a:lnTo>
                  <a:lnTo>
                    <a:pt x="3805781" y="2080110"/>
                  </a:lnTo>
                  <a:lnTo>
                    <a:pt x="3824562" y="2056276"/>
                  </a:lnTo>
                  <a:lnTo>
                    <a:pt x="3842443" y="2032442"/>
                  </a:lnTo>
                  <a:lnTo>
                    <a:pt x="3859415" y="2032442"/>
                  </a:lnTo>
                  <a:lnTo>
                    <a:pt x="3875471" y="2008608"/>
                  </a:lnTo>
                  <a:lnTo>
                    <a:pt x="3890605" y="2008608"/>
                  </a:lnTo>
                  <a:lnTo>
                    <a:pt x="3914575" y="1984774"/>
                  </a:lnTo>
                  <a:lnTo>
                    <a:pt x="3916148" y="1984774"/>
                  </a:lnTo>
                  <a:lnTo>
                    <a:pt x="3932165" y="1960940"/>
                  </a:lnTo>
                  <a:lnTo>
                    <a:pt x="3955668" y="1937107"/>
                  </a:lnTo>
                  <a:lnTo>
                    <a:pt x="3980337" y="1913273"/>
                  </a:lnTo>
                  <a:lnTo>
                    <a:pt x="3337923" y="1913273"/>
                  </a:lnTo>
                  <a:lnTo>
                    <a:pt x="3289971" y="1889439"/>
                  </a:lnTo>
                  <a:lnTo>
                    <a:pt x="3145380" y="1889439"/>
                  </a:lnTo>
                  <a:lnTo>
                    <a:pt x="3096901" y="1865605"/>
                  </a:lnTo>
                  <a:lnTo>
                    <a:pt x="2999459" y="1865605"/>
                  </a:lnTo>
                  <a:lnTo>
                    <a:pt x="2950472" y="1841771"/>
                  </a:lnTo>
                  <a:lnTo>
                    <a:pt x="2901295" y="1841771"/>
                  </a:lnTo>
                  <a:lnTo>
                    <a:pt x="2851916" y="1817937"/>
                  </a:lnTo>
                  <a:lnTo>
                    <a:pt x="2802325" y="1817937"/>
                  </a:lnTo>
                  <a:lnTo>
                    <a:pt x="2702461" y="1770270"/>
                  </a:lnTo>
                  <a:lnTo>
                    <a:pt x="2652168" y="1770270"/>
                  </a:lnTo>
                  <a:lnTo>
                    <a:pt x="2550802" y="1722602"/>
                  </a:lnTo>
                  <a:lnTo>
                    <a:pt x="2499709" y="1722602"/>
                  </a:lnTo>
                  <a:lnTo>
                    <a:pt x="2448328" y="1698768"/>
                  </a:lnTo>
                  <a:lnTo>
                    <a:pt x="2411873" y="1674934"/>
                  </a:lnTo>
                  <a:lnTo>
                    <a:pt x="2375266" y="1674934"/>
                  </a:lnTo>
                  <a:lnTo>
                    <a:pt x="2301580" y="1627267"/>
                  </a:lnTo>
                  <a:lnTo>
                    <a:pt x="2264493" y="1627267"/>
                  </a:lnTo>
                  <a:lnTo>
                    <a:pt x="2152214" y="1555765"/>
                  </a:lnTo>
                  <a:lnTo>
                    <a:pt x="2114435" y="1555765"/>
                  </a:lnTo>
                  <a:lnTo>
                    <a:pt x="1883800" y="1412762"/>
                  </a:lnTo>
                  <a:lnTo>
                    <a:pt x="1844665" y="1412762"/>
                  </a:lnTo>
                  <a:lnTo>
                    <a:pt x="1645784" y="1293593"/>
                  </a:lnTo>
                  <a:lnTo>
                    <a:pt x="1605340" y="1245925"/>
                  </a:lnTo>
                  <a:lnTo>
                    <a:pt x="1399575" y="1126756"/>
                  </a:lnTo>
                  <a:lnTo>
                    <a:pt x="1357686" y="1102922"/>
                  </a:lnTo>
                  <a:lnTo>
                    <a:pt x="1315544" y="1055254"/>
                  </a:lnTo>
                  <a:lnTo>
                    <a:pt x="1187555" y="983753"/>
                  </a:lnTo>
                  <a:lnTo>
                    <a:pt x="1144359" y="936085"/>
                  </a:lnTo>
                  <a:lnTo>
                    <a:pt x="1100890" y="912251"/>
                  </a:lnTo>
                  <a:lnTo>
                    <a:pt x="1057145" y="864584"/>
                  </a:lnTo>
                  <a:lnTo>
                    <a:pt x="968810" y="816916"/>
                  </a:lnTo>
                  <a:lnTo>
                    <a:pt x="924212" y="769248"/>
                  </a:lnTo>
                  <a:lnTo>
                    <a:pt x="879323" y="745415"/>
                  </a:lnTo>
                  <a:lnTo>
                    <a:pt x="834139" y="697747"/>
                  </a:lnTo>
                  <a:lnTo>
                    <a:pt x="788655" y="673913"/>
                  </a:lnTo>
                  <a:lnTo>
                    <a:pt x="696776" y="578578"/>
                  </a:lnTo>
                  <a:lnTo>
                    <a:pt x="650373" y="554744"/>
                  </a:lnTo>
                  <a:lnTo>
                    <a:pt x="556620" y="459408"/>
                  </a:lnTo>
                  <a:lnTo>
                    <a:pt x="509263" y="435575"/>
                  </a:lnTo>
                  <a:lnTo>
                    <a:pt x="413568" y="340239"/>
                  </a:lnTo>
                  <a:lnTo>
                    <a:pt x="365223" y="292572"/>
                  </a:lnTo>
                  <a:lnTo>
                    <a:pt x="316542" y="268738"/>
                  </a:lnTo>
                  <a:lnTo>
                    <a:pt x="164795" y="125735"/>
                  </a:lnTo>
                  <a:lnTo>
                    <a:pt x="114373" y="101901"/>
                  </a:lnTo>
                  <a:lnTo>
                    <a:pt x="13809" y="6565"/>
                  </a:lnTo>
                  <a:lnTo>
                    <a:pt x="0" y="0"/>
                  </a:lnTo>
                  <a:close/>
                </a:path>
                <a:path w="6091555" h="2344420">
                  <a:moveTo>
                    <a:pt x="3999852" y="1889439"/>
                  </a:moveTo>
                  <a:lnTo>
                    <a:pt x="3908282" y="1889439"/>
                  </a:lnTo>
                  <a:lnTo>
                    <a:pt x="3860871" y="1913273"/>
                  </a:lnTo>
                  <a:lnTo>
                    <a:pt x="3980337" y="1913273"/>
                  </a:lnTo>
                  <a:lnTo>
                    <a:pt x="3999852" y="1889439"/>
                  </a:lnTo>
                  <a:close/>
                </a:path>
                <a:path w="6091555" h="2344420">
                  <a:moveTo>
                    <a:pt x="5575743" y="554744"/>
                  </a:moveTo>
                  <a:lnTo>
                    <a:pt x="4388256" y="554744"/>
                  </a:lnTo>
                  <a:lnTo>
                    <a:pt x="4191576" y="650079"/>
                  </a:lnTo>
                  <a:lnTo>
                    <a:pt x="4141182" y="650079"/>
                  </a:lnTo>
                  <a:lnTo>
                    <a:pt x="3934839" y="745415"/>
                  </a:lnTo>
                  <a:lnTo>
                    <a:pt x="3882082" y="793082"/>
                  </a:lnTo>
                  <a:lnTo>
                    <a:pt x="3666503" y="888418"/>
                  </a:lnTo>
                  <a:lnTo>
                    <a:pt x="3611491" y="936085"/>
                  </a:lnTo>
                  <a:lnTo>
                    <a:pt x="3556040" y="959919"/>
                  </a:lnTo>
                  <a:lnTo>
                    <a:pt x="3500156" y="1007587"/>
                  </a:lnTo>
                  <a:lnTo>
                    <a:pt x="3443842" y="1031421"/>
                  </a:lnTo>
                  <a:lnTo>
                    <a:pt x="3387102" y="1079088"/>
                  </a:lnTo>
                  <a:lnTo>
                    <a:pt x="3329941" y="1102922"/>
                  </a:lnTo>
                  <a:lnTo>
                    <a:pt x="3272364" y="1150590"/>
                  </a:lnTo>
                  <a:lnTo>
                    <a:pt x="3220139" y="1174424"/>
                  </a:lnTo>
                  <a:lnTo>
                    <a:pt x="3170706" y="1222091"/>
                  </a:lnTo>
                  <a:lnTo>
                    <a:pt x="3123816" y="1245925"/>
                  </a:lnTo>
                  <a:lnTo>
                    <a:pt x="3079222" y="1269759"/>
                  </a:lnTo>
                  <a:lnTo>
                    <a:pt x="3036678" y="1293593"/>
                  </a:lnTo>
                  <a:lnTo>
                    <a:pt x="2956750" y="1365094"/>
                  </a:lnTo>
                  <a:lnTo>
                    <a:pt x="2918872" y="1388928"/>
                  </a:lnTo>
                  <a:lnTo>
                    <a:pt x="2882056" y="1412762"/>
                  </a:lnTo>
                  <a:lnTo>
                    <a:pt x="2846053" y="1436596"/>
                  </a:lnTo>
                  <a:lnTo>
                    <a:pt x="2810618" y="1460430"/>
                  </a:lnTo>
                  <a:lnTo>
                    <a:pt x="2807283" y="1460430"/>
                  </a:lnTo>
                  <a:lnTo>
                    <a:pt x="2838272" y="1484264"/>
                  </a:lnTo>
                  <a:lnTo>
                    <a:pt x="2871144" y="1508097"/>
                  </a:lnTo>
                  <a:lnTo>
                    <a:pt x="2905817" y="1531931"/>
                  </a:lnTo>
                  <a:lnTo>
                    <a:pt x="2942208" y="1555765"/>
                  </a:lnTo>
                  <a:lnTo>
                    <a:pt x="2980234" y="1579599"/>
                  </a:lnTo>
                  <a:lnTo>
                    <a:pt x="3019812" y="1603433"/>
                  </a:lnTo>
                  <a:lnTo>
                    <a:pt x="3060859" y="1603433"/>
                  </a:lnTo>
                  <a:lnTo>
                    <a:pt x="3103292" y="1627267"/>
                  </a:lnTo>
                  <a:lnTo>
                    <a:pt x="3147028" y="1651100"/>
                  </a:lnTo>
                  <a:lnTo>
                    <a:pt x="3191985" y="1674934"/>
                  </a:lnTo>
                  <a:lnTo>
                    <a:pt x="3238078" y="1698768"/>
                  </a:lnTo>
                  <a:lnTo>
                    <a:pt x="3285226" y="1722602"/>
                  </a:lnTo>
                  <a:lnTo>
                    <a:pt x="3333346" y="1746436"/>
                  </a:lnTo>
                  <a:lnTo>
                    <a:pt x="3382354" y="1746436"/>
                  </a:lnTo>
                  <a:lnTo>
                    <a:pt x="3482704" y="1794104"/>
                  </a:lnTo>
                  <a:lnTo>
                    <a:pt x="3533881" y="1794104"/>
                  </a:lnTo>
                  <a:lnTo>
                    <a:pt x="3585614" y="1817937"/>
                  </a:lnTo>
                  <a:lnTo>
                    <a:pt x="3637821" y="1817937"/>
                  </a:lnTo>
                  <a:lnTo>
                    <a:pt x="3690419" y="1841771"/>
                  </a:lnTo>
                  <a:lnTo>
                    <a:pt x="3743325" y="1841771"/>
                  </a:lnTo>
                  <a:lnTo>
                    <a:pt x="3796456" y="1865605"/>
                  </a:lnTo>
                  <a:lnTo>
                    <a:pt x="4009574" y="1865605"/>
                  </a:lnTo>
                  <a:lnTo>
                    <a:pt x="4051786" y="1841771"/>
                  </a:lnTo>
                  <a:lnTo>
                    <a:pt x="4090347" y="1794104"/>
                  </a:lnTo>
                  <a:lnTo>
                    <a:pt x="4126012" y="1746436"/>
                  </a:lnTo>
                  <a:lnTo>
                    <a:pt x="4159539" y="1722602"/>
                  </a:lnTo>
                  <a:lnTo>
                    <a:pt x="4191684" y="1674934"/>
                  </a:lnTo>
                  <a:lnTo>
                    <a:pt x="4223203" y="1651100"/>
                  </a:lnTo>
                  <a:lnTo>
                    <a:pt x="4254851" y="1603433"/>
                  </a:lnTo>
                  <a:lnTo>
                    <a:pt x="4287386" y="1579599"/>
                  </a:lnTo>
                  <a:lnTo>
                    <a:pt x="4321564" y="1531931"/>
                  </a:lnTo>
                  <a:lnTo>
                    <a:pt x="4358140" y="1484264"/>
                  </a:lnTo>
                  <a:lnTo>
                    <a:pt x="4422009" y="1412762"/>
                  </a:lnTo>
                  <a:lnTo>
                    <a:pt x="4484695" y="1365094"/>
                  </a:lnTo>
                  <a:lnTo>
                    <a:pt x="4546202" y="1293593"/>
                  </a:lnTo>
                  <a:lnTo>
                    <a:pt x="4606537" y="1222091"/>
                  </a:lnTo>
                  <a:lnTo>
                    <a:pt x="4665704" y="1174424"/>
                  </a:lnTo>
                  <a:lnTo>
                    <a:pt x="4723711" y="1126756"/>
                  </a:lnTo>
                  <a:lnTo>
                    <a:pt x="4780562" y="1079088"/>
                  </a:lnTo>
                  <a:lnTo>
                    <a:pt x="4836264" y="1031421"/>
                  </a:lnTo>
                  <a:lnTo>
                    <a:pt x="4890821" y="983753"/>
                  </a:lnTo>
                  <a:lnTo>
                    <a:pt x="4944240" y="936085"/>
                  </a:lnTo>
                  <a:lnTo>
                    <a:pt x="4996525" y="888418"/>
                  </a:lnTo>
                  <a:lnTo>
                    <a:pt x="5047684" y="864584"/>
                  </a:lnTo>
                  <a:lnTo>
                    <a:pt x="5097722" y="816916"/>
                  </a:lnTo>
                  <a:lnTo>
                    <a:pt x="5146643" y="793082"/>
                  </a:lnTo>
                  <a:lnTo>
                    <a:pt x="5194455" y="745415"/>
                  </a:lnTo>
                  <a:lnTo>
                    <a:pt x="5241162" y="721581"/>
                  </a:lnTo>
                  <a:lnTo>
                    <a:pt x="5286771" y="697747"/>
                  </a:lnTo>
                  <a:lnTo>
                    <a:pt x="5331286" y="673913"/>
                  </a:lnTo>
                  <a:lnTo>
                    <a:pt x="5374714" y="650079"/>
                  </a:lnTo>
                  <a:lnTo>
                    <a:pt x="5417061" y="626245"/>
                  </a:lnTo>
                  <a:lnTo>
                    <a:pt x="5458331" y="602411"/>
                  </a:lnTo>
                  <a:lnTo>
                    <a:pt x="5498531" y="602411"/>
                  </a:lnTo>
                  <a:lnTo>
                    <a:pt x="5537667" y="578578"/>
                  </a:lnTo>
                  <a:lnTo>
                    <a:pt x="5575743" y="554744"/>
                  </a:lnTo>
                  <a:close/>
                </a:path>
                <a:path w="6091555" h="2344420">
                  <a:moveTo>
                    <a:pt x="5717573" y="507076"/>
                  </a:moveTo>
                  <a:lnTo>
                    <a:pt x="4530506" y="507076"/>
                  </a:lnTo>
                  <a:lnTo>
                    <a:pt x="4436181" y="554744"/>
                  </a:lnTo>
                  <a:lnTo>
                    <a:pt x="5612766" y="554744"/>
                  </a:lnTo>
                  <a:lnTo>
                    <a:pt x="5648742" y="530910"/>
                  </a:lnTo>
                  <a:lnTo>
                    <a:pt x="5683676" y="530910"/>
                  </a:lnTo>
                  <a:lnTo>
                    <a:pt x="5717573" y="507076"/>
                  </a:lnTo>
                  <a:close/>
                </a:path>
                <a:path w="6091555" h="2344420">
                  <a:moveTo>
                    <a:pt x="6045579" y="459408"/>
                  </a:moveTo>
                  <a:lnTo>
                    <a:pt x="4668119" y="459408"/>
                  </a:lnTo>
                  <a:lnTo>
                    <a:pt x="4576898" y="507076"/>
                  </a:lnTo>
                  <a:lnTo>
                    <a:pt x="5813104" y="507076"/>
                  </a:lnTo>
                  <a:lnTo>
                    <a:pt x="5842913" y="483242"/>
                  </a:lnTo>
                  <a:lnTo>
                    <a:pt x="6023674" y="483242"/>
                  </a:lnTo>
                  <a:lnTo>
                    <a:pt x="6045579" y="459408"/>
                  </a:lnTo>
                  <a:close/>
                </a:path>
                <a:path w="6091555" h="2344420">
                  <a:moveTo>
                    <a:pt x="6017407" y="411741"/>
                  </a:moveTo>
                  <a:lnTo>
                    <a:pt x="4844190" y="411741"/>
                  </a:lnTo>
                  <a:lnTo>
                    <a:pt x="4800979" y="435575"/>
                  </a:lnTo>
                  <a:lnTo>
                    <a:pt x="4757227" y="435575"/>
                  </a:lnTo>
                  <a:lnTo>
                    <a:pt x="4712939" y="459408"/>
                  </a:lnTo>
                  <a:lnTo>
                    <a:pt x="6091007" y="459408"/>
                  </a:lnTo>
                  <a:lnTo>
                    <a:pt x="6055588" y="435575"/>
                  </a:lnTo>
                  <a:lnTo>
                    <a:pt x="6017407" y="411741"/>
                  </a:lnTo>
                  <a:close/>
                </a:path>
                <a:path w="6091555" h="2344420">
                  <a:moveTo>
                    <a:pt x="5932892" y="387907"/>
                  </a:moveTo>
                  <a:lnTo>
                    <a:pt x="4970535" y="387907"/>
                  </a:lnTo>
                  <a:lnTo>
                    <a:pt x="4928972" y="411741"/>
                  </a:lnTo>
                  <a:lnTo>
                    <a:pt x="5976497" y="411741"/>
                  </a:lnTo>
                  <a:lnTo>
                    <a:pt x="5932892" y="387907"/>
                  </a:lnTo>
                  <a:close/>
                </a:path>
                <a:path w="6091555" h="2344420">
                  <a:moveTo>
                    <a:pt x="5837725" y="364073"/>
                  </a:moveTo>
                  <a:lnTo>
                    <a:pt x="5091858" y="364073"/>
                  </a:lnTo>
                  <a:lnTo>
                    <a:pt x="5051982" y="387907"/>
                  </a:lnTo>
                  <a:lnTo>
                    <a:pt x="5886623" y="387907"/>
                  </a:lnTo>
                  <a:lnTo>
                    <a:pt x="5837725" y="364073"/>
                  </a:lnTo>
                  <a:close/>
                </a:path>
                <a:path w="6091555" h="2344420">
                  <a:moveTo>
                    <a:pt x="5616484" y="340239"/>
                  </a:moveTo>
                  <a:lnTo>
                    <a:pt x="5318979" y="340239"/>
                  </a:lnTo>
                  <a:lnTo>
                    <a:pt x="5282591" y="364073"/>
                  </a:lnTo>
                  <a:lnTo>
                    <a:pt x="5675576" y="364073"/>
                  </a:lnTo>
                  <a:lnTo>
                    <a:pt x="5616484" y="340239"/>
                  </a:lnTo>
                  <a:close/>
                </a:path>
              </a:pathLst>
            </a:custGeom>
            <a:solidFill>
              <a:srgbClr val="DED5C7"/>
            </a:solidFill>
          </p:spPr>
          <p:txBody>
            <a:bodyPr wrap="square" lIns="0" tIns="0" rIns="0" bIns="0" rtlCol="0"/>
            <a:lstStyle/>
            <a:p>
              <a:endParaRPr/>
            </a:p>
          </p:txBody>
        </p:sp>
        <p:sp>
          <p:nvSpPr>
            <p:cNvPr id="5" name="object 5"/>
            <p:cNvSpPr/>
            <p:nvPr/>
          </p:nvSpPr>
          <p:spPr>
            <a:xfrm>
              <a:off x="11120500" y="309626"/>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grpSp>
      <p:sp>
        <p:nvSpPr>
          <p:cNvPr id="6" name="object 6"/>
          <p:cNvSpPr txBox="1"/>
          <p:nvPr/>
        </p:nvSpPr>
        <p:spPr>
          <a:xfrm>
            <a:off x="11207115" y="295021"/>
            <a:ext cx="83185" cy="151130"/>
          </a:xfrm>
          <a:prstGeom prst="rect">
            <a:avLst/>
          </a:prstGeom>
        </p:spPr>
        <p:txBody>
          <a:bodyPr vert="horz" wrap="square" lIns="0" tIns="15875" rIns="0" bIns="0" rtlCol="0">
            <a:spAutoFit/>
          </a:bodyPr>
          <a:lstStyle/>
          <a:p>
            <a:pPr marL="12700">
              <a:lnSpc>
                <a:spcPct val="100000"/>
              </a:lnSpc>
              <a:spcBef>
                <a:spcPts val="125"/>
              </a:spcBef>
            </a:pPr>
            <a:r>
              <a:rPr sz="800" spc="-50" dirty="0">
                <a:solidFill>
                  <a:srgbClr val="FFFFFF"/>
                </a:solidFill>
                <a:latin typeface="Lucida Sans Unicode"/>
                <a:cs typeface="Lucida Sans Unicode"/>
              </a:rPr>
              <a:t>7</a:t>
            </a:r>
            <a:endParaRPr sz="800">
              <a:latin typeface="Lucida Sans Unicode"/>
              <a:cs typeface="Lucida Sans Unicode"/>
            </a:endParaRPr>
          </a:p>
        </p:txBody>
      </p:sp>
      <p:grpSp>
        <p:nvGrpSpPr>
          <p:cNvPr id="7" name="object 7"/>
          <p:cNvGrpSpPr/>
          <p:nvPr/>
        </p:nvGrpSpPr>
        <p:grpSpPr>
          <a:xfrm>
            <a:off x="106362" y="0"/>
            <a:ext cx="12085955" cy="6858000"/>
            <a:chOff x="106362" y="0"/>
            <a:chExt cx="12085955" cy="6858000"/>
          </a:xfrm>
        </p:grpSpPr>
        <p:sp>
          <p:nvSpPr>
            <p:cNvPr id="8" name="object 8"/>
            <p:cNvSpPr/>
            <p:nvPr/>
          </p:nvSpPr>
          <p:spPr>
            <a:xfrm>
              <a:off x="12087225" y="0"/>
              <a:ext cx="104775" cy="6858000"/>
            </a:xfrm>
            <a:custGeom>
              <a:avLst/>
              <a:gdLst/>
              <a:ahLst/>
              <a:cxnLst/>
              <a:rect l="l" t="t" r="r" b="b"/>
              <a:pathLst>
                <a:path w="104775" h="6858000">
                  <a:moveTo>
                    <a:pt x="104775" y="0"/>
                  </a:moveTo>
                  <a:lnTo>
                    <a:pt x="0" y="0"/>
                  </a:lnTo>
                  <a:lnTo>
                    <a:pt x="0" y="6858000"/>
                  </a:lnTo>
                  <a:lnTo>
                    <a:pt x="104775" y="6858000"/>
                  </a:lnTo>
                  <a:lnTo>
                    <a:pt x="104775" y="0"/>
                  </a:lnTo>
                  <a:close/>
                </a:path>
              </a:pathLst>
            </a:custGeom>
            <a:solidFill>
              <a:srgbClr val="EDEBE3"/>
            </a:solidFill>
          </p:spPr>
          <p:txBody>
            <a:bodyPr wrap="square" lIns="0" tIns="0" rIns="0" bIns="0" rtlCol="0"/>
            <a:lstStyle/>
            <a:p>
              <a:endParaRPr/>
            </a:p>
          </p:txBody>
        </p:sp>
        <p:sp>
          <p:nvSpPr>
            <p:cNvPr id="9" name="object 9"/>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10" name="object 10"/>
          <p:cNvSpPr txBox="1"/>
          <p:nvPr/>
        </p:nvSpPr>
        <p:spPr>
          <a:xfrm>
            <a:off x="1036002" y="3304032"/>
            <a:ext cx="3366770" cy="491801"/>
          </a:xfrm>
          <a:prstGeom prst="rect">
            <a:avLst/>
          </a:prstGeom>
        </p:spPr>
        <p:txBody>
          <a:bodyPr vert="horz" wrap="square" lIns="0" tIns="60325" rIns="0" bIns="0" rtlCol="0">
            <a:spAutoFit/>
          </a:bodyPr>
          <a:lstStyle/>
          <a:p>
            <a:pPr marL="194310">
              <a:lnSpc>
                <a:spcPct val="100000"/>
              </a:lnSpc>
              <a:spcBef>
                <a:spcPts val="90"/>
              </a:spcBef>
            </a:pPr>
            <a:r>
              <a:rPr lang="en-US" sz="2800" dirty="0">
                <a:solidFill>
                  <a:srgbClr val="AC9976"/>
                </a:solidFill>
                <a:latin typeface="Lucida Sans Unicode"/>
                <a:cs typeface="Lucida Sans Unicode"/>
              </a:rPr>
              <a:t>Location</a:t>
            </a:r>
            <a:endParaRPr lang="en-US" sz="2800" dirty="0">
              <a:latin typeface="Lucida Sans Unicode"/>
              <a:cs typeface="Lucida Sans Unicode"/>
            </a:endParaRPr>
          </a:p>
        </p:txBody>
      </p:sp>
      <p:sp>
        <p:nvSpPr>
          <p:cNvPr id="11" name="object 11"/>
          <p:cNvSpPr txBox="1"/>
          <p:nvPr/>
        </p:nvSpPr>
        <p:spPr>
          <a:xfrm>
            <a:off x="1047750" y="2705100"/>
            <a:ext cx="438150" cy="428625"/>
          </a:xfrm>
          <a:prstGeom prst="rect">
            <a:avLst/>
          </a:prstGeom>
          <a:solidFill>
            <a:srgbClr val="AC9976"/>
          </a:solidFill>
        </p:spPr>
        <p:txBody>
          <a:bodyPr vert="horz" wrap="square" lIns="0" tIns="136525" rIns="0" bIns="0" rtlCol="0">
            <a:spAutoFit/>
          </a:bodyPr>
          <a:lstStyle/>
          <a:p>
            <a:pPr marL="133350">
              <a:lnSpc>
                <a:spcPct val="100000"/>
              </a:lnSpc>
              <a:spcBef>
                <a:spcPts val="1075"/>
              </a:spcBef>
            </a:pPr>
            <a:r>
              <a:rPr sz="1200" spc="-25" dirty="0">
                <a:solidFill>
                  <a:srgbClr val="FFFFFF"/>
                </a:solidFill>
                <a:latin typeface="Lucida Sans Unicode"/>
                <a:cs typeface="Lucida Sans Unicode"/>
              </a:rPr>
              <a:t>01</a:t>
            </a:r>
            <a:endParaRPr sz="1200">
              <a:latin typeface="Lucida Sans Unicode"/>
              <a:cs typeface="Lucida Sans Unicode"/>
            </a:endParaRPr>
          </a:p>
        </p:txBody>
      </p:sp>
      <p:grpSp>
        <p:nvGrpSpPr>
          <p:cNvPr id="12" name="object 12"/>
          <p:cNvGrpSpPr/>
          <p:nvPr/>
        </p:nvGrpSpPr>
        <p:grpSpPr>
          <a:xfrm>
            <a:off x="11507372" y="286715"/>
            <a:ext cx="407034" cy="158115"/>
            <a:chOff x="11507372" y="286715"/>
            <a:chExt cx="407034" cy="158115"/>
          </a:xfrm>
        </p:grpSpPr>
        <p:pic>
          <p:nvPicPr>
            <p:cNvPr id="13" name="object 13"/>
            <p:cNvPicPr/>
            <p:nvPr/>
          </p:nvPicPr>
          <p:blipFill>
            <a:blip r:embed="rId2" cstate="print"/>
            <a:stretch>
              <a:fillRect/>
            </a:stretch>
          </p:blipFill>
          <p:spPr>
            <a:xfrm>
              <a:off x="11766807" y="339886"/>
              <a:ext cx="147284" cy="68676"/>
            </a:xfrm>
            <a:prstGeom prst="rect">
              <a:avLst/>
            </a:prstGeom>
          </p:spPr>
        </p:pic>
        <p:sp>
          <p:nvSpPr>
            <p:cNvPr id="14" name="object 14"/>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FFFFFF"/>
            </a:solidFill>
          </p:spPr>
          <p:txBody>
            <a:bodyPr wrap="square" lIns="0" tIns="0" rIns="0" bIns="0" rtlCol="0"/>
            <a:lstStyle/>
            <a:p>
              <a:endParaRPr/>
            </a:p>
          </p:txBody>
        </p:sp>
      </p:grpSp>
      <p:pic>
        <p:nvPicPr>
          <p:cNvPr id="15" name="object 8">
            <a:extLst>
              <a:ext uri="{FF2B5EF4-FFF2-40B4-BE49-F238E27FC236}">
                <a16:creationId xmlns:a16="http://schemas.microsoft.com/office/drawing/2014/main" id="{6B780FB3-CCE1-89AD-1904-D539DA2D680F}"/>
              </a:ext>
            </a:extLst>
          </p:cNvPr>
          <p:cNvPicPr/>
          <p:nvPr/>
        </p:nvPicPr>
        <p:blipFill>
          <a:blip r:embed="rId3" cstate="print"/>
          <a:stretch>
            <a:fillRect/>
          </a:stretch>
        </p:blipFill>
        <p:spPr>
          <a:xfrm>
            <a:off x="6229350" y="104775"/>
            <a:ext cx="5848350" cy="66436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6362" y="104772"/>
            <a:ext cx="11990705" cy="6657975"/>
            <a:chOff x="106362" y="104772"/>
            <a:chExt cx="11990705" cy="6657975"/>
          </a:xfrm>
        </p:grpSpPr>
        <p:pic>
          <p:nvPicPr>
            <p:cNvPr id="3" name="object 3"/>
            <p:cNvPicPr/>
            <p:nvPr/>
          </p:nvPicPr>
          <p:blipFill>
            <a:blip r:embed="rId2" cstate="print"/>
            <a:stretch>
              <a:fillRect/>
            </a:stretch>
          </p:blipFill>
          <p:spPr>
            <a:xfrm>
              <a:off x="5457825" y="190499"/>
              <a:ext cx="1276350" cy="6477000"/>
            </a:xfrm>
            <a:prstGeom prst="rect">
              <a:avLst/>
            </a:prstGeom>
          </p:spPr>
        </p:pic>
        <p:pic>
          <p:nvPicPr>
            <p:cNvPr id="4" name="object 4"/>
            <p:cNvPicPr/>
            <p:nvPr/>
          </p:nvPicPr>
          <p:blipFill>
            <a:blip r:embed="rId3" cstate="print"/>
            <a:stretch>
              <a:fillRect/>
            </a:stretch>
          </p:blipFill>
          <p:spPr>
            <a:xfrm>
              <a:off x="6096000" y="104772"/>
              <a:ext cx="6000750" cy="6657975"/>
            </a:xfrm>
            <a:prstGeom prst="rect">
              <a:avLst/>
            </a:prstGeom>
          </p:spPr>
        </p:pic>
        <p:sp>
          <p:nvSpPr>
            <p:cNvPr id="5" name="object 5"/>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sp>
          <p:nvSpPr>
            <p:cNvPr id="6" name="object 6"/>
            <p:cNvSpPr/>
            <p:nvPr/>
          </p:nvSpPr>
          <p:spPr>
            <a:xfrm>
              <a:off x="11120501" y="309625"/>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pic>
          <p:nvPicPr>
            <p:cNvPr id="7" name="object 7"/>
            <p:cNvPicPr/>
            <p:nvPr/>
          </p:nvPicPr>
          <p:blipFill>
            <a:blip r:embed="rId4" cstate="print"/>
            <a:stretch>
              <a:fillRect/>
            </a:stretch>
          </p:blipFill>
          <p:spPr>
            <a:xfrm>
              <a:off x="11766807" y="339886"/>
              <a:ext cx="147284" cy="68676"/>
            </a:xfrm>
            <a:prstGeom prst="rect">
              <a:avLst/>
            </a:prstGeom>
          </p:spPr>
        </p:pic>
        <p:sp>
          <p:nvSpPr>
            <p:cNvPr id="8" name="object 8"/>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FFFFFF"/>
            </a:solidFill>
          </p:spPr>
          <p:txBody>
            <a:bodyPr wrap="square" lIns="0" tIns="0" rIns="0" bIns="0" rtlCol="0"/>
            <a:lstStyle/>
            <a:p>
              <a:endParaRPr/>
            </a:p>
          </p:txBody>
        </p:sp>
      </p:grpSp>
      <p:sp>
        <p:nvSpPr>
          <p:cNvPr id="9" name="object 9"/>
          <p:cNvSpPr txBox="1"/>
          <p:nvPr/>
        </p:nvSpPr>
        <p:spPr>
          <a:xfrm>
            <a:off x="10319384" y="295021"/>
            <a:ext cx="1002665" cy="151130"/>
          </a:xfrm>
          <a:prstGeom prst="rect">
            <a:avLst/>
          </a:prstGeom>
        </p:spPr>
        <p:txBody>
          <a:bodyPr vert="horz" wrap="square" lIns="0" tIns="15875" rIns="0" bIns="0" rtlCol="0">
            <a:spAutoFit/>
          </a:bodyPr>
          <a:lstStyle/>
          <a:p>
            <a:pPr marL="12700">
              <a:lnSpc>
                <a:spcPct val="100000"/>
              </a:lnSpc>
              <a:spcBef>
                <a:spcPts val="125"/>
              </a:spcBef>
              <a:tabLst>
                <a:tab pos="899794" algn="l"/>
              </a:tabLst>
            </a:pPr>
            <a:r>
              <a:rPr sz="800" dirty="0">
                <a:solidFill>
                  <a:srgbClr val="FFFFFF"/>
                </a:solidFill>
                <a:latin typeface="Lucida Sans Unicode"/>
                <a:cs typeface="Lucida Sans Unicode"/>
              </a:rPr>
              <a:t>Section</a:t>
            </a:r>
            <a:r>
              <a:rPr sz="800" spc="120" dirty="0">
                <a:solidFill>
                  <a:srgbClr val="FFFFFF"/>
                </a:solidFill>
                <a:latin typeface="Lucida Sans Unicode"/>
                <a:cs typeface="Lucida Sans Unicode"/>
              </a:rPr>
              <a:t> </a:t>
            </a:r>
            <a:r>
              <a:rPr sz="800" spc="-20" dirty="0">
                <a:solidFill>
                  <a:srgbClr val="FFFFFF"/>
                </a:solidFill>
                <a:latin typeface="Lucida Sans Unicode"/>
                <a:cs typeface="Lucida Sans Unicode"/>
              </a:rPr>
              <a:t>Name</a:t>
            </a:r>
            <a:r>
              <a:rPr sz="800" dirty="0">
                <a:solidFill>
                  <a:srgbClr val="FFFFFF"/>
                </a:solidFill>
                <a:latin typeface="Lucida Sans Unicode"/>
                <a:cs typeface="Lucida Sans Unicode"/>
              </a:rPr>
              <a:t>	</a:t>
            </a:r>
            <a:r>
              <a:rPr sz="800" spc="-120" dirty="0">
                <a:solidFill>
                  <a:srgbClr val="FFFFFF"/>
                </a:solidFill>
                <a:latin typeface="Lucida Sans Unicode"/>
                <a:cs typeface="Lucida Sans Unicode"/>
              </a:rPr>
              <a:t>14</a:t>
            </a:r>
            <a:endParaRPr sz="800">
              <a:latin typeface="Lucida Sans Unicode"/>
              <a:cs typeface="Lucida Sans Unicode"/>
            </a:endParaRPr>
          </a:p>
        </p:txBody>
      </p:sp>
      <p:sp>
        <p:nvSpPr>
          <p:cNvPr id="10" name="object 10"/>
          <p:cNvSpPr txBox="1"/>
          <p:nvPr/>
        </p:nvSpPr>
        <p:spPr>
          <a:xfrm>
            <a:off x="622871" y="1276946"/>
            <a:ext cx="4556125" cy="5357749"/>
          </a:xfrm>
          <a:prstGeom prst="rect">
            <a:avLst/>
          </a:prstGeom>
        </p:spPr>
        <p:txBody>
          <a:bodyPr vert="horz" wrap="square" lIns="0" tIns="67945" rIns="0" bIns="0" rtlCol="0">
            <a:spAutoFit/>
          </a:bodyPr>
          <a:lstStyle/>
          <a:p>
            <a:pPr marL="12700">
              <a:lnSpc>
                <a:spcPct val="100000"/>
              </a:lnSpc>
              <a:spcBef>
                <a:spcPts val="100"/>
              </a:spcBef>
            </a:pPr>
            <a:r>
              <a:rPr lang="en-US" sz="1200" dirty="0">
                <a:solidFill>
                  <a:srgbClr val="AC9976"/>
                </a:solidFill>
                <a:latin typeface="Lucida Sans Unicode"/>
                <a:cs typeface="Lucida Sans Unicode"/>
              </a:rPr>
              <a:t>Ideally located at the crossroads of Tashkent’s old and modern districts, </a:t>
            </a:r>
            <a:r>
              <a:rPr lang="en-US" sz="1200" dirty="0" err="1">
                <a:solidFill>
                  <a:srgbClr val="AC9976"/>
                </a:solidFill>
                <a:latin typeface="Lucida Sans Unicode"/>
                <a:cs typeface="Lucida Sans Unicode"/>
              </a:rPr>
              <a:t>Mövenpick</a:t>
            </a:r>
            <a:r>
              <a:rPr lang="en-US" sz="1200" dirty="0">
                <a:solidFill>
                  <a:srgbClr val="AC9976"/>
                </a:solidFill>
                <a:latin typeface="Lucida Sans Unicode"/>
                <a:cs typeface="Lucida Sans Unicode"/>
              </a:rPr>
              <a:t> Tashkent Old City reveals both sides of the capital : its majestic history and its vibrant contemporary rhythm. Just a 23-minute drive from </a:t>
            </a:r>
            <a:r>
              <a:rPr lang="en-US" sz="1200" dirty="0" err="1">
                <a:solidFill>
                  <a:srgbClr val="AC9976"/>
                </a:solidFill>
                <a:latin typeface="Lucida Sans Unicode"/>
                <a:cs typeface="Lucida Sans Unicode"/>
              </a:rPr>
              <a:t>theTashkent</a:t>
            </a:r>
            <a:r>
              <a:rPr lang="en-US" sz="1200" dirty="0">
                <a:solidFill>
                  <a:srgbClr val="AC9976"/>
                </a:solidFill>
                <a:latin typeface="Lucida Sans Unicode"/>
                <a:cs typeface="Lucida Sans Unicode"/>
              </a:rPr>
              <a:t> International airport, the hotel serves as a convenient starting point for travelers arriving for business or inspiration.</a:t>
            </a:r>
            <a:endParaRPr lang="ru-RU" sz="1200" dirty="0">
              <a:solidFill>
                <a:srgbClr val="AC9976"/>
              </a:solidFill>
              <a:latin typeface="Lucida Sans Unicode"/>
              <a:cs typeface="Lucida Sans Unicode"/>
            </a:endParaRPr>
          </a:p>
          <a:p>
            <a:endParaRPr lang="en-US" sz="1200" dirty="0">
              <a:solidFill>
                <a:srgbClr val="AC9976"/>
              </a:solidFill>
              <a:latin typeface="Lucida Sans Unicode"/>
              <a:cs typeface="Lucida Sans Unicode"/>
            </a:endParaRPr>
          </a:p>
          <a:p>
            <a:pPr marL="12700" marR="5080" algn="just">
              <a:lnSpc>
                <a:spcPct val="100000"/>
              </a:lnSpc>
              <a:spcBef>
                <a:spcPts val="100"/>
              </a:spcBef>
            </a:pPr>
            <a:r>
              <a:rPr lang="en-US" sz="1200" dirty="0">
                <a:solidFill>
                  <a:srgbClr val="AC9976"/>
                </a:solidFill>
                <a:latin typeface="Lucida Sans Unicode"/>
                <a:cs typeface="Lucida Sans Unicode"/>
              </a:rPr>
              <a:t>Surrounded by the city’s most iconic cultural landmarks, the hotel is only steps away from the Hast-Imam complex, the spiritual heart of the Old City and home to the legendary Osman Qur’an. Nearby, guests can explore the lively </a:t>
            </a:r>
            <a:r>
              <a:rPr lang="en-US" sz="1200" dirty="0" err="1">
                <a:solidFill>
                  <a:srgbClr val="AC9976"/>
                </a:solidFill>
                <a:latin typeface="Lucida Sans Unicode"/>
                <a:cs typeface="Lucida Sans Unicode"/>
              </a:rPr>
              <a:t>Chorsu</a:t>
            </a:r>
            <a:r>
              <a:rPr lang="en-US" sz="1200" dirty="0">
                <a:solidFill>
                  <a:srgbClr val="AC9976"/>
                </a:solidFill>
                <a:latin typeface="Lucida Sans Unicode"/>
                <a:cs typeface="Lucida Sans Unicode"/>
              </a:rPr>
              <a:t> Bazaar, traditional mahallas, the </a:t>
            </a:r>
            <a:r>
              <a:rPr lang="en-US" sz="1200" dirty="0" err="1">
                <a:solidFill>
                  <a:srgbClr val="AC9976"/>
                </a:solidFill>
                <a:latin typeface="Lucida Sans Unicode"/>
                <a:cs typeface="Lucida Sans Unicode"/>
              </a:rPr>
              <a:t>Kukeldash</a:t>
            </a:r>
            <a:r>
              <a:rPr lang="en-US" sz="1200" dirty="0">
                <a:solidFill>
                  <a:srgbClr val="AC9976"/>
                </a:solidFill>
                <a:latin typeface="Lucida Sans Unicode"/>
                <a:cs typeface="Lucida Sans Unicode"/>
              </a:rPr>
              <a:t> Madrasah, and the historic </a:t>
            </a:r>
            <a:r>
              <a:rPr lang="en-US" sz="1200" dirty="0" err="1">
                <a:solidFill>
                  <a:srgbClr val="AC9976"/>
                </a:solidFill>
                <a:latin typeface="Lucida Sans Unicode"/>
                <a:cs typeface="Lucida Sans Unicode"/>
              </a:rPr>
              <a:t>Sheikhantaur</a:t>
            </a:r>
            <a:r>
              <a:rPr lang="en-US" sz="1200" dirty="0">
                <a:solidFill>
                  <a:srgbClr val="AC9976"/>
                </a:solidFill>
                <a:latin typeface="Lucida Sans Unicode"/>
                <a:cs typeface="Lucida Sans Unicode"/>
              </a:rPr>
              <a:t> ensemble, each offering an authentic glimpse into the heritage of the ancient Silk Road.</a:t>
            </a:r>
          </a:p>
          <a:p>
            <a:pPr marL="12700" marR="5080" algn="just">
              <a:lnSpc>
                <a:spcPct val="100000"/>
              </a:lnSpc>
              <a:spcBef>
                <a:spcPts val="100"/>
              </a:spcBef>
            </a:pPr>
            <a:endParaRPr lang="en-US" sz="1200" dirty="0">
              <a:solidFill>
                <a:srgbClr val="AC9976"/>
              </a:solidFill>
              <a:latin typeface="Lucida Sans Unicode"/>
              <a:cs typeface="Lucida Sans Unicode"/>
            </a:endParaRPr>
          </a:p>
          <a:p>
            <a:pPr marL="12700" marR="5080" algn="just">
              <a:lnSpc>
                <a:spcPct val="100000"/>
              </a:lnSpc>
              <a:spcBef>
                <a:spcPts val="100"/>
              </a:spcBef>
            </a:pPr>
            <a:r>
              <a:rPr lang="en-US" sz="1200" dirty="0">
                <a:solidFill>
                  <a:srgbClr val="AC9976"/>
                </a:solidFill>
                <a:latin typeface="Lucida Sans Unicode"/>
                <a:cs typeface="Lucida Sans Unicode"/>
              </a:rPr>
              <a:t>In the opposite direction unfolds the modern face of the capital: the expansive Tashkent City business district, the striking </a:t>
            </a:r>
            <a:r>
              <a:rPr lang="en-US" sz="1200" dirty="0" err="1">
                <a:solidFill>
                  <a:srgbClr val="AC9976"/>
                </a:solidFill>
                <a:latin typeface="Lucida Sans Unicode"/>
                <a:cs typeface="Lucida Sans Unicode"/>
              </a:rPr>
              <a:t>Humo</a:t>
            </a:r>
            <a:r>
              <a:rPr lang="en-US" sz="1200" dirty="0">
                <a:solidFill>
                  <a:srgbClr val="AC9976"/>
                </a:solidFill>
                <a:latin typeface="Lucida Sans Unicode"/>
                <a:cs typeface="Lucida Sans Unicode"/>
              </a:rPr>
              <a:t> Arena, and one of the country’s main exhibition venues - the </a:t>
            </a:r>
            <a:r>
              <a:rPr lang="en-US" sz="1200" dirty="0" err="1">
                <a:solidFill>
                  <a:srgbClr val="AC9976"/>
                </a:solidFill>
                <a:latin typeface="Lucida Sans Unicode"/>
                <a:cs typeface="Lucida Sans Unicode"/>
              </a:rPr>
              <a:t>UzExpo</a:t>
            </a:r>
            <a:r>
              <a:rPr lang="en-US" sz="1200" dirty="0">
                <a:solidFill>
                  <a:srgbClr val="AC9976"/>
                </a:solidFill>
                <a:latin typeface="Lucida Sans Unicode"/>
                <a:cs typeface="Lucida Sans Unicode"/>
              </a:rPr>
              <a:t> Centre. </a:t>
            </a:r>
          </a:p>
          <a:p>
            <a:pPr marL="12700" marR="5080" algn="just">
              <a:lnSpc>
                <a:spcPct val="100000"/>
              </a:lnSpc>
              <a:spcBef>
                <a:spcPts val="100"/>
              </a:spcBef>
            </a:pPr>
            <a:endParaRPr lang="en-US" sz="1200" dirty="0">
              <a:solidFill>
                <a:srgbClr val="AC9976"/>
              </a:solidFill>
              <a:latin typeface="Lucida Sans Unicode"/>
              <a:cs typeface="Lucida Sans Unicode"/>
            </a:endParaRPr>
          </a:p>
          <a:p>
            <a:pPr marL="12700" marR="5080" algn="just">
              <a:lnSpc>
                <a:spcPct val="100000"/>
              </a:lnSpc>
              <a:spcBef>
                <a:spcPts val="100"/>
              </a:spcBef>
            </a:pPr>
            <a:r>
              <a:rPr lang="en-US" sz="1200" dirty="0">
                <a:solidFill>
                  <a:srgbClr val="AC9976"/>
                </a:solidFill>
                <a:latin typeface="Lucida Sans Unicode"/>
                <a:cs typeface="Lucida Sans Unicode"/>
              </a:rPr>
              <a:t>Thanks to this exceptional location, </a:t>
            </a:r>
            <a:r>
              <a:rPr lang="en-US" sz="1200" dirty="0" err="1">
                <a:solidFill>
                  <a:srgbClr val="AC9976"/>
                </a:solidFill>
                <a:latin typeface="Lucida Sans Unicode"/>
                <a:cs typeface="Lucida Sans Unicode"/>
              </a:rPr>
              <a:t>Mövenpick</a:t>
            </a:r>
            <a:r>
              <a:rPr lang="en-US" sz="1200" dirty="0">
                <a:solidFill>
                  <a:srgbClr val="AC9976"/>
                </a:solidFill>
                <a:latin typeface="Lucida Sans Unicode"/>
                <a:cs typeface="Lucida Sans Unicode"/>
              </a:rPr>
              <a:t> Tashkent Old City is the perfect choice for business travelers and culture seekers alike, where the past and the future meet in one harmonious destination.</a:t>
            </a:r>
          </a:p>
          <a:p>
            <a:endParaRPr lang="en-US" sz="1200" dirty="0">
              <a:solidFill>
                <a:srgbClr val="AC9976"/>
              </a:solidFill>
              <a:latin typeface="Lucida Sans Unicode"/>
              <a:cs typeface="Lucida Sans Unicode"/>
            </a:endParaRPr>
          </a:p>
          <a:p>
            <a:pPr marL="12700" marR="5080">
              <a:lnSpc>
                <a:spcPct val="130400"/>
              </a:lnSpc>
            </a:pPr>
            <a:endParaRPr lang="en-US" sz="1200" dirty="0">
              <a:latin typeface="Lucida Sans Unicode"/>
              <a:cs typeface="Lucida Sans Unicode"/>
            </a:endParaRPr>
          </a:p>
        </p:txBody>
      </p:sp>
      <p:sp>
        <p:nvSpPr>
          <p:cNvPr id="11" name="object 11"/>
          <p:cNvSpPr txBox="1">
            <a:spLocks noGrp="1"/>
          </p:cNvSpPr>
          <p:nvPr>
            <p:ph type="title"/>
          </p:nvPr>
        </p:nvSpPr>
        <p:spPr>
          <a:xfrm>
            <a:off x="622871" y="444830"/>
            <a:ext cx="3920490" cy="449580"/>
          </a:xfrm>
          <a:prstGeom prst="rect">
            <a:avLst/>
          </a:prstGeom>
        </p:spPr>
        <p:txBody>
          <a:bodyPr vert="horz" wrap="square" lIns="0" tIns="16510" rIns="0" bIns="0" rtlCol="0">
            <a:spAutoFit/>
          </a:bodyPr>
          <a:lstStyle/>
          <a:p>
            <a:pPr marL="12700">
              <a:lnSpc>
                <a:spcPct val="100000"/>
              </a:lnSpc>
              <a:spcBef>
                <a:spcPts val="130"/>
              </a:spcBef>
            </a:pPr>
            <a:r>
              <a:rPr lang="en-US" sz="2750" spc="-50" dirty="0">
                <a:latin typeface="Arial Black"/>
                <a:cs typeface="Arial Black"/>
              </a:rPr>
              <a:t>Location</a:t>
            </a:r>
            <a:endParaRPr sz="2750" dirty="0">
              <a:latin typeface="Arial Black"/>
              <a:cs typeface="Arial Black"/>
            </a:endParaRPr>
          </a:p>
        </p:txBody>
      </p:sp>
      <p:pic>
        <p:nvPicPr>
          <p:cNvPr id="13" name="Рисунок 12" descr="Изображение выглядит как еда, Легкая закуска, выпечка, Глютен&#10;&#10;Автоматически созданное описание">
            <a:extLst>
              <a:ext uri="{FF2B5EF4-FFF2-40B4-BE49-F238E27FC236}">
                <a16:creationId xmlns:a16="http://schemas.microsoft.com/office/drawing/2014/main" id="{DEC94BCB-372A-991E-A489-787AC83AFCB8}"/>
              </a:ext>
            </a:extLst>
          </p:cNvPr>
          <p:cNvPicPr>
            <a:picLocks noChangeAspect="1"/>
          </p:cNvPicPr>
          <p:nvPr/>
        </p:nvPicPr>
        <p:blipFill>
          <a:blip r:embed="rId5">
            <a:extLst>
              <a:ext uri="{28A0092B-C50C-407E-A947-70E740481C1C}">
                <a14:useLocalDpi xmlns:a14="http://schemas.microsoft.com/office/drawing/2010/main" val="0"/>
              </a:ext>
            </a:extLst>
          </a:blip>
          <a:srcRect t="1289" b="1360"/>
          <a:stretch/>
        </p:blipFill>
        <p:spPr>
          <a:xfrm>
            <a:off x="6117001" y="104772"/>
            <a:ext cx="3785592" cy="6662740"/>
          </a:xfrm>
          <a:prstGeom prst="rect">
            <a:avLst/>
          </a:prstGeom>
        </p:spPr>
      </p:pic>
      <p:pic>
        <p:nvPicPr>
          <p:cNvPr id="17" name="Рисунок 16" descr="Изображение выглядит как решетка, ржавчина&#10;&#10;Автоматически созданное описание">
            <a:extLst>
              <a:ext uri="{FF2B5EF4-FFF2-40B4-BE49-F238E27FC236}">
                <a16:creationId xmlns:a16="http://schemas.microsoft.com/office/drawing/2014/main" id="{C07F96C9-0AE0-6104-3DCD-B1E4CB9955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21911" y="100007"/>
            <a:ext cx="3691077" cy="66484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09625"/>
            <a:ext cx="11120500" cy="6548899"/>
            <a:chOff x="0" y="309625"/>
            <a:chExt cx="11120500" cy="6548899"/>
          </a:xfrm>
        </p:grpSpPr>
        <p:sp>
          <p:nvSpPr>
            <p:cNvPr id="4" name="object 4"/>
            <p:cNvSpPr/>
            <p:nvPr/>
          </p:nvSpPr>
          <p:spPr>
            <a:xfrm>
              <a:off x="0" y="4514104"/>
              <a:ext cx="6091555" cy="2344420"/>
            </a:xfrm>
            <a:custGeom>
              <a:avLst/>
              <a:gdLst/>
              <a:ahLst/>
              <a:cxnLst/>
              <a:rect l="l" t="t" r="r" b="b"/>
              <a:pathLst>
                <a:path w="6091555" h="2344420">
                  <a:moveTo>
                    <a:pt x="0" y="0"/>
                  </a:moveTo>
                  <a:lnTo>
                    <a:pt x="0" y="1523715"/>
                  </a:lnTo>
                  <a:lnTo>
                    <a:pt x="46050" y="1579599"/>
                  </a:lnTo>
                  <a:lnTo>
                    <a:pt x="84966" y="1603433"/>
                  </a:lnTo>
                  <a:lnTo>
                    <a:pt x="123697" y="1651100"/>
                  </a:lnTo>
                  <a:lnTo>
                    <a:pt x="162244" y="1674934"/>
                  </a:lnTo>
                  <a:lnTo>
                    <a:pt x="200603" y="1722602"/>
                  </a:lnTo>
                  <a:lnTo>
                    <a:pt x="238775" y="1746436"/>
                  </a:lnTo>
                  <a:lnTo>
                    <a:pt x="276759" y="1794104"/>
                  </a:lnTo>
                  <a:lnTo>
                    <a:pt x="352156" y="1841771"/>
                  </a:lnTo>
                  <a:lnTo>
                    <a:pt x="389568" y="1889439"/>
                  </a:lnTo>
                  <a:lnTo>
                    <a:pt x="463811" y="1937107"/>
                  </a:lnTo>
                  <a:lnTo>
                    <a:pt x="500640" y="1984774"/>
                  </a:lnTo>
                  <a:lnTo>
                    <a:pt x="645986" y="2080110"/>
                  </a:lnTo>
                  <a:lnTo>
                    <a:pt x="823151" y="2199279"/>
                  </a:lnTo>
                  <a:lnTo>
                    <a:pt x="961184" y="2294614"/>
                  </a:lnTo>
                  <a:lnTo>
                    <a:pt x="979870" y="2294614"/>
                  </a:lnTo>
                  <a:lnTo>
                    <a:pt x="988570" y="2318448"/>
                  </a:lnTo>
                  <a:lnTo>
                    <a:pt x="997163" y="2318448"/>
                  </a:lnTo>
                  <a:lnTo>
                    <a:pt x="1059066" y="2342282"/>
                  </a:lnTo>
                  <a:lnTo>
                    <a:pt x="1061143" y="2343892"/>
                  </a:lnTo>
                  <a:lnTo>
                    <a:pt x="3418647" y="2343892"/>
                  </a:lnTo>
                  <a:lnTo>
                    <a:pt x="3420824" y="2342282"/>
                  </a:lnTo>
                  <a:lnTo>
                    <a:pt x="3452258" y="2342282"/>
                  </a:lnTo>
                  <a:lnTo>
                    <a:pt x="3482898" y="2318448"/>
                  </a:lnTo>
                  <a:lnTo>
                    <a:pt x="3512739" y="2294614"/>
                  </a:lnTo>
                  <a:lnTo>
                    <a:pt x="3541772" y="2270780"/>
                  </a:lnTo>
                  <a:lnTo>
                    <a:pt x="3569990" y="2246946"/>
                  </a:lnTo>
                  <a:lnTo>
                    <a:pt x="3597386" y="2246946"/>
                  </a:lnTo>
                  <a:lnTo>
                    <a:pt x="3623954" y="2223113"/>
                  </a:lnTo>
                  <a:lnTo>
                    <a:pt x="3649685" y="2199279"/>
                  </a:lnTo>
                  <a:lnTo>
                    <a:pt x="3674572" y="2175445"/>
                  </a:lnTo>
                  <a:lnTo>
                    <a:pt x="3698609" y="2151611"/>
                  </a:lnTo>
                  <a:lnTo>
                    <a:pt x="3721788" y="2151611"/>
                  </a:lnTo>
                  <a:lnTo>
                    <a:pt x="3744102" y="2127777"/>
                  </a:lnTo>
                  <a:lnTo>
                    <a:pt x="3765544" y="2103943"/>
                  </a:lnTo>
                  <a:lnTo>
                    <a:pt x="3786106" y="2080110"/>
                  </a:lnTo>
                  <a:lnTo>
                    <a:pt x="3805781" y="2080110"/>
                  </a:lnTo>
                  <a:lnTo>
                    <a:pt x="3824562" y="2056276"/>
                  </a:lnTo>
                  <a:lnTo>
                    <a:pt x="3842443" y="2032442"/>
                  </a:lnTo>
                  <a:lnTo>
                    <a:pt x="3859415" y="2032442"/>
                  </a:lnTo>
                  <a:lnTo>
                    <a:pt x="3875471" y="2008608"/>
                  </a:lnTo>
                  <a:lnTo>
                    <a:pt x="3890605" y="2008608"/>
                  </a:lnTo>
                  <a:lnTo>
                    <a:pt x="3914575" y="1984774"/>
                  </a:lnTo>
                  <a:lnTo>
                    <a:pt x="3916148" y="1984774"/>
                  </a:lnTo>
                  <a:lnTo>
                    <a:pt x="3932165" y="1960940"/>
                  </a:lnTo>
                  <a:lnTo>
                    <a:pt x="3955668" y="1937107"/>
                  </a:lnTo>
                  <a:lnTo>
                    <a:pt x="3980337" y="1913273"/>
                  </a:lnTo>
                  <a:lnTo>
                    <a:pt x="3337923" y="1913273"/>
                  </a:lnTo>
                  <a:lnTo>
                    <a:pt x="3289971" y="1889439"/>
                  </a:lnTo>
                  <a:lnTo>
                    <a:pt x="3145380" y="1889439"/>
                  </a:lnTo>
                  <a:lnTo>
                    <a:pt x="3096901" y="1865605"/>
                  </a:lnTo>
                  <a:lnTo>
                    <a:pt x="2999459" y="1865605"/>
                  </a:lnTo>
                  <a:lnTo>
                    <a:pt x="2950472" y="1841771"/>
                  </a:lnTo>
                  <a:lnTo>
                    <a:pt x="2901295" y="1841771"/>
                  </a:lnTo>
                  <a:lnTo>
                    <a:pt x="2851916" y="1817937"/>
                  </a:lnTo>
                  <a:lnTo>
                    <a:pt x="2802325" y="1817937"/>
                  </a:lnTo>
                  <a:lnTo>
                    <a:pt x="2702461" y="1770270"/>
                  </a:lnTo>
                  <a:lnTo>
                    <a:pt x="2652168" y="1770270"/>
                  </a:lnTo>
                  <a:lnTo>
                    <a:pt x="2550802" y="1722602"/>
                  </a:lnTo>
                  <a:lnTo>
                    <a:pt x="2499709" y="1722602"/>
                  </a:lnTo>
                  <a:lnTo>
                    <a:pt x="2448328" y="1698768"/>
                  </a:lnTo>
                  <a:lnTo>
                    <a:pt x="2411873" y="1674934"/>
                  </a:lnTo>
                  <a:lnTo>
                    <a:pt x="2375266" y="1674934"/>
                  </a:lnTo>
                  <a:lnTo>
                    <a:pt x="2301580" y="1627267"/>
                  </a:lnTo>
                  <a:lnTo>
                    <a:pt x="2264493" y="1627267"/>
                  </a:lnTo>
                  <a:lnTo>
                    <a:pt x="2152214" y="1555765"/>
                  </a:lnTo>
                  <a:lnTo>
                    <a:pt x="2114435" y="1555765"/>
                  </a:lnTo>
                  <a:lnTo>
                    <a:pt x="1883800" y="1412762"/>
                  </a:lnTo>
                  <a:lnTo>
                    <a:pt x="1844665" y="1412762"/>
                  </a:lnTo>
                  <a:lnTo>
                    <a:pt x="1645784" y="1293593"/>
                  </a:lnTo>
                  <a:lnTo>
                    <a:pt x="1605340" y="1245925"/>
                  </a:lnTo>
                  <a:lnTo>
                    <a:pt x="1399575" y="1126756"/>
                  </a:lnTo>
                  <a:lnTo>
                    <a:pt x="1357686" y="1102922"/>
                  </a:lnTo>
                  <a:lnTo>
                    <a:pt x="1315544" y="1055254"/>
                  </a:lnTo>
                  <a:lnTo>
                    <a:pt x="1187555" y="983753"/>
                  </a:lnTo>
                  <a:lnTo>
                    <a:pt x="1144359" y="936085"/>
                  </a:lnTo>
                  <a:lnTo>
                    <a:pt x="1100890" y="912251"/>
                  </a:lnTo>
                  <a:lnTo>
                    <a:pt x="1057145" y="864584"/>
                  </a:lnTo>
                  <a:lnTo>
                    <a:pt x="968810" y="816916"/>
                  </a:lnTo>
                  <a:lnTo>
                    <a:pt x="924212" y="769248"/>
                  </a:lnTo>
                  <a:lnTo>
                    <a:pt x="879323" y="745415"/>
                  </a:lnTo>
                  <a:lnTo>
                    <a:pt x="834139" y="697747"/>
                  </a:lnTo>
                  <a:lnTo>
                    <a:pt x="788655" y="673913"/>
                  </a:lnTo>
                  <a:lnTo>
                    <a:pt x="696776" y="578578"/>
                  </a:lnTo>
                  <a:lnTo>
                    <a:pt x="650373" y="554744"/>
                  </a:lnTo>
                  <a:lnTo>
                    <a:pt x="556620" y="459408"/>
                  </a:lnTo>
                  <a:lnTo>
                    <a:pt x="509263" y="435575"/>
                  </a:lnTo>
                  <a:lnTo>
                    <a:pt x="413568" y="340239"/>
                  </a:lnTo>
                  <a:lnTo>
                    <a:pt x="365223" y="292572"/>
                  </a:lnTo>
                  <a:lnTo>
                    <a:pt x="316542" y="268738"/>
                  </a:lnTo>
                  <a:lnTo>
                    <a:pt x="164795" y="125735"/>
                  </a:lnTo>
                  <a:lnTo>
                    <a:pt x="114373" y="101901"/>
                  </a:lnTo>
                  <a:lnTo>
                    <a:pt x="13809" y="6565"/>
                  </a:lnTo>
                  <a:lnTo>
                    <a:pt x="0" y="0"/>
                  </a:lnTo>
                  <a:close/>
                </a:path>
                <a:path w="6091555" h="2344420">
                  <a:moveTo>
                    <a:pt x="3999852" y="1889439"/>
                  </a:moveTo>
                  <a:lnTo>
                    <a:pt x="3908282" y="1889439"/>
                  </a:lnTo>
                  <a:lnTo>
                    <a:pt x="3860871" y="1913273"/>
                  </a:lnTo>
                  <a:lnTo>
                    <a:pt x="3980337" y="1913273"/>
                  </a:lnTo>
                  <a:lnTo>
                    <a:pt x="3999852" y="1889439"/>
                  </a:lnTo>
                  <a:close/>
                </a:path>
                <a:path w="6091555" h="2344420">
                  <a:moveTo>
                    <a:pt x="5575743" y="554744"/>
                  </a:moveTo>
                  <a:lnTo>
                    <a:pt x="4388256" y="554744"/>
                  </a:lnTo>
                  <a:lnTo>
                    <a:pt x="4191576" y="650079"/>
                  </a:lnTo>
                  <a:lnTo>
                    <a:pt x="4141182" y="650079"/>
                  </a:lnTo>
                  <a:lnTo>
                    <a:pt x="3934839" y="745415"/>
                  </a:lnTo>
                  <a:lnTo>
                    <a:pt x="3882082" y="793082"/>
                  </a:lnTo>
                  <a:lnTo>
                    <a:pt x="3666503" y="888418"/>
                  </a:lnTo>
                  <a:lnTo>
                    <a:pt x="3611491" y="936085"/>
                  </a:lnTo>
                  <a:lnTo>
                    <a:pt x="3556040" y="959919"/>
                  </a:lnTo>
                  <a:lnTo>
                    <a:pt x="3500156" y="1007587"/>
                  </a:lnTo>
                  <a:lnTo>
                    <a:pt x="3443842" y="1031421"/>
                  </a:lnTo>
                  <a:lnTo>
                    <a:pt x="3387102" y="1079088"/>
                  </a:lnTo>
                  <a:lnTo>
                    <a:pt x="3329941" y="1102922"/>
                  </a:lnTo>
                  <a:lnTo>
                    <a:pt x="3272364" y="1150590"/>
                  </a:lnTo>
                  <a:lnTo>
                    <a:pt x="3220139" y="1174424"/>
                  </a:lnTo>
                  <a:lnTo>
                    <a:pt x="3170706" y="1222091"/>
                  </a:lnTo>
                  <a:lnTo>
                    <a:pt x="3123816" y="1245925"/>
                  </a:lnTo>
                  <a:lnTo>
                    <a:pt x="3079222" y="1269759"/>
                  </a:lnTo>
                  <a:lnTo>
                    <a:pt x="3036678" y="1293593"/>
                  </a:lnTo>
                  <a:lnTo>
                    <a:pt x="2956750" y="1365094"/>
                  </a:lnTo>
                  <a:lnTo>
                    <a:pt x="2918872" y="1388928"/>
                  </a:lnTo>
                  <a:lnTo>
                    <a:pt x="2882056" y="1412762"/>
                  </a:lnTo>
                  <a:lnTo>
                    <a:pt x="2846053" y="1436596"/>
                  </a:lnTo>
                  <a:lnTo>
                    <a:pt x="2810618" y="1460430"/>
                  </a:lnTo>
                  <a:lnTo>
                    <a:pt x="2807283" y="1460430"/>
                  </a:lnTo>
                  <a:lnTo>
                    <a:pt x="2838272" y="1484264"/>
                  </a:lnTo>
                  <a:lnTo>
                    <a:pt x="2871144" y="1508097"/>
                  </a:lnTo>
                  <a:lnTo>
                    <a:pt x="2905817" y="1531931"/>
                  </a:lnTo>
                  <a:lnTo>
                    <a:pt x="2942208" y="1555765"/>
                  </a:lnTo>
                  <a:lnTo>
                    <a:pt x="2980234" y="1579599"/>
                  </a:lnTo>
                  <a:lnTo>
                    <a:pt x="3019812" y="1603433"/>
                  </a:lnTo>
                  <a:lnTo>
                    <a:pt x="3060859" y="1603433"/>
                  </a:lnTo>
                  <a:lnTo>
                    <a:pt x="3103292" y="1627267"/>
                  </a:lnTo>
                  <a:lnTo>
                    <a:pt x="3147028" y="1651100"/>
                  </a:lnTo>
                  <a:lnTo>
                    <a:pt x="3191985" y="1674934"/>
                  </a:lnTo>
                  <a:lnTo>
                    <a:pt x="3238078" y="1698768"/>
                  </a:lnTo>
                  <a:lnTo>
                    <a:pt x="3285226" y="1722602"/>
                  </a:lnTo>
                  <a:lnTo>
                    <a:pt x="3333346" y="1746436"/>
                  </a:lnTo>
                  <a:lnTo>
                    <a:pt x="3382354" y="1746436"/>
                  </a:lnTo>
                  <a:lnTo>
                    <a:pt x="3482704" y="1794104"/>
                  </a:lnTo>
                  <a:lnTo>
                    <a:pt x="3533881" y="1794104"/>
                  </a:lnTo>
                  <a:lnTo>
                    <a:pt x="3585614" y="1817937"/>
                  </a:lnTo>
                  <a:lnTo>
                    <a:pt x="3637821" y="1817937"/>
                  </a:lnTo>
                  <a:lnTo>
                    <a:pt x="3690419" y="1841771"/>
                  </a:lnTo>
                  <a:lnTo>
                    <a:pt x="3743325" y="1841771"/>
                  </a:lnTo>
                  <a:lnTo>
                    <a:pt x="3796456" y="1865605"/>
                  </a:lnTo>
                  <a:lnTo>
                    <a:pt x="4009574" y="1865605"/>
                  </a:lnTo>
                  <a:lnTo>
                    <a:pt x="4051786" y="1841771"/>
                  </a:lnTo>
                  <a:lnTo>
                    <a:pt x="4090347" y="1794104"/>
                  </a:lnTo>
                  <a:lnTo>
                    <a:pt x="4126012" y="1746436"/>
                  </a:lnTo>
                  <a:lnTo>
                    <a:pt x="4159539" y="1722602"/>
                  </a:lnTo>
                  <a:lnTo>
                    <a:pt x="4191684" y="1674934"/>
                  </a:lnTo>
                  <a:lnTo>
                    <a:pt x="4223203" y="1651100"/>
                  </a:lnTo>
                  <a:lnTo>
                    <a:pt x="4254851" y="1603433"/>
                  </a:lnTo>
                  <a:lnTo>
                    <a:pt x="4287386" y="1579599"/>
                  </a:lnTo>
                  <a:lnTo>
                    <a:pt x="4321564" y="1531931"/>
                  </a:lnTo>
                  <a:lnTo>
                    <a:pt x="4358140" y="1484264"/>
                  </a:lnTo>
                  <a:lnTo>
                    <a:pt x="4422009" y="1412762"/>
                  </a:lnTo>
                  <a:lnTo>
                    <a:pt x="4484695" y="1365094"/>
                  </a:lnTo>
                  <a:lnTo>
                    <a:pt x="4546202" y="1293593"/>
                  </a:lnTo>
                  <a:lnTo>
                    <a:pt x="4606537" y="1222091"/>
                  </a:lnTo>
                  <a:lnTo>
                    <a:pt x="4665704" y="1174424"/>
                  </a:lnTo>
                  <a:lnTo>
                    <a:pt x="4723711" y="1126756"/>
                  </a:lnTo>
                  <a:lnTo>
                    <a:pt x="4780562" y="1079088"/>
                  </a:lnTo>
                  <a:lnTo>
                    <a:pt x="4836264" y="1031421"/>
                  </a:lnTo>
                  <a:lnTo>
                    <a:pt x="4890821" y="983753"/>
                  </a:lnTo>
                  <a:lnTo>
                    <a:pt x="4944240" y="936085"/>
                  </a:lnTo>
                  <a:lnTo>
                    <a:pt x="4996525" y="888418"/>
                  </a:lnTo>
                  <a:lnTo>
                    <a:pt x="5047684" y="864584"/>
                  </a:lnTo>
                  <a:lnTo>
                    <a:pt x="5097722" y="816916"/>
                  </a:lnTo>
                  <a:lnTo>
                    <a:pt x="5146643" y="793082"/>
                  </a:lnTo>
                  <a:lnTo>
                    <a:pt x="5194455" y="745415"/>
                  </a:lnTo>
                  <a:lnTo>
                    <a:pt x="5241162" y="721581"/>
                  </a:lnTo>
                  <a:lnTo>
                    <a:pt x="5286771" y="697747"/>
                  </a:lnTo>
                  <a:lnTo>
                    <a:pt x="5331286" y="673913"/>
                  </a:lnTo>
                  <a:lnTo>
                    <a:pt x="5374714" y="650079"/>
                  </a:lnTo>
                  <a:lnTo>
                    <a:pt x="5417061" y="626245"/>
                  </a:lnTo>
                  <a:lnTo>
                    <a:pt x="5458331" y="602411"/>
                  </a:lnTo>
                  <a:lnTo>
                    <a:pt x="5498531" y="602411"/>
                  </a:lnTo>
                  <a:lnTo>
                    <a:pt x="5537667" y="578578"/>
                  </a:lnTo>
                  <a:lnTo>
                    <a:pt x="5575743" y="554744"/>
                  </a:lnTo>
                  <a:close/>
                </a:path>
                <a:path w="6091555" h="2344420">
                  <a:moveTo>
                    <a:pt x="5717573" y="507076"/>
                  </a:moveTo>
                  <a:lnTo>
                    <a:pt x="4530506" y="507076"/>
                  </a:lnTo>
                  <a:lnTo>
                    <a:pt x="4436181" y="554744"/>
                  </a:lnTo>
                  <a:lnTo>
                    <a:pt x="5612766" y="554744"/>
                  </a:lnTo>
                  <a:lnTo>
                    <a:pt x="5648742" y="530910"/>
                  </a:lnTo>
                  <a:lnTo>
                    <a:pt x="5683676" y="530910"/>
                  </a:lnTo>
                  <a:lnTo>
                    <a:pt x="5717573" y="507076"/>
                  </a:lnTo>
                  <a:close/>
                </a:path>
                <a:path w="6091555" h="2344420">
                  <a:moveTo>
                    <a:pt x="6045579" y="459408"/>
                  </a:moveTo>
                  <a:lnTo>
                    <a:pt x="4668119" y="459408"/>
                  </a:lnTo>
                  <a:lnTo>
                    <a:pt x="4576898" y="507076"/>
                  </a:lnTo>
                  <a:lnTo>
                    <a:pt x="5813104" y="507076"/>
                  </a:lnTo>
                  <a:lnTo>
                    <a:pt x="5842913" y="483242"/>
                  </a:lnTo>
                  <a:lnTo>
                    <a:pt x="6023674" y="483242"/>
                  </a:lnTo>
                  <a:lnTo>
                    <a:pt x="6045579" y="459408"/>
                  </a:lnTo>
                  <a:close/>
                </a:path>
                <a:path w="6091555" h="2344420">
                  <a:moveTo>
                    <a:pt x="6017407" y="411741"/>
                  </a:moveTo>
                  <a:lnTo>
                    <a:pt x="4844190" y="411741"/>
                  </a:lnTo>
                  <a:lnTo>
                    <a:pt x="4800979" y="435575"/>
                  </a:lnTo>
                  <a:lnTo>
                    <a:pt x="4757227" y="435575"/>
                  </a:lnTo>
                  <a:lnTo>
                    <a:pt x="4712939" y="459408"/>
                  </a:lnTo>
                  <a:lnTo>
                    <a:pt x="6091007" y="459408"/>
                  </a:lnTo>
                  <a:lnTo>
                    <a:pt x="6055588" y="435575"/>
                  </a:lnTo>
                  <a:lnTo>
                    <a:pt x="6017407" y="411741"/>
                  </a:lnTo>
                  <a:close/>
                </a:path>
                <a:path w="6091555" h="2344420">
                  <a:moveTo>
                    <a:pt x="5932892" y="387907"/>
                  </a:moveTo>
                  <a:lnTo>
                    <a:pt x="4970535" y="387907"/>
                  </a:lnTo>
                  <a:lnTo>
                    <a:pt x="4928972" y="411741"/>
                  </a:lnTo>
                  <a:lnTo>
                    <a:pt x="5976497" y="411741"/>
                  </a:lnTo>
                  <a:lnTo>
                    <a:pt x="5932892" y="387907"/>
                  </a:lnTo>
                  <a:close/>
                </a:path>
                <a:path w="6091555" h="2344420">
                  <a:moveTo>
                    <a:pt x="5837725" y="364073"/>
                  </a:moveTo>
                  <a:lnTo>
                    <a:pt x="5091858" y="364073"/>
                  </a:lnTo>
                  <a:lnTo>
                    <a:pt x="5051982" y="387907"/>
                  </a:lnTo>
                  <a:lnTo>
                    <a:pt x="5886623" y="387907"/>
                  </a:lnTo>
                  <a:lnTo>
                    <a:pt x="5837725" y="364073"/>
                  </a:lnTo>
                  <a:close/>
                </a:path>
                <a:path w="6091555" h="2344420">
                  <a:moveTo>
                    <a:pt x="5616484" y="340239"/>
                  </a:moveTo>
                  <a:lnTo>
                    <a:pt x="5318979" y="340239"/>
                  </a:lnTo>
                  <a:lnTo>
                    <a:pt x="5282591" y="364073"/>
                  </a:lnTo>
                  <a:lnTo>
                    <a:pt x="5675576" y="364073"/>
                  </a:lnTo>
                  <a:lnTo>
                    <a:pt x="5616484" y="340239"/>
                  </a:lnTo>
                  <a:close/>
                </a:path>
              </a:pathLst>
            </a:custGeom>
            <a:solidFill>
              <a:srgbClr val="DED5C7"/>
            </a:solidFill>
          </p:spPr>
          <p:txBody>
            <a:bodyPr wrap="square" lIns="0" tIns="0" rIns="0" bIns="0" rtlCol="0"/>
            <a:lstStyle/>
            <a:p>
              <a:endParaRPr/>
            </a:p>
          </p:txBody>
        </p:sp>
        <p:sp>
          <p:nvSpPr>
            <p:cNvPr id="5" name="object 5"/>
            <p:cNvSpPr/>
            <p:nvPr/>
          </p:nvSpPr>
          <p:spPr>
            <a:xfrm>
              <a:off x="11120500" y="309625"/>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grpSp>
      <p:sp>
        <p:nvSpPr>
          <p:cNvPr id="6" name="object 6"/>
          <p:cNvSpPr txBox="1"/>
          <p:nvPr/>
        </p:nvSpPr>
        <p:spPr>
          <a:xfrm>
            <a:off x="11207115" y="295021"/>
            <a:ext cx="91440" cy="151130"/>
          </a:xfrm>
          <a:prstGeom prst="rect">
            <a:avLst/>
          </a:prstGeom>
        </p:spPr>
        <p:txBody>
          <a:bodyPr vert="horz" wrap="square" lIns="0" tIns="15875" rIns="0" bIns="0" rtlCol="0">
            <a:spAutoFit/>
          </a:bodyPr>
          <a:lstStyle/>
          <a:p>
            <a:pPr marL="12700">
              <a:lnSpc>
                <a:spcPct val="100000"/>
              </a:lnSpc>
              <a:spcBef>
                <a:spcPts val="125"/>
              </a:spcBef>
            </a:pPr>
            <a:r>
              <a:rPr sz="800" spc="-50" dirty="0">
                <a:solidFill>
                  <a:srgbClr val="FFFFFF"/>
                </a:solidFill>
                <a:latin typeface="Lucida Sans Unicode"/>
                <a:cs typeface="Lucida Sans Unicode"/>
              </a:rPr>
              <a:t>9</a:t>
            </a:r>
            <a:endParaRPr sz="800">
              <a:latin typeface="Lucida Sans Unicode"/>
              <a:cs typeface="Lucida Sans Unicode"/>
            </a:endParaRPr>
          </a:p>
        </p:txBody>
      </p:sp>
      <p:grpSp>
        <p:nvGrpSpPr>
          <p:cNvPr id="7" name="object 7"/>
          <p:cNvGrpSpPr/>
          <p:nvPr/>
        </p:nvGrpSpPr>
        <p:grpSpPr>
          <a:xfrm>
            <a:off x="106362" y="0"/>
            <a:ext cx="12085955" cy="6858000"/>
            <a:chOff x="106362" y="0"/>
            <a:chExt cx="12085955" cy="6858000"/>
          </a:xfrm>
        </p:grpSpPr>
        <p:sp>
          <p:nvSpPr>
            <p:cNvPr id="8" name="object 8"/>
            <p:cNvSpPr/>
            <p:nvPr/>
          </p:nvSpPr>
          <p:spPr>
            <a:xfrm>
              <a:off x="12087225" y="0"/>
              <a:ext cx="104775" cy="6858000"/>
            </a:xfrm>
            <a:custGeom>
              <a:avLst/>
              <a:gdLst/>
              <a:ahLst/>
              <a:cxnLst/>
              <a:rect l="l" t="t" r="r" b="b"/>
              <a:pathLst>
                <a:path w="104775" h="6858000">
                  <a:moveTo>
                    <a:pt x="104775" y="0"/>
                  </a:moveTo>
                  <a:lnTo>
                    <a:pt x="0" y="0"/>
                  </a:lnTo>
                  <a:lnTo>
                    <a:pt x="0" y="6858000"/>
                  </a:lnTo>
                  <a:lnTo>
                    <a:pt x="104775" y="6858000"/>
                  </a:lnTo>
                  <a:lnTo>
                    <a:pt x="104775" y="0"/>
                  </a:lnTo>
                  <a:close/>
                </a:path>
              </a:pathLst>
            </a:custGeom>
            <a:solidFill>
              <a:srgbClr val="EDEBE3"/>
            </a:solidFill>
          </p:spPr>
          <p:txBody>
            <a:bodyPr wrap="square" lIns="0" tIns="0" rIns="0" bIns="0" rtlCol="0"/>
            <a:lstStyle/>
            <a:p>
              <a:endParaRPr/>
            </a:p>
          </p:txBody>
        </p:sp>
        <p:sp>
          <p:nvSpPr>
            <p:cNvPr id="9" name="object 9"/>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10" name="object 10"/>
          <p:cNvSpPr txBox="1"/>
          <p:nvPr/>
        </p:nvSpPr>
        <p:spPr>
          <a:xfrm>
            <a:off x="1036002" y="3304032"/>
            <a:ext cx="3366770" cy="971420"/>
          </a:xfrm>
          <a:prstGeom prst="rect">
            <a:avLst/>
          </a:prstGeom>
        </p:spPr>
        <p:txBody>
          <a:bodyPr vert="horz" wrap="square" lIns="0" tIns="60325" rIns="0" bIns="0" rtlCol="0">
            <a:spAutoFit/>
          </a:bodyPr>
          <a:lstStyle/>
          <a:p>
            <a:pPr marL="12700">
              <a:lnSpc>
                <a:spcPct val="100000"/>
              </a:lnSpc>
              <a:spcBef>
                <a:spcPts val="475"/>
              </a:spcBef>
            </a:pPr>
            <a:r>
              <a:rPr lang="en-US" sz="2750" spc="60" dirty="0">
                <a:solidFill>
                  <a:srgbClr val="AC9976"/>
                </a:solidFill>
                <a:latin typeface="Lucida Sans Unicode"/>
                <a:cs typeface="Lucida Sans Unicode"/>
              </a:rPr>
              <a:t>Hotel overview</a:t>
            </a:r>
          </a:p>
          <a:p>
            <a:pPr marL="12700">
              <a:lnSpc>
                <a:spcPct val="100000"/>
              </a:lnSpc>
              <a:spcBef>
                <a:spcPts val="475"/>
              </a:spcBef>
            </a:pPr>
            <a:endParaRPr sz="2750" dirty="0">
              <a:latin typeface="Lucida Sans Unicode"/>
              <a:cs typeface="Lucida Sans Unicode"/>
            </a:endParaRPr>
          </a:p>
        </p:txBody>
      </p:sp>
      <p:sp>
        <p:nvSpPr>
          <p:cNvPr id="11" name="object 11"/>
          <p:cNvSpPr txBox="1"/>
          <p:nvPr/>
        </p:nvSpPr>
        <p:spPr>
          <a:xfrm>
            <a:off x="1047750" y="2705100"/>
            <a:ext cx="438150" cy="428625"/>
          </a:xfrm>
          <a:prstGeom prst="rect">
            <a:avLst/>
          </a:prstGeom>
          <a:solidFill>
            <a:srgbClr val="AC9976"/>
          </a:solidFill>
        </p:spPr>
        <p:txBody>
          <a:bodyPr vert="horz" wrap="square" lIns="0" tIns="136525" rIns="0" bIns="0" rtlCol="0">
            <a:spAutoFit/>
          </a:bodyPr>
          <a:lstStyle/>
          <a:p>
            <a:pPr marL="113030">
              <a:lnSpc>
                <a:spcPct val="100000"/>
              </a:lnSpc>
              <a:spcBef>
                <a:spcPts val="1075"/>
              </a:spcBef>
            </a:pPr>
            <a:r>
              <a:rPr sz="1200" spc="-25" dirty="0">
                <a:solidFill>
                  <a:srgbClr val="FFFFFF"/>
                </a:solidFill>
                <a:latin typeface="Lucida Sans Unicode"/>
                <a:cs typeface="Lucida Sans Unicode"/>
              </a:rPr>
              <a:t>03</a:t>
            </a:r>
            <a:endParaRPr sz="1200">
              <a:latin typeface="Lucida Sans Unicode"/>
              <a:cs typeface="Lucida Sans Unicode"/>
            </a:endParaRPr>
          </a:p>
        </p:txBody>
      </p:sp>
      <p:grpSp>
        <p:nvGrpSpPr>
          <p:cNvPr id="12" name="object 12"/>
          <p:cNvGrpSpPr/>
          <p:nvPr/>
        </p:nvGrpSpPr>
        <p:grpSpPr>
          <a:xfrm>
            <a:off x="11507372" y="286715"/>
            <a:ext cx="407034" cy="158115"/>
            <a:chOff x="11507372" y="286715"/>
            <a:chExt cx="407034" cy="158115"/>
          </a:xfrm>
        </p:grpSpPr>
        <p:pic>
          <p:nvPicPr>
            <p:cNvPr id="13" name="object 13"/>
            <p:cNvPicPr/>
            <p:nvPr/>
          </p:nvPicPr>
          <p:blipFill>
            <a:blip r:embed="rId2" cstate="print"/>
            <a:stretch>
              <a:fillRect/>
            </a:stretch>
          </p:blipFill>
          <p:spPr>
            <a:xfrm>
              <a:off x="11766807" y="339886"/>
              <a:ext cx="147284" cy="68676"/>
            </a:xfrm>
            <a:prstGeom prst="rect">
              <a:avLst/>
            </a:prstGeom>
          </p:spPr>
        </p:pic>
        <p:sp>
          <p:nvSpPr>
            <p:cNvPr id="14" name="object 14"/>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FFFFFF"/>
            </a:solidFill>
          </p:spPr>
          <p:txBody>
            <a:bodyPr wrap="square" lIns="0" tIns="0" rIns="0" bIns="0" rtlCol="0"/>
            <a:lstStyle/>
            <a:p>
              <a:endParaRPr/>
            </a:p>
          </p:txBody>
        </p:sp>
      </p:grpSp>
      <p:pic>
        <p:nvPicPr>
          <p:cNvPr id="15" name="object 8">
            <a:extLst>
              <a:ext uri="{FF2B5EF4-FFF2-40B4-BE49-F238E27FC236}">
                <a16:creationId xmlns:a16="http://schemas.microsoft.com/office/drawing/2014/main" id="{1202C0B2-3541-0A0B-0A1B-0439AADF87FE}"/>
              </a:ext>
            </a:extLst>
          </p:cNvPr>
          <p:cNvPicPr/>
          <p:nvPr/>
        </p:nvPicPr>
        <p:blipFill>
          <a:blip r:embed="rId3" cstate="print"/>
          <a:stretch>
            <a:fillRect/>
          </a:stretch>
        </p:blipFill>
        <p:spPr>
          <a:xfrm>
            <a:off x="6229350" y="104775"/>
            <a:ext cx="5848350" cy="66436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6362" y="106362"/>
            <a:ext cx="11988800" cy="6654800"/>
            <a:chOff x="106362" y="106362"/>
            <a:chExt cx="11988800" cy="6654800"/>
          </a:xfrm>
        </p:grpSpPr>
        <p:pic>
          <p:nvPicPr>
            <p:cNvPr id="3" name="object 3"/>
            <p:cNvPicPr/>
            <p:nvPr/>
          </p:nvPicPr>
          <p:blipFill>
            <a:blip r:embed="rId2" cstate="print"/>
            <a:stretch>
              <a:fillRect/>
            </a:stretch>
          </p:blipFill>
          <p:spPr>
            <a:xfrm>
              <a:off x="5457825" y="190500"/>
              <a:ext cx="1276350" cy="6477000"/>
            </a:xfrm>
            <a:prstGeom prst="rect">
              <a:avLst/>
            </a:prstGeom>
          </p:spPr>
        </p:pic>
        <p:sp>
          <p:nvSpPr>
            <p:cNvPr id="4" name="object 4"/>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5" name="object 5"/>
          <p:cNvSpPr txBox="1"/>
          <p:nvPr/>
        </p:nvSpPr>
        <p:spPr>
          <a:xfrm>
            <a:off x="10319384" y="295021"/>
            <a:ext cx="1003300" cy="151130"/>
          </a:xfrm>
          <a:prstGeom prst="rect">
            <a:avLst/>
          </a:prstGeom>
        </p:spPr>
        <p:txBody>
          <a:bodyPr vert="horz" wrap="square" lIns="0" tIns="15875" rIns="0" bIns="0" rtlCol="0">
            <a:spAutoFit/>
          </a:bodyPr>
          <a:lstStyle/>
          <a:p>
            <a:pPr marL="12700">
              <a:lnSpc>
                <a:spcPct val="100000"/>
              </a:lnSpc>
              <a:spcBef>
                <a:spcPts val="125"/>
              </a:spcBef>
              <a:tabLst>
                <a:tab pos="899794" algn="l"/>
              </a:tabLst>
            </a:pPr>
            <a:r>
              <a:rPr sz="800" dirty="0">
                <a:solidFill>
                  <a:srgbClr val="AC9976"/>
                </a:solidFill>
                <a:latin typeface="Lucida Sans Unicode"/>
                <a:cs typeface="Lucida Sans Unicode"/>
              </a:rPr>
              <a:t>Section</a:t>
            </a:r>
            <a:r>
              <a:rPr sz="800" spc="120" dirty="0">
                <a:solidFill>
                  <a:srgbClr val="AC9976"/>
                </a:solidFill>
                <a:latin typeface="Lucida Sans Unicode"/>
                <a:cs typeface="Lucida Sans Unicode"/>
              </a:rPr>
              <a:t> </a:t>
            </a:r>
            <a:r>
              <a:rPr sz="800" spc="-20" dirty="0">
                <a:solidFill>
                  <a:srgbClr val="AC9976"/>
                </a:solidFill>
                <a:latin typeface="Lucida Sans Unicode"/>
                <a:cs typeface="Lucida Sans Unicode"/>
              </a:rPr>
              <a:t>Name</a:t>
            </a:r>
            <a:r>
              <a:rPr sz="800" dirty="0">
                <a:solidFill>
                  <a:srgbClr val="AC9976"/>
                </a:solidFill>
                <a:latin typeface="Lucida Sans Unicode"/>
                <a:cs typeface="Lucida Sans Unicode"/>
              </a:rPr>
              <a:t>	</a:t>
            </a:r>
            <a:r>
              <a:rPr sz="800" spc="-125" dirty="0">
                <a:solidFill>
                  <a:srgbClr val="AC9976"/>
                </a:solidFill>
                <a:latin typeface="Lucida Sans Unicode"/>
                <a:cs typeface="Lucida Sans Unicode"/>
              </a:rPr>
              <a:t>16</a:t>
            </a:r>
            <a:endParaRPr sz="800">
              <a:latin typeface="Lucida Sans Unicode"/>
              <a:cs typeface="Lucida Sans Unicode"/>
            </a:endParaRPr>
          </a:p>
        </p:txBody>
      </p:sp>
      <p:sp>
        <p:nvSpPr>
          <p:cNvPr id="6" name="object 6"/>
          <p:cNvSpPr txBox="1"/>
          <p:nvPr/>
        </p:nvSpPr>
        <p:spPr>
          <a:xfrm>
            <a:off x="7125970" y="2808019"/>
            <a:ext cx="4556760" cy="3327449"/>
          </a:xfrm>
          <a:prstGeom prst="rect">
            <a:avLst/>
          </a:prstGeom>
        </p:spPr>
        <p:txBody>
          <a:bodyPr vert="horz" wrap="square" lIns="0" tIns="67945" rIns="0" bIns="0" rtlCol="0">
            <a:spAutoFit/>
          </a:bodyPr>
          <a:lstStyle/>
          <a:p>
            <a:pPr marL="12700">
              <a:lnSpc>
                <a:spcPct val="100000"/>
              </a:lnSpc>
              <a:spcBef>
                <a:spcPts val="535"/>
              </a:spcBef>
            </a:pPr>
            <a:endParaRPr sz="1200" dirty="0">
              <a:latin typeface="Arial Black"/>
              <a:cs typeface="Arial Black"/>
            </a:endParaRPr>
          </a:p>
          <a:p>
            <a:r>
              <a:rPr lang="en-US" sz="1200" dirty="0">
                <a:solidFill>
                  <a:srgbClr val="AC9976"/>
                </a:solidFill>
                <a:latin typeface="Lucida Sans Unicode"/>
                <a:cs typeface="Lucida Sans Unicode"/>
              </a:rPr>
              <a:t>Rooted in Swiss hospitality and enriched by local character, </a:t>
            </a:r>
            <a:r>
              <a:rPr lang="en-US" sz="1200" dirty="0" err="1">
                <a:solidFill>
                  <a:srgbClr val="AC9976"/>
                </a:solidFill>
                <a:latin typeface="Lucida Sans Unicode"/>
                <a:cs typeface="Lucida Sans Unicode"/>
              </a:rPr>
              <a:t>Mövenpick</a:t>
            </a:r>
            <a:r>
              <a:rPr lang="en-US" sz="1200" dirty="0">
                <a:solidFill>
                  <a:srgbClr val="AC9976"/>
                </a:solidFill>
                <a:latin typeface="Lucida Sans Unicode"/>
                <a:cs typeface="Lucida Sans Unicode"/>
              </a:rPr>
              <a:t> Tashkent Old City offers 120 thoughtfully designed rooms and suites across a range of categories, combining contemporary comfort with elegant simplicity.</a:t>
            </a:r>
          </a:p>
          <a:p>
            <a:endParaRPr lang="en-US" sz="1200" dirty="0">
              <a:solidFill>
                <a:srgbClr val="AC9976"/>
              </a:solidFill>
              <a:latin typeface="Lucida Sans Unicode"/>
              <a:cs typeface="Lucida Sans Unicode"/>
            </a:endParaRPr>
          </a:p>
          <a:p>
            <a:r>
              <a:rPr lang="en-US" sz="1200" dirty="0">
                <a:solidFill>
                  <a:srgbClr val="AC9976"/>
                </a:solidFill>
                <a:latin typeface="Lucida Sans Unicode"/>
                <a:cs typeface="Lucida Sans Unicode"/>
              </a:rPr>
              <a:t>The hotel features a signature all-day dining restaurant, where international favorites are complemented by locally inspired </a:t>
            </a:r>
            <a:r>
              <a:rPr lang="en-US" sz="1200" dirty="0" err="1">
                <a:solidFill>
                  <a:srgbClr val="AC9976"/>
                </a:solidFill>
                <a:latin typeface="Lucida Sans Unicode"/>
                <a:cs typeface="Lucida Sans Unicode"/>
              </a:rPr>
              <a:t>flavours</a:t>
            </a:r>
            <a:r>
              <a:rPr lang="en-US" sz="1200" dirty="0">
                <a:solidFill>
                  <a:srgbClr val="AC9976"/>
                </a:solidFill>
                <a:latin typeface="Lucida Sans Unicode"/>
                <a:cs typeface="Lucida Sans Unicode"/>
              </a:rPr>
              <a:t>, prepared with care and quality ingredients.</a:t>
            </a:r>
          </a:p>
          <a:p>
            <a:endParaRPr lang="en-US" sz="1200" dirty="0">
              <a:solidFill>
                <a:srgbClr val="AC9976"/>
              </a:solidFill>
              <a:latin typeface="Lucida Sans Unicode"/>
              <a:cs typeface="Lucida Sans Unicode"/>
            </a:endParaRPr>
          </a:p>
          <a:p>
            <a:r>
              <a:rPr lang="en-US" sz="1200" dirty="0">
                <a:solidFill>
                  <a:srgbClr val="AC9976"/>
                </a:solidFill>
                <a:latin typeface="Lucida Sans Unicode"/>
                <a:cs typeface="Lucida Sans Unicode"/>
              </a:rPr>
              <a:t>For relaxation and wellbeing, guests are invited to the Helvetia</a:t>
            </a:r>
            <a:r>
              <a:rPr lang="ru-RU" sz="1200" dirty="0">
                <a:solidFill>
                  <a:srgbClr val="AC9976"/>
                </a:solidFill>
                <a:latin typeface="Lucida Sans Unicode"/>
                <a:cs typeface="Lucida Sans Unicode"/>
              </a:rPr>
              <a:t> </a:t>
            </a:r>
            <a:r>
              <a:rPr lang="en-US" sz="1200" dirty="0">
                <a:solidFill>
                  <a:srgbClr val="AC9976"/>
                </a:solidFill>
                <a:latin typeface="Lucida Sans Unicode"/>
                <a:cs typeface="Lucida Sans Unicode"/>
              </a:rPr>
              <a:t>SPA &amp; Wellness Centre, offering massage treatment rooms and sauna facilities. A modern fitness center with an indoor swimming pool is also available, providing a balanced experience for both business and leisure travelers.</a:t>
            </a:r>
          </a:p>
          <a:p>
            <a:pPr marL="12700" marR="5080">
              <a:lnSpc>
                <a:spcPct val="130300"/>
              </a:lnSpc>
              <a:spcBef>
                <a:spcPts val="5"/>
              </a:spcBef>
            </a:pPr>
            <a:endParaRPr sz="1200" dirty="0">
              <a:latin typeface="Lucida Sans Unicode"/>
              <a:cs typeface="Lucida Sans Unicode"/>
            </a:endParaRPr>
          </a:p>
          <a:p>
            <a:pPr>
              <a:lnSpc>
                <a:spcPct val="100000"/>
              </a:lnSpc>
              <a:spcBef>
                <a:spcPts val="470"/>
              </a:spcBef>
            </a:pPr>
            <a:endParaRPr sz="1200" dirty="0">
              <a:latin typeface="Lucida Sans Unicode"/>
              <a:cs typeface="Lucida Sans Unicode"/>
            </a:endParaRPr>
          </a:p>
        </p:txBody>
      </p:sp>
      <p:sp>
        <p:nvSpPr>
          <p:cNvPr id="7" name="object 7"/>
          <p:cNvSpPr txBox="1">
            <a:spLocks noGrp="1"/>
          </p:cNvSpPr>
          <p:nvPr>
            <p:ph type="title"/>
          </p:nvPr>
        </p:nvSpPr>
        <p:spPr>
          <a:xfrm>
            <a:off x="7115429" y="2388488"/>
            <a:ext cx="3923029" cy="386003"/>
          </a:xfrm>
          <a:prstGeom prst="rect">
            <a:avLst/>
          </a:prstGeom>
        </p:spPr>
        <p:txBody>
          <a:bodyPr vert="horz" wrap="square" lIns="0" tIns="16510" rIns="0" bIns="0" rtlCol="0">
            <a:spAutoFit/>
          </a:bodyPr>
          <a:lstStyle/>
          <a:p>
            <a:r>
              <a:rPr lang="en-US" sz="2400" spc="-10" dirty="0">
                <a:solidFill>
                  <a:schemeClr val="bg2">
                    <a:lumMod val="50000"/>
                  </a:schemeClr>
                </a:solidFill>
                <a:latin typeface="Tahoma"/>
                <a:cs typeface="Tahoma"/>
              </a:rPr>
              <a:t>Hotel Overview</a:t>
            </a:r>
          </a:p>
        </p:txBody>
      </p:sp>
      <p:pic>
        <p:nvPicPr>
          <p:cNvPr id="8" name="object 8"/>
          <p:cNvPicPr/>
          <p:nvPr/>
        </p:nvPicPr>
        <p:blipFill>
          <a:blip r:embed="rId3" cstate="print"/>
          <a:stretch>
            <a:fillRect/>
          </a:stretch>
        </p:blipFill>
        <p:spPr>
          <a:xfrm>
            <a:off x="114300" y="104772"/>
            <a:ext cx="6000750" cy="6657975"/>
          </a:xfrm>
          <a:prstGeom prst="rect">
            <a:avLst/>
          </a:prstGeom>
        </p:spPr>
      </p:pic>
      <p:pic>
        <p:nvPicPr>
          <p:cNvPr id="10" name="Рисунок 9">
            <a:extLst>
              <a:ext uri="{FF2B5EF4-FFF2-40B4-BE49-F238E27FC236}">
                <a16:creationId xmlns:a16="http://schemas.microsoft.com/office/drawing/2014/main" id="{8E7828EF-A605-37BD-6D23-C3A5EA6E3957}"/>
              </a:ext>
            </a:extLst>
          </p:cNvPr>
          <p:cNvPicPr>
            <a:picLocks noChangeAspect="1"/>
          </p:cNvPicPr>
          <p:nvPr/>
        </p:nvPicPr>
        <p:blipFill>
          <a:blip r:embed="rId4">
            <a:extLst>
              <a:ext uri="{28A0092B-C50C-407E-A947-70E740481C1C}">
                <a14:useLocalDpi xmlns:a14="http://schemas.microsoft.com/office/drawing/2010/main" val="0"/>
              </a:ext>
            </a:extLst>
          </a:blip>
          <a:srcRect t="12874" b="12874"/>
          <a:stretch/>
        </p:blipFill>
        <p:spPr>
          <a:xfrm>
            <a:off x="100013" y="90488"/>
            <a:ext cx="6015037" cy="6667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04772"/>
            <a:ext cx="12134850" cy="6753752"/>
            <a:chOff x="0" y="104772"/>
            <a:chExt cx="12134850" cy="6753752"/>
          </a:xfrm>
        </p:grpSpPr>
        <p:pic>
          <p:nvPicPr>
            <p:cNvPr id="3" name="object 3"/>
            <p:cNvPicPr/>
            <p:nvPr/>
          </p:nvPicPr>
          <p:blipFill>
            <a:blip r:embed="rId2" cstate="print"/>
            <a:stretch>
              <a:fillRect/>
            </a:stretch>
          </p:blipFill>
          <p:spPr>
            <a:xfrm>
              <a:off x="6229350" y="104772"/>
              <a:ext cx="5905500" cy="6648450"/>
            </a:xfrm>
            <a:prstGeom prst="rect">
              <a:avLst/>
            </a:prstGeom>
          </p:spPr>
        </p:pic>
        <p:sp>
          <p:nvSpPr>
            <p:cNvPr id="4" name="object 4"/>
            <p:cNvSpPr/>
            <p:nvPr/>
          </p:nvSpPr>
          <p:spPr>
            <a:xfrm>
              <a:off x="0" y="4514104"/>
              <a:ext cx="6091555" cy="2344420"/>
            </a:xfrm>
            <a:custGeom>
              <a:avLst/>
              <a:gdLst/>
              <a:ahLst/>
              <a:cxnLst/>
              <a:rect l="l" t="t" r="r" b="b"/>
              <a:pathLst>
                <a:path w="6091555" h="2344420">
                  <a:moveTo>
                    <a:pt x="0" y="0"/>
                  </a:moveTo>
                  <a:lnTo>
                    <a:pt x="0" y="1523715"/>
                  </a:lnTo>
                  <a:lnTo>
                    <a:pt x="46050" y="1579599"/>
                  </a:lnTo>
                  <a:lnTo>
                    <a:pt x="84966" y="1603433"/>
                  </a:lnTo>
                  <a:lnTo>
                    <a:pt x="123697" y="1651100"/>
                  </a:lnTo>
                  <a:lnTo>
                    <a:pt x="162244" y="1674934"/>
                  </a:lnTo>
                  <a:lnTo>
                    <a:pt x="200603" y="1722602"/>
                  </a:lnTo>
                  <a:lnTo>
                    <a:pt x="238775" y="1746436"/>
                  </a:lnTo>
                  <a:lnTo>
                    <a:pt x="276759" y="1794104"/>
                  </a:lnTo>
                  <a:lnTo>
                    <a:pt x="352156" y="1841771"/>
                  </a:lnTo>
                  <a:lnTo>
                    <a:pt x="389568" y="1889439"/>
                  </a:lnTo>
                  <a:lnTo>
                    <a:pt x="463811" y="1937107"/>
                  </a:lnTo>
                  <a:lnTo>
                    <a:pt x="500640" y="1984774"/>
                  </a:lnTo>
                  <a:lnTo>
                    <a:pt x="645986" y="2080110"/>
                  </a:lnTo>
                  <a:lnTo>
                    <a:pt x="823151" y="2199279"/>
                  </a:lnTo>
                  <a:lnTo>
                    <a:pt x="961184" y="2294614"/>
                  </a:lnTo>
                  <a:lnTo>
                    <a:pt x="979870" y="2294614"/>
                  </a:lnTo>
                  <a:lnTo>
                    <a:pt x="988570" y="2318448"/>
                  </a:lnTo>
                  <a:lnTo>
                    <a:pt x="997163" y="2318448"/>
                  </a:lnTo>
                  <a:lnTo>
                    <a:pt x="1059066" y="2342282"/>
                  </a:lnTo>
                  <a:lnTo>
                    <a:pt x="1061143" y="2343892"/>
                  </a:lnTo>
                  <a:lnTo>
                    <a:pt x="3418647" y="2343892"/>
                  </a:lnTo>
                  <a:lnTo>
                    <a:pt x="3420824" y="2342282"/>
                  </a:lnTo>
                  <a:lnTo>
                    <a:pt x="3452258" y="2342282"/>
                  </a:lnTo>
                  <a:lnTo>
                    <a:pt x="3482898" y="2318448"/>
                  </a:lnTo>
                  <a:lnTo>
                    <a:pt x="3512739" y="2294614"/>
                  </a:lnTo>
                  <a:lnTo>
                    <a:pt x="3541772" y="2270780"/>
                  </a:lnTo>
                  <a:lnTo>
                    <a:pt x="3569990" y="2246946"/>
                  </a:lnTo>
                  <a:lnTo>
                    <a:pt x="3597386" y="2246946"/>
                  </a:lnTo>
                  <a:lnTo>
                    <a:pt x="3623954" y="2223113"/>
                  </a:lnTo>
                  <a:lnTo>
                    <a:pt x="3649685" y="2199279"/>
                  </a:lnTo>
                  <a:lnTo>
                    <a:pt x="3674572" y="2175445"/>
                  </a:lnTo>
                  <a:lnTo>
                    <a:pt x="3698609" y="2151611"/>
                  </a:lnTo>
                  <a:lnTo>
                    <a:pt x="3721788" y="2151611"/>
                  </a:lnTo>
                  <a:lnTo>
                    <a:pt x="3744102" y="2127777"/>
                  </a:lnTo>
                  <a:lnTo>
                    <a:pt x="3765544" y="2103943"/>
                  </a:lnTo>
                  <a:lnTo>
                    <a:pt x="3786106" y="2080110"/>
                  </a:lnTo>
                  <a:lnTo>
                    <a:pt x="3805781" y="2080110"/>
                  </a:lnTo>
                  <a:lnTo>
                    <a:pt x="3824562" y="2056276"/>
                  </a:lnTo>
                  <a:lnTo>
                    <a:pt x="3842443" y="2032442"/>
                  </a:lnTo>
                  <a:lnTo>
                    <a:pt x="3859415" y="2032442"/>
                  </a:lnTo>
                  <a:lnTo>
                    <a:pt x="3875471" y="2008608"/>
                  </a:lnTo>
                  <a:lnTo>
                    <a:pt x="3890605" y="2008608"/>
                  </a:lnTo>
                  <a:lnTo>
                    <a:pt x="3914575" y="1984774"/>
                  </a:lnTo>
                  <a:lnTo>
                    <a:pt x="3916148" y="1984774"/>
                  </a:lnTo>
                  <a:lnTo>
                    <a:pt x="3932165" y="1960940"/>
                  </a:lnTo>
                  <a:lnTo>
                    <a:pt x="3955668" y="1937107"/>
                  </a:lnTo>
                  <a:lnTo>
                    <a:pt x="3980337" y="1913273"/>
                  </a:lnTo>
                  <a:lnTo>
                    <a:pt x="3337923" y="1913273"/>
                  </a:lnTo>
                  <a:lnTo>
                    <a:pt x="3289971" y="1889439"/>
                  </a:lnTo>
                  <a:lnTo>
                    <a:pt x="3145380" y="1889439"/>
                  </a:lnTo>
                  <a:lnTo>
                    <a:pt x="3096901" y="1865605"/>
                  </a:lnTo>
                  <a:lnTo>
                    <a:pt x="2999459" y="1865605"/>
                  </a:lnTo>
                  <a:lnTo>
                    <a:pt x="2950472" y="1841771"/>
                  </a:lnTo>
                  <a:lnTo>
                    <a:pt x="2901295" y="1841771"/>
                  </a:lnTo>
                  <a:lnTo>
                    <a:pt x="2851916" y="1817937"/>
                  </a:lnTo>
                  <a:lnTo>
                    <a:pt x="2802325" y="1817937"/>
                  </a:lnTo>
                  <a:lnTo>
                    <a:pt x="2702461" y="1770270"/>
                  </a:lnTo>
                  <a:lnTo>
                    <a:pt x="2652168" y="1770270"/>
                  </a:lnTo>
                  <a:lnTo>
                    <a:pt x="2550802" y="1722602"/>
                  </a:lnTo>
                  <a:lnTo>
                    <a:pt x="2499709" y="1722602"/>
                  </a:lnTo>
                  <a:lnTo>
                    <a:pt x="2448328" y="1698768"/>
                  </a:lnTo>
                  <a:lnTo>
                    <a:pt x="2411873" y="1674934"/>
                  </a:lnTo>
                  <a:lnTo>
                    <a:pt x="2375266" y="1674934"/>
                  </a:lnTo>
                  <a:lnTo>
                    <a:pt x="2301580" y="1627267"/>
                  </a:lnTo>
                  <a:lnTo>
                    <a:pt x="2264493" y="1627267"/>
                  </a:lnTo>
                  <a:lnTo>
                    <a:pt x="2152214" y="1555765"/>
                  </a:lnTo>
                  <a:lnTo>
                    <a:pt x="2114435" y="1555765"/>
                  </a:lnTo>
                  <a:lnTo>
                    <a:pt x="1883800" y="1412762"/>
                  </a:lnTo>
                  <a:lnTo>
                    <a:pt x="1844665" y="1412762"/>
                  </a:lnTo>
                  <a:lnTo>
                    <a:pt x="1645784" y="1293593"/>
                  </a:lnTo>
                  <a:lnTo>
                    <a:pt x="1605340" y="1245925"/>
                  </a:lnTo>
                  <a:lnTo>
                    <a:pt x="1399575" y="1126756"/>
                  </a:lnTo>
                  <a:lnTo>
                    <a:pt x="1357686" y="1102922"/>
                  </a:lnTo>
                  <a:lnTo>
                    <a:pt x="1315544" y="1055254"/>
                  </a:lnTo>
                  <a:lnTo>
                    <a:pt x="1187555" y="983753"/>
                  </a:lnTo>
                  <a:lnTo>
                    <a:pt x="1144359" y="936085"/>
                  </a:lnTo>
                  <a:lnTo>
                    <a:pt x="1100890" y="912251"/>
                  </a:lnTo>
                  <a:lnTo>
                    <a:pt x="1057145" y="864584"/>
                  </a:lnTo>
                  <a:lnTo>
                    <a:pt x="968810" y="816916"/>
                  </a:lnTo>
                  <a:lnTo>
                    <a:pt x="924212" y="769248"/>
                  </a:lnTo>
                  <a:lnTo>
                    <a:pt x="879323" y="745415"/>
                  </a:lnTo>
                  <a:lnTo>
                    <a:pt x="834139" y="697747"/>
                  </a:lnTo>
                  <a:lnTo>
                    <a:pt x="788655" y="673913"/>
                  </a:lnTo>
                  <a:lnTo>
                    <a:pt x="696776" y="578578"/>
                  </a:lnTo>
                  <a:lnTo>
                    <a:pt x="650373" y="554744"/>
                  </a:lnTo>
                  <a:lnTo>
                    <a:pt x="556620" y="459408"/>
                  </a:lnTo>
                  <a:lnTo>
                    <a:pt x="509263" y="435575"/>
                  </a:lnTo>
                  <a:lnTo>
                    <a:pt x="413568" y="340239"/>
                  </a:lnTo>
                  <a:lnTo>
                    <a:pt x="365223" y="292572"/>
                  </a:lnTo>
                  <a:lnTo>
                    <a:pt x="316542" y="268738"/>
                  </a:lnTo>
                  <a:lnTo>
                    <a:pt x="164795" y="125735"/>
                  </a:lnTo>
                  <a:lnTo>
                    <a:pt x="114373" y="101901"/>
                  </a:lnTo>
                  <a:lnTo>
                    <a:pt x="13809" y="6565"/>
                  </a:lnTo>
                  <a:lnTo>
                    <a:pt x="0" y="0"/>
                  </a:lnTo>
                  <a:close/>
                </a:path>
                <a:path w="6091555" h="2344420">
                  <a:moveTo>
                    <a:pt x="3999852" y="1889439"/>
                  </a:moveTo>
                  <a:lnTo>
                    <a:pt x="3908282" y="1889439"/>
                  </a:lnTo>
                  <a:lnTo>
                    <a:pt x="3860871" y="1913273"/>
                  </a:lnTo>
                  <a:lnTo>
                    <a:pt x="3980337" y="1913273"/>
                  </a:lnTo>
                  <a:lnTo>
                    <a:pt x="3999852" y="1889439"/>
                  </a:lnTo>
                  <a:close/>
                </a:path>
                <a:path w="6091555" h="2344420">
                  <a:moveTo>
                    <a:pt x="5575743" y="554744"/>
                  </a:moveTo>
                  <a:lnTo>
                    <a:pt x="4388256" y="554744"/>
                  </a:lnTo>
                  <a:lnTo>
                    <a:pt x="4191576" y="650079"/>
                  </a:lnTo>
                  <a:lnTo>
                    <a:pt x="4141182" y="650079"/>
                  </a:lnTo>
                  <a:lnTo>
                    <a:pt x="3934839" y="745415"/>
                  </a:lnTo>
                  <a:lnTo>
                    <a:pt x="3882082" y="793082"/>
                  </a:lnTo>
                  <a:lnTo>
                    <a:pt x="3666503" y="888418"/>
                  </a:lnTo>
                  <a:lnTo>
                    <a:pt x="3611491" y="936085"/>
                  </a:lnTo>
                  <a:lnTo>
                    <a:pt x="3556040" y="959919"/>
                  </a:lnTo>
                  <a:lnTo>
                    <a:pt x="3500156" y="1007587"/>
                  </a:lnTo>
                  <a:lnTo>
                    <a:pt x="3443842" y="1031421"/>
                  </a:lnTo>
                  <a:lnTo>
                    <a:pt x="3387102" y="1079088"/>
                  </a:lnTo>
                  <a:lnTo>
                    <a:pt x="3329941" y="1102922"/>
                  </a:lnTo>
                  <a:lnTo>
                    <a:pt x="3272364" y="1150590"/>
                  </a:lnTo>
                  <a:lnTo>
                    <a:pt x="3220139" y="1174424"/>
                  </a:lnTo>
                  <a:lnTo>
                    <a:pt x="3170706" y="1222091"/>
                  </a:lnTo>
                  <a:lnTo>
                    <a:pt x="3123816" y="1245925"/>
                  </a:lnTo>
                  <a:lnTo>
                    <a:pt x="3079222" y="1269759"/>
                  </a:lnTo>
                  <a:lnTo>
                    <a:pt x="3036678" y="1293593"/>
                  </a:lnTo>
                  <a:lnTo>
                    <a:pt x="2956750" y="1365094"/>
                  </a:lnTo>
                  <a:lnTo>
                    <a:pt x="2918872" y="1388928"/>
                  </a:lnTo>
                  <a:lnTo>
                    <a:pt x="2882056" y="1412762"/>
                  </a:lnTo>
                  <a:lnTo>
                    <a:pt x="2846053" y="1436596"/>
                  </a:lnTo>
                  <a:lnTo>
                    <a:pt x="2810618" y="1460430"/>
                  </a:lnTo>
                  <a:lnTo>
                    <a:pt x="2807283" y="1460430"/>
                  </a:lnTo>
                  <a:lnTo>
                    <a:pt x="2838272" y="1484264"/>
                  </a:lnTo>
                  <a:lnTo>
                    <a:pt x="2871144" y="1508097"/>
                  </a:lnTo>
                  <a:lnTo>
                    <a:pt x="2905817" y="1531931"/>
                  </a:lnTo>
                  <a:lnTo>
                    <a:pt x="2942208" y="1555765"/>
                  </a:lnTo>
                  <a:lnTo>
                    <a:pt x="2980234" y="1579599"/>
                  </a:lnTo>
                  <a:lnTo>
                    <a:pt x="3019812" y="1603433"/>
                  </a:lnTo>
                  <a:lnTo>
                    <a:pt x="3060859" y="1603433"/>
                  </a:lnTo>
                  <a:lnTo>
                    <a:pt x="3103292" y="1627267"/>
                  </a:lnTo>
                  <a:lnTo>
                    <a:pt x="3147028" y="1651100"/>
                  </a:lnTo>
                  <a:lnTo>
                    <a:pt x="3191985" y="1674934"/>
                  </a:lnTo>
                  <a:lnTo>
                    <a:pt x="3238078" y="1698768"/>
                  </a:lnTo>
                  <a:lnTo>
                    <a:pt x="3285226" y="1722602"/>
                  </a:lnTo>
                  <a:lnTo>
                    <a:pt x="3333346" y="1746436"/>
                  </a:lnTo>
                  <a:lnTo>
                    <a:pt x="3382354" y="1746436"/>
                  </a:lnTo>
                  <a:lnTo>
                    <a:pt x="3482704" y="1794104"/>
                  </a:lnTo>
                  <a:lnTo>
                    <a:pt x="3533881" y="1794104"/>
                  </a:lnTo>
                  <a:lnTo>
                    <a:pt x="3585614" y="1817937"/>
                  </a:lnTo>
                  <a:lnTo>
                    <a:pt x="3637821" y="1817937"/>
                  </a:lnTo>
                  <a:lnTo>
                    <a:pt x="3690419" y="1841771"/>
                  </a:lnTo>
                  <a:lnTo>
                    <a:pt x="3743325" y="1841771"/>
                  </a:lnTo>
                  <a:lnTo>
                    <a:pt x="3796456" y="1865605"/>
                  </a:lnTo>
                  <a:lnTo>
                    <a:pt x="4009574" y="1865605"/>
                  </a:lnTo>
                  <a:lnTo>
                    <a:pt x="4051786" y="1841771"/>
                  </a:lnTo>
                  <a:lnTo>
                    <a:pt x="4090347" y="1794104"/>
                  </a:lnTo>
                  <a:lnTo>
                    <a:pt x="4126012" y="1746436"/>
                  </a:lnTo>
                  <a:lnTo>
                    <a:pt x="4159539" y="1722602"/>
                  </a:lnTo>
                  <a:lnTo>
                    <a:pt x="4191684" y="1674934"/>
                  </a:lnTo>
                  <a:lnTo>
                    <a:pt x="4223203" y="1651100"/>
                  </a:lnTo>
                  <a:lnTo>
                    <a:pt x="4254851" y="1603433"/>
                  </a:lnTo>
                  <a:lnTo>
                    <a:pt x="4287386" y="1579599"/>
                  </a:lnTo>
                  <a:lnTo>
                    <a:pt x="4321564" y="1531931"/>
                  </a:lnTo>
                  <a:lnTo>
                    <a:pt x="4358140" y="1484264"/>
                  </a:lnTo>
                  <a:lnTo>
                    <a:pt x="4422009" y="1412762"/>
                  </a:lnTo>
                  <a:lnTo>
                    <a:pt x="4484695" y="1365094"/>
                  </a:lnTo>
                  <a:lnTo>
                    <a:pt x="4546202" y="1293593"/>
                  </a:lnTo>
                  <a:lnTo>
                    <a:pt x="4606537" y="1222091"/>
                  </a:lnTo>
                  <a:lnTo>
                    <a:pt x="4665704" y="1174424"/>
                  </a:lnTo>
                  <a:lnTo>
                    <a:pt x="4723711" y="1126756"/>
                  </a:lnTo>
                  <a:lnTo>
                    <a:pt x="4780562" y="1079088"/>
                  </a:lnTo>
                  <a:lnTo>
                    <a:pt x="4836264" y="1031421"/>
                  </a:lnTo>
                  <a:lnTo>
                    <a:pt x="4890821" y="983753"/>
                  </a:lnTo>
                  <a:lnTo>
                    <a:pt x="4944240" y="936085"/>
                  </a:lnTo>
                  <a:lnTo>
                    <a:pt x="4996525" y="888418"/>
                  </a:lnTo>
                  <a:lnTo>
                    <a:pt x="5047684" y="864584"/>
                  </a:lnTo>
                  <a:lnTo>
                    <a:pt x="5097722" y="816916"/>
                  </a:lnTo>
                  <a:lnTo>
                    <a:pt x="5146643" y="793082"/>
                  </a:lnTo>
                  <a:lnTo>
                    <a:pt x="5194455" y="745415"/>
                  </a:lnTo>
                  <a:lnTo>
                    <a:pt x="5241162" y="721581"/>
                  </a:lnTo>
                  <a:lnTo>
                    <a:pt x="5286771" y="697747"/>
                  </a:lnTo>
                  <a:lnTo>
                    <a:pt x="5331286" y="673913"/>
                  </a:lnTo>
                  <a:lnTo>
                    <a:pt x="5374714" y="650079"/>
                  </a:lnTo>
                  <a:lnTo>
                    <a:pt x="5417061" y="626245"/>
                  </a:lnTo>
                  <a:lnTo>
                    <a:pt x="5458331" y="602411"/>
                  </a:lnTo>
                  <a:lnTo>
                    <a:pt x="5498531" y="602411"/>
                  </a:lnTo>
                  <a:lnTo>
                    <a:pt x="5537667" y="578578"/>
                  </a:lnTo>
                  <a:lnTo>
                    <a:pt x="5575743" y="554744"/>
                  </a:lnTo>
                  <a:close/>
                </a:path>
                <a:path w="6091555" h="2344420">
                  <a:moveTo>
                    <a:pt x="5717573" y="507076"/>
                  </a:moveTo>
                  <a:lnTo>
                    <a:pt x="4530506" y="507076"/>
                  </a:lnTo>
                  <a:lnTo>
                    <a:pt x="4436181" y="554744"/>
                  </a:lnTo>
                  <a:lnTo>
                    <a:pt x="5612766" y="554744"/>
                  </a:lnTo>
                  <a:lnTo>
                    <a:pt x="5648742" y="530910"/>
                  </a:lnTo>
                  <a:lnTo>
                    <a:pt x="5683676" y="530910"/>
                  </a:lnTo>
                  <a:lnTo>
                    <a:pt x="5717573" y="507076"/>
                  </a:lnTo>
                  <a:close/>
                </a:path>
                <a:path w="6091555" h="2344420">
                  <a:moveTo>
                    <a:pt x="6045579" y="459408"/>
                  </a:moveTo>
                  <a:lnTo>
                    <a:pt x="4668119" y="459408"/>
                  </a:lnTo>
                  <a:lnTo>
                    <a:pt x="4576898" y="507076"/>
                  </a:lnTo>
                  <a:lnTo>
                    <a:pt x="5813104" y="507076"/>
                  </a:lnTo>
                  <a:lnTo>
                    <a:pt x="5842913" y="483242"/>
                  </a:lnTo>
                  <a:lnTo>
                    <a:pt x="6023674" y="483242"/>
                  </a:lnTo>
                  <a:lnTo>
                    <a:pt x="6045579" y="459408"/>
                  </a:lnTo>
                  <a:close/>
                </a:path>
                <a:path w="6091555" h="2344420">
                  <a:moveTo>
                    <a:pt x="6017407" y="411741"/>
                  </a:moveTo>
                  <a:lnTo>
                    <a:pt x="4844190" y="411741"/>
                  </a:lnTo>
                  <a:lnTo>
                    <a:pt x="4800979" y="435575"/>
                  </a:lnTo>
                  <a:lnTo>
                    <a:pt x="4757227" y="435575"/>
                  </a:lnTo>
                  <a:lnTo>
                    <a:pt x="4712939" y="459408"/>
                  </a:lnTo>
                  <a:lnTo>
                    <a:pt x="6091007" y="459408"/>
                  </a:lnTo>
                  <a:lnTo>
                    <a:pt x="6055588" y="435575"/>
                  </a:lnTo>
                  <a:lnTo>
                    <a:pt x="6017407" y="411741"/>
                  </a:lnTo>
                  <a:close/>
                </a:path>
                <a:path w="6091555" h="2344420">
                  <a:moveTo>
                    <a:pt x="5932892" y="387907"/>
                  </a:moveTo>
                  <a:lnTo>
                    <a:pt x="4970535" y="387907"/>
                  </a:lnTo>
                  <a:lnTo>
                    <a:pt x="4928972" y="411741"/>
                  </a:lnTo>
                  <a:lnTo>
                    <a:pt x="5976497" y="411741"/>
                  </a:lnTo>
                  <a:lnTo>
                    <a:pt x="5932892" y="387907"/>
                  </a:lnTo>
                  <a:close/>
                </a:path>
                <a:path w="6091555" h="2344420">
                  <a:moveTo>
                    <a:pt x="5837725" y="364073"/>
                  </a:moveTo>
                  <a:lnTo>
                    <a:pt x="5091858" y="364073"/>
                  </a:lnTo>
                  <a:lnTo>
                    <a:pt x="5051982" y="387907"/>
                  </a:lnTo>
                  <a:lnTo>
                    <a:pt x="5886623" y="387907"/>
                  </a:lnTo>
                  <a:lnTo>
                    <a:pt x="5837725" y="364073"/>
                  </a:lnTo>
                  <a:close/>
                </a:path>
                <a:path w="6091555" h="2344420">
                  <a:moveTo>
                    <a:pt x="5616484" y="340239"/>
                  </a:moveTo>
                  <a:lnTo>
                    <a:pt x="5318979" y="340239"/>
                  </a:lnTo>
                  <a:lnTo>
                    <a:pt x="5282591" y="364073"/>
                  </a:lnTo>
                  <a:lnTo>
                    <a:pt x="5675576" y="364073"/>
                  </a:lnTo>
                  <a:lnTo>
                    <a:pt x="5616484" y="340239"/>
                  </a:lnTo>
                  <a:close/>
                </a:path>
              </a:pathLst>
            </a:custGeom>
            <a:solidFill>
              <a:srgbClr val="DED5C7"/>
            </a:solidFill>
          </p:spPr>
          <p:txBody>
            <a:bodyPr wrap="square" lIns="0" tIns="0" rIns="0" bIns="0" rtlCol="0"/>
            <a:lstStyle/>
            <a:p>
              <a:endParaRPr/>
            </a:p>
          </p:txBody>
        </p:sp>
        <p:sp>
          <p:nvSpPr>
            <p:cNvPr id="5" name="object 5"/>
            <p:cNvSpPr/>
            <p:nvPr/>
          </p:nvSpPr>
          <p:spPr>
            <a:xfrm>
              <a:off x="11120500" y="309625"/>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grpSp>
      <p:sp>
        <p:nvSpPr>
          <p:cNvPr id="6" name="object 6"/>
          <p:cNvSpPr txBox="1"/>
          <p:nvPr/>
        </p:nvSpPr>
        <p:spPr>
          <a:xfrm>
            <a:off x="11207115" y="295021"/>
            <a:ext cx="92075" cy="151130"/>
          </a:xfrm>
          <a:prstGeom prst="rect">
            <a:avLst/>
          </a:prstGeom>
        </p:spPr>
        <p:txBody>
          <a:bodyPr vert="horz" wrap="square" lIns="0" tIns="15875" rIns="0" bIns="0" rtlCol="0">
            <a:spAutoFit/>
          </a:bodyPr>
          <a:lstStyle/>
          <a:p>
            <a:pPr marL="12700">
              <a:lnSpc>
                <a:spcPct val="100000"/>
              </a:lnSpc>
              <a:spcBef>
                <a:spcPts val="125"/>
              </a:spcBef>
            </a:pPr>
            <a:r>
              <a:rPr sz="800" spc="-50" dirty="0">
                <a:solidFill>
                  <a:srgbClr val="FFFFFF"/>
                </a:solidFill>
                <a:latin typeface="Lucida Sans Unicode"/>
                <a:cs typeface="Lucida Sans Unicode"/>
              </a:rPr>
              <a:t>8</a:t>
            </a:r>
            <a:endParaRPr sz="800">
              <a:latin typeface="Lucida Sans Unicode"/>
              <a:cs typeface="Lucida Sans Unicode"/>
            </a:endParaRPr>
          </a:p>
        </p:txBody>
      </p:sp>
      <p:grpSp>
        <p:nvGrpSpPr>
          <p:cNvPr id="7" name="object 7"/>
          <p:cNvGrpSpPr/>
          <p:nvPr/>
        </p:nvGrpSpPr>
        <p:grpSpPr>
          <a:xfrm>
            <a:off x="106362" y="0"/>
            <a:ext cx="12085955" cy="6858000"/>
            <a:chOff x="106362" y="0"/>
            <a:chExt cx="12085955" cy="6858000"/>
          </a:xfrm>
        </p:grpSpPr>
        <p:sp>
          <p:nvSpPr>
            <p:cNvPr id="8" name="object 8"/>
            <p:cNvSpPr/>
            <p:nvPr/>
          </p:nvSpPr>
          <p:spPr>
            <a:xfrm>
              <a:off x="12087225" y="0"/>
              <a:ext cx="104775" cy="6858000"/>
            </a:xfrm>
            <a:custGeom>
              <a:avLst/>
              <a:gdLst/>
              <a:ahLst/>
              <a:cxnLst/>
              <a:rect l="l" t="t" r="r" b="b"/>
              <a:pathLst>
                <a:path w="104775" h="6858000">
                  <a:moveTo>
                    <a:pt x="104775" y="0"/>
                  </a:moveTo>
                  <a:lnTo>
                    <a:pt x="0" y="0"/>
                  </a:lnTo>
                  <a:lnTo>
                    <a:pt x="0" y="6858000"/>
                  </a:lnTo>
                  <a:lnTo>
                    <a:pt x="104775" y="6858000"/>
                  </a:lnTo>
                  <a:lnTo>
                    <a:pt x="104775" y="0"/>
                  </a:lnTo>
                  <a:close/>
                </a:path>
              </a:pathLst>
            </a:custGeom>
            <a:solidFill>
              <a:srgbClr val="EDEBE3"/>
            </a:solidFill>
          </p:spPr>
          <p:txBody>
            <a:bodyPr wrap="square" lIns="0" tIns="0" rIns="0" bIns="0" rtlCol="0"/>
            <a:lstStyle/>
            <a:p>
              <a:endParaRPr/>
            </a:p>
          </p:txBody>
        </p:sp>
        <p:sp>
          <p:nvSpPr>
            <p:cNvPr id="9" name="object 9"/>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10" name="object 10"/>
          <p:cNvSpPr txBox="1"/>
          <p:nvPr/>
        </p:nvSpPr>
        <p:spPr>
          <a:xfrm>
            <a:off x="1036002" y="3304032"/>
            <a:ext cx="3366770" cy="484107"/>
          </a:xfrm>
          <a:prstGeom prst="rect">
            <a:avLst/>
          </a:prstGeom>
        </p:spPr>
        <p:txBody>
          <a:bodyPr vert="horz" wrap="square" lIns="0" tIns="60325" rIns="0" bIns="0" rtlCol="0">
            <a:spAutoFit/>
          </a:bodyPr>
          <a:lstStyle/>
          <a:p>
            <a:pPr marL="12700">
              <a:lnSpc>
                <a:spcPct val="100000"/>
              </a:lnSpc>
              <a:spcBef>
                <a:spcPts val="475"/>
              </a:spcBef>
            </a:pPr>
            <a:r>
              <a:rPr lang="en-US" sz="2750" spc="60" dirty="0">
                <a:solidFill>
                  <a:srgbClr val="AC9976"/>
                </a:solidFill>
                <a:latin typeface="Lucida Sans Unicode"/>
                <a:cs typeface="Lucida Sans Unicode"/>
              </a:rPr>
              <a:t>Rooms</a:t>
            </a:r>
            <a:endParaRPr sz="2750" dirty="0">
              <a:latin typeface="Lucida Sans Unicode"/>
              <a:cs typeface="Lucida Sans Unicode"/>
            </a:endParaRPr>
          </a:p>
        </p:txBody>
      </p:sp>
      <p:sp>
        <p:nvSpPr>
          <p:cNvPr id="11" name="object 11"/>
          <p:cNvSpPr txBox="1"/>
          <p:nvPr/>
        </p:nvSpPr>
        <p:spPr>
          <a:xfrm>
            <a:off x="1047750" y="2705100"/>
            <a:ext cx="438150" cy="428625"/>
          </a:xfrm>
          <a:prstGeom prst="rect">
            <a:avLst/>
          </a:prstGeom>
          <a:solidFill>
            <a:srgbClr val="AC9976"/>
          </a:solidFill>
        </p:spPr>
        <p:txBody>
          <a:bodyPr vert="horz" wrap="square" lIns="0" tIns="136525" rIns="0" bIns="0" rtlCol="0">
            <a:spAutoFit/>
          </a:bodyPr>
          <a:lstStyle/>
          <a:p>
            <a:pPr marL="114300">
              <a:lnSpc>
                <a:spcPct val="100000"/>
              </a:lnSpc>
              <a:spcBef>
                <a:spcPts val="1075"/>
              </a:spcBef>
            </a:pPr>
            <a:r>
              <a:rPr sz="1200" spc="-25" dirty="0">
                <a:solidFill>
                  <a:srgbClr val="FFFFFF"/>
                </a:solidFill>
                <a:latin typeface="Lucida Sans Unicode"/>
                <a:cs typeface="Lucida Sans Unicode"/>
              </a:rPr>
              <a:t>02</a:t>
            </a:r>
            <a:endParaRPr sz="1200">
              <a:latin typeface="Lucida Sans Unicode"/>
              <a:cs typeface="Lucida Sans Unicode"/>
            </a:endParaRPr>
          </a:p>
        </p:txBody>
      </p:sp>
      <p:grpSp>
        <p:nvGrpSpPr>
          <p:cNvPr id="12" name="object 12"/>
          <p:cNvGrpSpPr/>
          <p:nvPr/>
        </p:nvGrpSpPr>
        <p:grpSpPr>
          <a:xfrm>
            <a:off x="11507372" y="286715"/>
            <a:ext cx="407034" cy="158115"/>
            <a:chOff x="11507372" y="286715"/>
            <a:chExt cx="407034" cy="158115"/>
          </a:xfrm>
        </p:grpSpPr>
        <p:pic>
          <p:nvPicPr>
            <p:cNvPr id="13" name="object 13"/>
            <p:cNvPicPr/>
            <p:nvPr/>
          </p:nvPicPr>
          <p:blipFill>
            <a:blip r:embed="rId3" cstate="print"/>
            <a:stretch>
              <a:fillRect/>
            </a:stretch>
          </p:blipFill>
          <p:spPr>
            <a:xfrm>
              <a:off x="11766807" y="339886"/>
              <a:ext cx="147284" cy="68676"/>
            </a:xfrm>
            <a:prstGeom prst="rect">
              <a:avLst/>
            </a:prstGeom>
          </p:spPr>
        </p:pic>
        <p:sp>
          <p:nvSpPr>
            <p:cNvPr id="14" name="object 14"/>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FFFFFF"/>
            </a:solidFill>
          </p:spPr>
          <p:txBody>
            <a:bodyPr wrap="square" lIns="0" tIns="0" rIns="0" bIns="0" rtlCol="0"/>
            <a:lstStyle/>
            <a:p>
              <a:endParaRPr/>
            </a:p>
          </p:txBody>
        </p:sp>
      </p:grpSp>
      <p:pic>
        <p:nvPicPr>
          <p:cNvPr id="16" name="Рисунок 15" descr="Изображение выглядит как стена, в помещении, кровать, дизайн интерьера&#10;&#10;Автоматически созданное описание">
            <a:extLst>
              <a:ext uri="{FF2B5EF4-FFF2-40B4-BE49-F238E27FC236}">
                <a16:creationId xmlns:a16="http://schemas.microsoft.com/office/drawing/2014/main" id="{B3500866-73F7-1748-06E1-3F2AE893AE7B}"/>
              </a:ext>
            </a:extLst>
          </p:cNvPr>
          <p:cNvPicPr>
            <a:picLocks noChangeAspect="1"/>
          </p:cNvPicPr>
          <p:nvPr/>
        </p:nvPicPr>
        <p:blipFill>
          <a:blip r:embed="rId4" cstate="print">
            <a:extLst>
              <a:ext uri="{28A0092B-C50C-407E-A947-70E740481C1C}">
                <a14:useLocalDpi xmlns:a14="http://schemas.microsoft.com/office/drawing/2010/main" val="0"/>
              </a:ext>
            </a:extLst>
          </a:blip>
          <a:srcRect l="40186" r="2715" b="396"/>
          <a:stretch/>
        </p:blipFill>
        <p:spPr>
          <a:xfrm>
            <a:off x="6235700" y="100393"/>
            <a:ext cx="5847312" cy="66514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6362" y="106362"/>
            <a:ext cx="11988800" cy="6654800"/>
            <a:chOff x="106362" y="106362"/>
            <a:chExt cx="11988800" cy="6654800"/>
          </a:xfrm>
        </p:grpSpPr>
        <p:pic>
          <p:nvPicPr>
            <p:cNvPr id="3" name="object 3"/>
            <p:cNvPicPr/>
            <p:nvPr/>
          </p:nvPicPr>
          <p:blipFill>
            <a:blip r:embed="rId2" cstate="print"/>
            <a:stretch>
              <a:fillRect/>
            </a:stretch>
          </p:blipFill>
          <p:spPr>
            <a:xfrm>
              <a:off x="5457825" y="190500"/>
              <a:ext cx="1276350" cy="6477000"/>
            </a:xfrm>
            <a:prstGeom prst="rect">
              <a:avLst/>
            </a:prstGeom>
          </p:spPr>
        </p:pic>
        <p:sp>
          <p:nvSpPr>
            <p:cNvPr id="4" name="object 4"/>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5" name="object 5"/>
          <p:cNvSpPr txBox="1"/>
          <p:nvPr/>
        </p:nvSpPr>
        <p:spPr>
          <a:xfrm>
            <a:off x="10319384" y="295021"/>
            <a:ext cx="1003300" cy="151130"/>
          </a:xfrm>
          <a:prstGeom prst="rect">
            <a:avLst/>
          </a:prstGeom>
        </p:spPr>
        <p:txBody>
          <a:bodyPr vert="horz" wrap="square" lIns="0" tIns="15875" rIns="0" bIns="0" rtlCol="0">
            <a:spAutoFit/>
          </a:bodyPr>
          <a:lstStyle/>
          <a:p>
            <a:pPr marL="12700">
              <a:lnSpc>
                <a:spcPct val="100000"/>
              </a:lnSpc>
              <a:spcBef>
                <a:spcPts val="125"/>
              </a:spcBef>
              <a:tabLst>
                <a:tab pos="899794" algn="l"/>
              </a:tabLst>
            </a:pPr>
            <a:r>
              <a:rPr sz="800" dirty="0">
                <a:solidFill>
                  <a:srgbClr val="AC9976"/>
                </a:solidFill>
                <a:latin typeface="Lucida Sans Unicode"/>
                <a:cs typeface="Lucida Sans Unicode"/>
              </a:rPr>
              <a:t>Section</a:t>
            </a:r>
            <a:r>
              <a:rPr sz="800" spc="120" dirty="0">
                <a:solidFill>
                  <a:srgbClr val="AC9976"/>
                </a:solidFill>
                <a:latin typeface="Lucida Sans Unicode"/>
                <a:cs typeface="Lucida Sans Unicode"/>
              </a:rPr>
              <a:t> </a:t>
            </a:r>
            <a:r>
              <a:rPr sz="800" spc="-20" dirty="0">
                <a:solidFill>
                  <a:srgbClr val="AC9976"/>
                </a:solidFill>
                <a:latin typeface="Lucida Sans Unicode"/>
                <a:cs typeface="Lucida Sans Unicode"/>
              </a:rPr>
              <a:t>Name</a:t>
            </a:r>
            <a:r>
              <a:rPr sz="800" dirty="0">
                <a:solidFill>
                  <a:srgbClr val="AC9976"/>
                </a:solidFill>
                <a:latin typeface="Lucida Sans Unicode"/>
                <a:cs typeface="Lucida Sans Unicode"/>
              </a:rPr>
              <a:t>	</a:t>
            </a:r>
            <a:r>
              <a:rPr sz="800" spc="-125" dirty="0">
                <a:solidFill>
                  <a:srgbClr val="AC9976"/>
                </a:solidFill>
                <a:latin typeface="Lucida Sans Unicode"/>
                <a:cs typeface="Lucida Sans Unicode"/>
              </a:rPr>
              <a:t>18</a:t>
            </a:r>
            <a:endParaRPr sz="800">
              <a:latin typeface="Lucida Sans Unicode"/>
              <a:cs typeface="Lucida Sans Unicode"/>
            </a:endParaRPr>
          </a:p>
        </p:txBody>
      </p:sp>
      <p:sp>
        <p:nvSpPr>
          <p:cNvPr id="6" name="object 6"/>
          <p:cNvSpPr txBox="1"/>
          <p:nvPr/>
        </p:nvSpPr>
        <p:spPr>
          <a:xfrm>
            <a:off x="6879812" y="1482828"/>
            <a:ext cx="5007388" cy="5557804"/>
          </a:xfrm>
          <a:prstGeom prst="rect">
            <a:avLst/>
          </a:prstGeom>
        </p:spPr>
        <p:txBody>
          <a:bodyPr vert="horz" wrap="square" lIns="0" tIns="67945" rIns="0" bIns="0" rtlCol="0">
            <a:spAutoFit/>
          </a:bodyPr>
          <a:lstStyle/>
          <a:p>
            <a:r>
              <a:rPr lang="en-US" sz="1200" b="1" dirty="0">
                <a:solidFill>
                  <a:srgbClr val="AC9976"/>
                </a:solidFill>
                <a:latin typeface="Lucida Sans Unicode"/>
                <a:cs typeface="Lucida Sans Unicode"/>
              </a:rPr>
              <a:t>120 stylish rooms and suites.</a:t>
            </a:r>
          </a:p>
          <a:p>
            <a:endParaRPr lang="en-US" sz="1200" dirty="0">
              <a:solidFill>
                <a:srgbClr val="AC9976"/>
              </a:solidFill>
              <a:latin typeface="Lucida Sans Unicode"/>
              <a:cs typeface="Lucida Sans Unicode"/>
            </a:endParaRPr>
          </a:p>
          <a:p>
            <a:r>
              <a:rPr lang="en-US" sz="1200" dirty="0">
                <a:solidFill>
                  <a:srgbClr val="AC9976"/>
                </a:solidFill>
                <a:latin typeface="Lucida Sans Unicode"/>
                <a:cs typeface="Lucida Sans Unicode"/>
              </a:rPr>
              <a:t>Each room at </a:t>
            </a:r>
            <a:r>
              <a:rPr lang="en-US" sz="1200" dirty="0" err="1">
                <a:solidFill>
                  <a:srgbClr val="AC9976"/>
                </a:solidFill>
                <a:latin typeface="Lucida Sans Unicode"/>
                <a:cs typeface="Lucida Sans Unicode"/>
              </a:rPr>
              <a:t>Mövenpick</a:t>
            </a:r>
            <a:r>
              <a:rPr lang="en-US" sz="1200" dirty="0">
                <a:solidFill>
                  <a:srgbClr val="AC9976"/>
                </a:solidFill>
                <a:latin typeface="Lucida Sans Unicode"/>
                <a:cs typeface="Lucida Sans Unicode"/>
              </a:rPr>
              <a:t> Tashkent Old City is thoughtfully designed to elevate every moment of your stay and includes:</a:t>
            </a:r>
            <a:endParaRPr lang="ru-RU" sz="1200" dirty="0">
              <a:solidFill>
                <a:srgbClr val="AC9976"/>
              </a:solidFill>
              <a:latin typeface="Lucida Sans Unicode"/>
              <a:cs typeface="Lucida Sans Unicode"/>
            </a:endParaRPr>
          </a:p>
          <a:p>
            <a:endParaRPr lang="en-US" sz="1200" dirty="0">
              <a:solidFill>
                <a:srgbClr val="AC9976"/>
              </a:solidFill>
              <a:latin typeface="Lucida Sans Unicode"/>
              <a:cs typeface="Lucida Sans Unicode"/>
            </a:endParaRPr>
          </a:p>
          <a:p>
            <a:pPr marL="171450" indent="-171450">
              <a:lnSpc>
                <a:spcPct val="150000"/>
              </a:lnSpc>
              <a:buFont typeface="Arial" panose="020B0604020202020204" pitchFamily="34" charset="0"/>
              <a:buChar char="•"/>
            </a:pPr>
            <a:r>
              <a:rPr lang="en-US" sz="1200" dirty="0">
                <a:solidFill>
                  <a:srgbClr val="AC9976"/>
                </a:solidFill>
                <a:latin typeface="Lucida Sans Unicode"/>
                <a:cs typeface="Lucida Sans Unicode"/>
              </a:rPr>
              <a:t>high-speed complimentary Wi-Fi</a:t>
            </a:r>
          </a:p>
          <a:p>
            <a:pPr marL="171450" indent="-171450">
              <a:lnSpc>
                <a:spcPct val="150000"/>
              </a:lnSpc>
              <a:buFont typeface="Arial" panose="020B0604020202020204" pitchFamily="34" charset="0"/>
              <a:buChar char="•"/>
            </a:pPr>
            <a:r>
              <a:rPr lang="en-US" sz="1200" dirty="0">
                <a:solidFill>
                  <a:srgbClr val="AC9976"/>
                </a:solidFill>
                <a:latin typeface="Lucida Sans Unicode"/>
                <a:cs typeface="Lucida Sans Unicode"/>
              </a:rPr>
              <a:t>capsule coffee machine with signature </a:t>
            </a:r>
            <a:r>
              <a:rPr lang="en-US" sz="1200" dirty="0" err="1">
                <a:solidFill>
                  <a:srgbClr val="AC9976"/>
                </a:solidFill>
                <a:latin typeface="Lucida Sans Unicode"/>
                <a:cs typeface="Lucida Sans Unicode"/>
              </a:rPr>
              <a:t>Mövenpick</a:t>
            </a:r>
            <a:r>
              <a:rPr lang="en-US" sz="1200" dirty="0">
                <a:solidFill>
                  <a:srgbClr val="AC9976"/>
                </a:solidFill>
                <a:latin typeface="Lucida Sans Unicode"/>
                <a:cs typeface="Lucida Sans Unicode"/>
              </a:rPr>
              <a:t> coffee, complemented by a refined tea selection</a:t>
            </a:r>
          </a:p>
          <a:p>
            <a:pPr marL="171450" indent="-171450">
              <a:lnSpc>
                <a:spcPct val="150000"/>
              </a:lnSpc>
              <a:buFont typeface="Arial" panose="020B0604020202020204" pitchFamily="34" charset="0"/>
              <a:buChar char="•"/>
            </a:pPr>
            <a:r>
              <a:rPr lang="en-US" sz="1200" dirty="0">
                <a:solidFill>
                  <a:srgbClr val="AC9976"/>
                </a:solidFill>
                <a:latin typeface="Lucida Sans Unicode"/>
                <a:cs typeface="Lucida Sans Unicode"/>
              </a:rPr>
              <a:t>premium UNI bathroom amenities for a sophisticated self-care experience</a:t>
            </a:r>
          </a:p>
          <a:p>
            <a:pPr marL="171450" indent="-171450">
              <a:lnSpc>
                <a:spcPct val="150000"/>
              </a:lnSpc>
              <a:buFont typeface="Arial" panose="020B0604020202020204" pitchFamily="34" charset="0"/>
              <a:buChar char="•"/>
            </a:pPr>
            <a:r>
              <a:rPr lang="en-US" sz="1200" dirty="0">
                <a:solidFill>
                  <a:srgbClr val="AC9976"/>
                </a:solidFill>
                <a:latin typeface="Lucida Sans Unicode"/>
                <a:cs typeface="Lucida Sans Unicode"/>
              </a:rPr>
              <a:t>bathrobe and slippers</a:t>
            </a:r>
          </a:p>
          <a:p>
            <a:pPr marL="171450" indent="-171450">
              <a:lnSpc>
                <a:spcPct val="150000"/>
              </a:lnSpc>
              <a:buFont typeface="Arial" panose="020B0604020202020204" pitchFamily="34" charset="0"/>
              <a:buChar char="•"/>
            </a:pPr>
            <a:r>
              <a:rPr lang="en-US" sz="1200" dirty="0">
                <a:solidFill>
                  <a:srgbClr val="AC9976"/>
                </a:solidFill>
                <a:latin typeface="Lucida Sans Unicode"/>
                <a:cs typeface="Lucida Sans Unicode"/>
              </a:rPr>
              <a:t>individually controlled air conditioning</a:t>
            </a:r>
          </a:p>
          <a:p>
            <a:pPr marL="171450" indent="-171450">
              <a:lnSpc>
                <a:spcPct val="150000"/>
              </a:lnSpc>
              <a:buFont typeface="Arial" panose="020B0604020202020204" pitchFamily="34" charset="0"/>
              <a:buChar char="•"/>
            </a:pPr>
            <a:r>
              <a:rPr lang="en-US" sz="1200" dirty="0">
                <a:solidFill>
                  <a:srgbClr val="AC9976"/>
                </a:solidFill>
                <a:latin typeface="Lucida Sans Unicode"/>
                <a:cs typeface="Lucida Sans Unicode"/>
              </a:rPr>
              <a:t>floor-to-ceiling panoramic windows filling the space with natural light</a:t>
            </a:r>
          </a:p>
          <a:p>
            <a:pPr marL="171450" indent="-171450">
              <a:lnSpc>
                <a:spcPct val="150000"/>
              </a:lnSpc>
              <a:buFont typeface="Arial" panose="020B0604020202020204" pitchFamily="34" charset="0"/>
              <a:buChar char="•"/>
            </a:pPr>
            <a:r>
              <a:rPr lang="en-US" sz="1200" dirty="0">
                <a:solidFill>
                  <a:srgbClr val="AC9976"/>
                </a:solidFill>
                <a:latin typeface="Lucida Sans Unicode"/>
                <a:cs typeface="Lucida Sans Unicode"/>
              </a:rPr>
              <a:t>elegant blackout curtains ensuring complete privacy and restful sleep</a:t>
            </a:r>
          </a:p>
          <a:p>
            <a:pPr marL="171450" indent="-171450">
              <a:lnSpc>
                <a:spcPct val="150000"/>
              </a:lnSpc>
              <a:buFont typeface="Arial" panose="020B0604020202020204" pitchFamily="34" charset="0"/>
              <a:buChar char="•"/>
            </a:pPr>
            <a:r>
              <a:rPr lang="en-US" sz="1200" dirty="0">
                <a:solidFill>
                  <a:srgbClr val="AC9976"/>
                </a:solidFill>
                <a:latin typeface="Lucida Sans Unicode"/>
                <a:cs typeface="Lucida Sans Unicode"/>
              </a:rPr>
              <a:t>mini refrigerator for your convenience</a:t>
            </a:r>
          </a:p>
          <a:p>
            <a:pPr marL="171450" indent="-171450">
              <a:lnSpc>
                <a:spcPct val="150000"/>
              </a:lnSpc>
              <a:buFont typeface="Arial" panose="020B0604020202020204" pitchFamily="34" charset="0"/>
              <a:buChar char="•"/>
            </a:pPr>
            <a:r>
              <a:rPr lang="en-US" sz="1200" dirty="0">
                <a:solidFill>
                  <a:srgbClr val="AC9976"/>
                </a:solidFill>
                <a:latin typeface="Lucida Sans Unicode"/>
                <a:cs typeface="Lucida Sans Unicode"/>
              </a:rPr>
              <a:t>hair dryer, iron and ironing board</a:t>
            </a:r>
          </a:p>
          <a:p>
            <a:pPr marL="171450" indent="-171450">
              <a:lnSpc>
                <a:spcPct val="150000"/>
              </a:lnSpc>
              <a:buFont typeface="Arial" panose="020B0604020202020204" pitchFamily="34" charset="0"/>
              <a:buChar char="•"/>
            </a:pPr>
            <a:r>
              <a:rPr lang="en-US" sz="1200" dirty="0">
                <a:solidFill>
                  <a:srgbClr val="AC9976"/>
                </a:solidFill>
                <a:latin typeface="Lucida Sans Unicode"/>
                <a:cs typeface="Lucida Sans Unicode"/>
              </a:rPr>
              <a:t>spacious bathrooms featuring walk-in showers in standard rooms, and both a shower and a bathtub in suites</a:t>
            </a:r>
          </a:p>
          <a:p>
            <a:pPr marL="171450" indent="-171450">
              <a:buFont typeface="Arial" panose="020B0604020202020204" pitchFamily="34" charset="0"/>
              <a:buChar char="•"/>
            </a:pPr>
            <a:endParaRPr lang="en-US" sz="1200" dirty="0">
              <a:solidFill>
                <a:srgbClr val="AC9976"/>
              </a:solidFill>
              <a:latin typeface="Lucida Sans Unicode"/>
              <a:cs typeface="Lucida Sans Unicode"/>
            </a:endParaRPr>
          </a:p>
          <a:p>
            <a:pPr marL="12700" marR="5080">
              <a:lnSpc>
                <a:spcPct val="130400"/>
              </a:lnSpc>
            </a:pPr>
            <a:endParaRPr lang="en-US" sz="1200" dirty="0">
              <a:latin typeface="Lucida Sans Unicode"/>
              <a:cs typeface="Lucida Sans Unicode"/>
            </a:endParaRPr>
          </a:p>
        </p:txBody>
      </p:sp>
      <p:sp>
        <p:nvSpPr>
          <p:cNvPr id="7" name="object 7"/>
          <p:cNvSpPr txBox="1">
            <a:spLocks noGrp="1"/>
          </p:cNvSpPr>
          <p:nvPr>
            <p:ph type="title"/>
          </p:nvPr>
        </p:nvSpPr>
        <p:spPr>
          <a:xfrm>
            <a:off x="6917553" y="522355"/>
            <a:ext cx="3923029" cy="1286250"/>
          </a:xfrm>
          <a:prstGeom prst="rect">
            <a:avLst/>
          </a:prstGeom>
        </p:spPr>
        <p:txBody>
          <a:bodyPr vert="horz" wrap="square" lIns="0" tIns="16510" rIns="0" bIns="0" rtlCol="0">
            <a:spAutoFit/>
          </a:bodyPr>
          <a:lstStyle/>
          <a:p>
            <a:pPr marL="12700">
              <a:spcBef>
                <a:spcPts val="130"/>
              </a:spcBef>
            </a:pPr>
            <a:r>
              <a:rPr lang="en-US" sz="2750" dirty="0">
                <a:latin typeface="Arial Black"/>
              </a:rPr>
              <a:t>In-Room Amenities &amp; Comfort</a:t>
            </a:r>
            <a:br>
              <a:rPr lang="en-US" sz="2750" dirty="0">
                <a:latin typeface="Arial Black"/>
              </a:rPr>
            </a:br>
            <a:endParaRPr sz="2750" dirty="0">
              <a:latin typeface="Arial Black"/>
            </a:endParaRPr>
          </a:p>
        </p:txBody>
      </p:sp>
      <p:pic>
        <p:nvPicPr>
          <p:cNvPr id="8" name="object 8"/>
          <p:cNvPicPr/>
          <p:nvPr/>
        </p:nvPicPr>
        <p:blipFill>
          <a:blip r:embed="rId3" cstate="print"/>
          <a:stretch>
            <a:fillRect/>
          </a:stretch>
        </p:blipFill>
        <p:spPr>
          <a:xfrm>
            <a:off x="114300" y="104772"/>
            <a:ext cx="6000750" cy="6657975"/>
          </a:xfrm>
          <a:prstGeom prst="rect">
            <a:avLst/>
          </a:prstGeom>
        </p:spPr>
      </p:pic>
      <p:pic>
        <p:nvPicPr>
          <p:cNvPr id="10" name="Рисунок 9" descr="Изображение выглядит как в помещении, стена, дизайн интерьера, кровать&#10;&#10;Автоматически созданное описание">
            <a:extLst>
              <a:ext uri="{FF2B5EF4-FFF2-40B4-BE49-F238E27FC236}">
                <a16:creationId xmlns:a16="http://schemas.microsoft.com/office/drawing/2014/main" id="{5C0D3B17-714B-CED6-8608-87E2CA523AA3}"/>
              </a:ext>
            </a:extLst>
          </p:cNvPr>
          <p:cNvPicPr>
            <a:picLocks noChangeAspect="1"/>
          </p:cNvPicPr>
          <p:nvPr/>
        </p:nvPicPr>
        <p:blipFill>
          <a:blip r:embed="rId4" cstate="print">
            <a:extLst>
              <a:ext uri="{28A0092B-C50C-407E-A947-70E740481C1C}">
                <a14:useLocalDpi xmlns:a14="http://schemas.microsoft.com/office/drawing/2010/main" val="0"/>
              </a:ext>
            </a:extLst>
          </a:blip>
          <a:srcRect l="15112" t="6283" r="27544" b="4250"/>
          <a:stretch/>
        </p:blipFill>
        <p:spPr>
          <a:xfrm>
            <a:off x="114073" y="123821"/>
            <a:ext cx="5981927" cy="6643691"/>
          </a:xfrm>
          <a:prstGeom prst="rect">
            <a:avLst/>
          </a:prstGeom>
        </p:spPr>
      </p:pic>
      <p:pic>
        <p:nvPicPr>
          <p:cNvPr id="12" name="Рисунок 11" descr="Изображение выглядит как в помещении, стена, Кухонная стойка, Столярные изделия&#10;&#10;Автоматически созданное описание">
            <a:extLst>
              <a:ext uri="{FF2B5EF4-FFF2-40B4-BE49-F238E27FC236}">
                <a16:creationId xmlns:a16="http://schemas.microsoft.com/office/drawing/2014/main" id="{ADF4BB44-09BA-6B45-4D79-067EAD5509FC}"/>
              </a:ext>
            </a:extLst>
          </p:cNvPr>
          <p:cNvPicPr>
            <a:picLocks noChangeAspect="1"/>
          </p:cNvPicPr>
          <p:nvPr/>
        </p:nvPicPr>
        <p:blipFill>
          <a:blip r:embed="rId5" cstate="print">
            <a:extLst>
              <a:ext uri="{28A0092B-C50C-407E-A947-70E740481C1C}">
                <a14:useLocalDpi xmlns:a14="http://schemas.microsoft.com/office/drawing/2010/main" val="0"/>
              </a:ext>
            </a:extLst>
          </a:blip>
          <a:srcRect r="41778" b="1805"/>
          <a:stretch/>
        </p:blipFill>
        <p:spPr>
          <a:xfrm>
            <a:off x="117253" y="119062"/>
            <a:ext cx="6000750" cy="66484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120501" y="309625"/>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grpSp>
        <p:nvGrpSpPr>
          <p:cNvPr id="3" name="object 3"/>
          <p:cNvGrpSpPr/>
          <p:nvPr/>
        </p:nvGrpSpPr>
        <p:grpSpPr>
          <a:xfrm>
            <a:off x="11507372" y="286715"/>
            <a:ext cx="407034" cy="158115"/>
            <a:chOff x="11507372" y="286715"/>
            <a:chExt cx="407034" cy="158115"/>
          </a:xfrm>
        </p:grpSpPr>
        <p:pic>
          <p:nvPicPr>
            <p:cNvPr id="4" name="object 4"/>
            <p:cNvPicPr/>
            <p:nvPr/>
          </p:nvPicPr>
          <p:blipFill>
            <a:blip r:embed="rId2" cstate="print"/>
            <a:stretch>
              <a:fillRect/>
            </a:stretch>
          </p:blipFill>
          <p:spPr>
            <a:xfrm>
              <a:off x="11766807" y="339886"/>
              <a:ext cx="147284" cy="68676"/>
            </a:xfrm>
            <a:prstGeom prst="rect">
              <a:avLst/>
            </a:prstGeom>
          </p:spPr>
        </p:pic>
        <p:sp>
          <p:nvSpPr>
            <p:cNvPr id="5" name="object 5"/>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AC9976"/>
            </a:solidFill>
          </p:spPr>
          <p:txBody>
            <a:bodyPr wrap="square" lIns="0" tIns="0" rIns="0" bIns="0" rtlCol="0"/>
            <a:lstStyle/>
            <a:p>
              <a:endParaRPr/>
            </a:p>
          </p:txBody>
        </p:sp>
      </p:grpSp>
      <p:grpSp>
        <p:nvGrpSpPr>
          <p:cNvPr id="6" name="object 6"/>
          <p:cNvGrpSpPr/>
          <p:nvPr/>
        </p:nvGrpSpPr>
        <p:grpSpPr>
          <a:xfrm>
            <a:off x="190500" y="1486082"/>
            <a:ext cx="11839575" cy="5260206"/>
            <a:chOff x="190500" y="1486082"/>
            <a:chExt cx="11839575" cy="5260206"/>
          </a:xfrm>
        </p:grpSpPr>
        <p:pic>
          <p:nvPicPr>
            <p:cNvPr id="7" name="object 7"/>
            <p:cNvPicPr/>
            <p:nvPr/>
          </p:nvPicPr>
          <p:blipFill>
            <a:blip r:embed="rId3" cstate="print"/>
            <a:stretch>
              <a:fillRect/>
            </a:stretch>
          </p:blipFill>
          <p:spPr>
            <a:xfrm>
              <a:off x="190500" y="3924300"/>
              <a:ext cx="11839575" cy="1562100"/>
            </a:xfrm>
            <a:prstGeom prst="rect">
              <a:avLst/>
            </a:prstGeom>
          </p:spPr>
        </p:pic>
        <p:sp>
          <p:nvSpPr>
            <p:cNvPr id="8" name="object 8"/>
            <p:cNvSpPr/>
            <p:nvPr/>
          </p:nvSpPr>
          <p:spPr>
            <a:xfrm>
              <a:off x="581026" y="2879138"/>
              <a:ext cx="8267700" cy="3867150"/>
            </a:xfrm>
            <a:custGeom>
              <a:avLst/>
              <a:gdLst/>
              <a:ahLst/>
              <a:cxnLst/>
              <a:rect l="l" t="t" r="r" b="b"/>
              <a:pathLst>
                <a:path w="8267700" h="3867150">
                  <a:moveTo>
                    <a:pt x="2676525" y="0"/>
                  </a:moveTo>
                  <a:lnTo>
                    <a:pt x="0" y="0"/>
                  </a:lnTo>
                  <a:lnTo>
                    <a:pt x="0" y="3867150"/>
                  </a:lnTo>
                  <a:lnTo>
                    <a:pt x="2676525" y="3867150"/>
                  </a:lnTo>
                  <a:lnTo>
                    <a:pt x="2676525" y="0"/>
                  </a:lnTo>
                  <a:close/>
                </a:path>
                <a:path w="8267700" h="3867150">
                  <a:moveTo>
                    <a:pt x="5467350" y="0"/>
                  </a:moveTo>
                  <a:lnTo>
                    <a:pt x="2790825" y="0"/>
                  </a:lnTo>
                  <a:lnTo>
                    <a:pt x="2790825" y="3867150"/>
                  </a:lnTo>
                  <a:lnTo>
                    <a:pt x="5467350" y="3867150"/>
                  </a:lnTo>
                  <a:lnTo>
                    <a:pt x="5467350" y="0"/>
                  </a:lnTo>
                  <a:close/>
                </a:path>
                <a:path w="8267700" h="3867150">
                  <a:moveTo>
                    <a:pt x="8267700" y="0"/>
                  </a:moveTo>
                  <a:lnTo>
                    <a:pt x="5581650" y="0"/>
                  </a:lnTo>
                  <a:lnTo>
                    <a:pt x="5581650" y="3867150"/>
                  </a:lnTo>
                  <a:lnTo>
                    <a:pt x="8267700" y="3867150"/>
                  </a:lnTo>
                  <a:lnTo>
                    <a:pt x="8267700" y="0"/>
                  </a:lnTo>
                  <a:close/>
                </a:path>
              </a:pathLst>
            </a:custGeom>
            <a:solidFill>
              <a:srgbClr val="EDEBE3"/>
            </a:solidFill>
          </p:spPr>
          <p:txBody>
            <a:bodyPr wrap="square" lIns="0" tIns="0" rIns="0" bIns="0" rtlCol="0"/>
            <a:lstStyle/>
            <a:p>
              <a:endParaRPr/>
            </a:p>
          </p:txBody>
        </p:sp>
        <p:pic>
          <p:nvPicPr>
            <p:cNvPr id="9" name="object 9"/>
            <p:cNvPicPr/>
            <p:nvPr/>
          </p:nvPicPr>
          <p:blipFill>
            <a:blip r:embed="rId4" cstate="print">
              <a:extLst>
                <a:ext uri="{28A0092B-C50C-407E-A947-70E740481C1C}">
                  <a14:useLocalDpi xmlns:a14="http://schemas.microsoft.com/office/drawing/2010/main" val="0"/>
                </a:ext>
              </a:extLst>
            </a:blip>
            <a:srcRect/>
            <a:stretch/>
          </p:blipFill>
          <p:spPr>
            <a:xfrm>
              <a:off x="541320" y="1486082"/>
              <a:ext cx="2703726" cy="1758893"/>
            </a:xfrm>
            <a:prstGeom prst="rect">
              <a:avLst/>
            </a:prstGeom>
          </p:spPr>
        </p:pic>
        <p:sp>
          <p:nvSpPr>
            <p:cNvPr id="11" name="object 11"/>
            <p:cNvSpPr/>
            <p:nvPr/>
          </p:nvSpPr>
          <p:spPr>
            <a:xfrm>
              <a:off x="644207" y="1539315"/>
              <a:ext cx="2499677" cy="1660761"/>
            </a:xfrm>
            <a:custGeom>
              <a:avLst/>
              <a:gdLst/>
              <a:ahLst/>
              <a:cxnLst/>
              <a:rect l="l" t="t" r="r" b="b"/>
              <a:pathLst>
                <a:path w="2466975" h="1666875">
                  <a:moveTo>
                    <a:pt x="0" y="1666875"/>
                  </a:moveTo>
                  <a:lnTo>
                    <a:pt x="2466975" y="1666875"/>
                  </a:lnTo>
                  <a:lnTo>
                    <a:pt x="2466975" y="0"/>
                  </a:lnTo>
                  <a:lnTo>
                    <a:pt x="0" y="0"/>
                  </a:lnTo>
                  <a:lnTo>
                    <a:pt x="0" y="1666875"/>
                  </a:lnTo>
                  <a:close/>
                </a:path>
              </a:pathLst>
            </a:custGeom>
            <a:ln w="6350">
              <a:solidFill>
                <a:srgbClr val="896F39"/>
              </a:solidFill>
            </a:ln>
          </p:spPr>
          <p:txBody>
            <a:bodyPr wrap="square" lIns="0" tIns="0" rIns="0" bIns="0" rtlCol="0"/>
            <a:lstStyle/>
            <a:p>
              <a:endParaRPr/>
            </a:p>
          </p:txBody>
        </p:sp>
        <p:pic>
          <p:nvPicPr>
            <p:cNvPr id="12" name="object 12"/>
            <p:cNvPicPr/>
            <p:nvPr/>
          </p:nvPicPr>
          <p:blipFill>
            <a:blip r:embed="rId5" cstate="print">
              <a:extLst>
                <a:ext uri="{28A0092B-C50C-407E-A947-70E740481C1C}">
                  <a14:useLocalDpi xmlns:a14="http://schemas.microsoft.com/office/drawing/2010/main" val="0"/>
                </a:ext>
              </a:extLst>
            </a:blip>
            <a:srcRect/>
            <a:stretch/>
          </p:blipFill>
          <p:spPr>
            <a:xfrm>
              <a:off x="3362325" y="1486083"/>
              <a:ext cx="2676525" cy="1780984"/>
            </a:xfrm>
            <a:prstGeom prst="rect">
              <a:avLst/>
            </a:prstGeom>
          </p:spPr>
        </p:pic>
      </p:grpSp>
      <p:sp>
        <p:nvSpPr>
          <p:cNvPr id="13" name="object 13"/>
          <p:cNvSpPr txBox="1"/>
          <p:nvPr/>
        </p:nvSpPr>
        <p:spPr>
          <a:xfrm>
            <a:off x="11207115" y="295021"/>
            <a:ext cx="145415" cy="151130"/>
          </a:xfrm>
          <a:prstGeom prst="rect">
            <a:avLst/>
          </a:prstGeom>
        </p:spPr>
        <p:txBody>
          <a:bodyPr vert="horz" wrap="square" lIns="0" tIns="15875" rIns="0" bIns="0" rtlCol="0">
            <a:spAutoFit/>
          </a:bodyPr>
          <a:lstStyle/>
          <a:p>
            <a:pPr marL="12700">
              <a:lnSpc>
                <a:spcPct val="100000"/>
              </a:lnSpc>
              <a:spcBef>
                <a:spcPts val="125"/>
              </a:spcBef>
            </a:pPr>
            <a:r>
              <a:rPr sz="800" spc="-25" dirty="0">
                <a:solidFill>
                  <a:srgbClr val="AC9976"/>
                </a:solidFill>
                <a:latin typeface="Lucida Sans Unicode"/>
                <a:cs typeface="Lucida Sans Unicode"/>
              </a:rPr>
              <a:t>20</a:t>
            </a:r>
            <a:endParaRPr sz="800">
              <a:latin typeface="Lucida Sans Unicode"/>
              <a:cs typeface="Lucida Sans Unicode"/>
            </a:endParaRPr>
          </a:p>
        </p:txBody>
      </p:sp>
      <p:grpSp>
        <p:nvGrpSpPr>
          <p:cNvPr id="14" name="object 14"/>
          <p:cNvGrpSpPr/>
          <p:nvPr/>
        </p:nvGrpSpPr>
        <p:grpSpPr>
          <a:xfrm>
            <a:off x="104775" y="63003"/>
            <a:ext cx="11982450" cy="6648450"/>
            <a:chOff x="109537" y="109537"/>
            <a:chExt cx="11982450" cy="6648450"/>
          </a:xfrm>
        </p:grpSpPr>
        <p:sp>
          <p:nvSpPr>
            <p:cNvPr id="16" name="object 16"/>
            <p:cNvSpPr/>
            <p:nvPr/>
          </p:nvSpPr>
          <p:spPr>
            <a:xfrm>
              <a:off x="3462401" y="1585849"/>
              <a:ext cx="2466975" cy="1657350"/>
            </a:xfrm>
            <a:custGeom>
              <a:avLst/>
              <a:gdLst/>
              <a:ahLst/>
              <a:cxnLst/>
              <a:rect l="l" t="t" r="r" b="b"/>
              <a:pathLst>
                <a:path w="2466975" h="1657350">
                  <a:moveTo>
                    <a:pt x="0" y="1657350"/>
                  </a:moveTo>
                  <a:lnTo>
                    <a:pt x="2466975" y="1657350"/>
                  </a:lnTo>
                  <a:lnTo>
                    <a:pt x="2466975" y="0"/>
                  </a:lnTo>
                  <a:lnTo>
                    <a:pt x="0" y="0"/>
                  </a:lnTo>
                  <a:lnTo>
                    <a:pt x="0" y="1657350"/>
                  </a:lnTo>
                  <a:close/>
                </a:path>
              </a:pathLst>
            </a:custGeom>
            <a:ln w="6350">
              <a:solidFill>
                <a:srgbClr val="896F39"/>
              </a:solidFill>
            </a:ln>
          </p:spPr>
          <p:txBody>
            <a:bodyPr wrap="square" lIns="0" tIns="0" rIns="0" bIns="0" rtlCol="0"/>
            <a:lstStyle/>
            <a:p>
              <a:endParaRPr/>
            </a:p>
          </p:txBody>
        </p:sp>
        <p:pic>
          <p:nvPicPr>
            <p:cNvPr id="17" name="object 17"/>
            <p:cNvPicPr/>
            <p:nvPr/>
          </p:nvPicPr>
          <p:blipFill>
            <a:blip r:embed="rId6" cstate="print">
              <a:extLst>
                <a:ext uri="{28A0092B-C50C-407E-A947-70E740481C1C}">
                  <a14:useLocalDpi xmlns:a14="http://schemas.microsoft.com/office/drawing/2010/main" val="0"/>
                </a:ext>
              </a:extLst>
            </a:blip>
            <a:srcRect/>
            <a:stretch/>
          </p:blipFill>
          <p:spPr>
            <a:xfrm>
              <a:off x="6185854" y="1548677"/>
              <a:ext cx="2676525" cy="1742833"/>
            </a:xfrm>
            <a:prstGeom prst="rect">
              <a:avLst/>
            </a:prstGeom>
          </p:spPr>
        </p:pic>
        <p:sp>
          <p:nvSpPr>
            <p:cNvPr id="18" name="object 18"/>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19" name="object 19"/>
          <p:cNvSpPr txBox="1"/>
          <p:nvPr/>
        </p:nvSpPr>
        <p:spPr>
          <a:xfrm>
            <a:off x="784470" y="3323833"/>
            <a:ext cx="2203450" cy="2482731"/>
          </a:xfrm>
          <a:prstGeom prst="rect">
            <a:avLst/>
          </a:prstGeom>
        </p:spPr>
        <p:txBody>
          <a:bodyPr vert="horz" wrap="square" lIns="0" tIns="157480" rIns="0" bIns="0" rtlCol="0">
            <a:spAutoFit/>
          </a:bodyPr>
          <a:lstStyle/>
          <a:p>
            <a:pPr algn="ctr">
              <a:lnSpc>
                <a:spcPct val="100000"/>
              </a:lnSpc>
              <a:spcBef>
                <a:spcPts val="1240"/>
              </a:spcBef>
            </a:pPr>
            <a:r>
              <a:rPr lang="en-US" sz="2750" spc="-10" dirty="0">
                <a:solidFill>
                  <a:srgbClr val="AC9976"/>
                </a:solidFill>
                <a:latin typeface="Lucida Sans Unicode"/>
                <a:cs typeface="Lucida Sans Unicode"/>
              </a:rPr>
              <a:t>56 rooms </a:t>
            </a:r>
          </a:p>
          <a:p>
            <a:pPr algn="ctr">
              <a:lnSpc>
                <a:spcPct val="100000"/>
              </a:lnSpc>
              <a:spcBef>
                <a:spcPts val="1240"/>
              </a:spcBef>
            </a:pPr>
            <a:r>
              <a:rPr lang="en-US" sz="1400" dirty="0">
                <a:solidFill>
                  <a:srgbClr val="AC9976"/>
                </a:solidFill>
                <a:latin typeface="Lucida Sans Unicode"/>
                <a:cs typeface="Lucida Sans Unicode"/>
              </a:rPr>
              <a:t> of Standard King category</a:t>
            </a:r>
          </a:p>
          <a:p>
            <a:pPr algn="ctr">
              <a:lnSpc>
                <a:spcPct val="100000"/>
              </a:lnSpc>
              <a:spcBef>
                <a:spcPts val="1240"/>
              </a:spcBef>
            </a:pPr>
            <a:r>
              <a:rPr lang="en-US" sz="1400" dirty="0">
                <a:solidFill>
                  <a:srgbClr val="AC9976"/>
                </a:solidFill>
                <a:latin typeface="Lucida Sans Unicode"/>
                <a:cs typeface="Lucida Sans Unicode"/>
              </a:rPr>
              <a:t>and </a:t>
            </a:r>
          </a:p>
          <a:p>
            <a:pPr algn="ctr">
              <a:lnSpc>
                <a:spcPct val="100000"/>
              </a:lnSpc>
              <a:spcBef>
                <a:spcPts val="1240"/>
              </a:spcBef>
            </a:pPr>
            <a:r>
              <a:rPr lang="en-US" sz="2750" spc="-10" dirty="0">
                <a:solidFill>
                  <a:srgbClr val="AC9976"/>
                </a:solidFill>
                <a:latin typeface="Lucida Sans Unicode"/>
                <a:cs typeface="Lucida Sans Unicode"/>
              </a:rPr>
              <a:t>1</a:t>
            </a:r>
            <a:r>
              <a:rPr lang="en-US" sz="1400" dirty="0">
                <a:solidFill>
                  <a:srgbClr val="AC9976"/>
                </a:solidFill>
                <a:latin typeface="Lucida Sans Unicode"/>
                <a:cs typeface="Lucida Sans Unicode"/>
              </a:rPr>
              <a:t> </a:t>
            </a:r>
          </a:p>
          <a:p>
            <a:pPr algn="ctr">
              <a:lnSpc>
                <a:spcPct val="100000"/>
              </a:lnSpc>
              <a:spcBef>
                <a:spcPts val="1240"/>
              </a:spcBef>
            </a:pPr>
            <a:r>
              <a:rPr lang="en-US" sz="1400" dirty="0">
                <a:solidFill>
                  <a:srgbClr val="AC9976"/>
                </a:solidFill>
                <a:latin typeface="Lucida Sans Unicode"/>
                <a:cs typeface="Lucida Sans Unicode"/>
              </a:rPr>
              <a:t>Accessible Room</a:t>
            </a:r>
            <a:endParaRPr sz="1400" dirty="0">
              <a:solidFill>
                <a:srgbClr val="AC9976"/>
              </a:solidFill>
              <a:latin typeface="Lucida Sans Unicode"/>
              <a:cs typeface="Lucida Sans Unicode"/>
            </a:endParaRPr>
          </a:p>
        </p:txBody>
      </p:sp>
      <p:grpSp>
        <p:nvGrpSpPr>
          <p:cNvPr id="20" name="object 20"/>
          <p:cNvGrpSpPr/>
          <p:nvPr/>
        </p:nvGrpSpPr>
        <p:grpSpPr>
          <a:xfrm>
            <a:off x="1841632" y="1492911"/>
            <a:ext cx="9777601" cy="5193601"/>
            <a:chOff x="1811451" y="1539444"/>
            <a:chExt cx="9777601" cy="5193601"/>
          </a:xfrm>
        </p:grpSpPr>
        <p:sp>
          <p:nvSpPr>
            <p:cNvPr id="22" name="object 22"/>
            <p:cNvSpPr/>
            <p:nvPr/>
          </p:nvSpPr>
          <p:spPr>
            <a:xfrm>
              <a:off x="6253225" y="1585848"/>
              <a:ext cx="2466975" cy="1666875"/>
            </a:xfrm>
            <a:custGeom>
              <a:avLst/>
              <a:gdLst/>
              <a:ahLst/>
              <a:cxnLst/>
              <a:rect l="l" t="t" r="r" b="b"/>
              <a:pathLst>
                <a:path w="2466975" h="1666875">
                  <a:moveTo>
                    <a:pt x="0" y="1666875"/>
                  </a:moveTo>
                  <a:lnTo>
                    <a:pt x="2466975" y="1666875"/>
                  </a:lnTo>
                  <a:lnTo>
                    <a:pt x="2466975" y="0"/>
                  </a:lnTo>
                  <a:lnTo>
                    <a:pt x="0" y="0"/>
                  </a:lnTo>
                  <a:lnTo>
                    <a:pt x="0" y="1666875"/>
                  </a:lnTo>
                  <a:close/>
                </a:path>
              </a:pathLst>
            </a:custGeom>
            <a:ln w="6350">
              <a:solidFill>
                <a:srgbClr val="896F39"/>
              </a:solidFill>
            </a:ln>
          </p:spPr>
          <p:txBody>
            <a:bodyPr wrap="square" lIns="0" tIns="0" rIns="0" bIns="0" rtlCol="0"/>
            <a:lstStyle/>
            <a:p>
              <a:endParaRPr/>
            </a:p>
          </p:txBody>
        </p:sp>
        <p:pic>
          <p:nvPicPr>
            <p:cNvPr id="23" name="object 23"/>
            <p:cNvPicPr/>
            <p:nvPr/>
          </p:nvPicPr>
          <p:blipFill>
            <a:blip r:embed="rId7" cstate="print"/>
            <a:stretch>
              <a:fillRect/>
            </a:stretch>
          </p:blipFill>
          <p:spPr>
            <a:xfrm>
              <a:off x="1875700" y="3615632"/>
              <a:ext cx="77894" cy="78066"/>
            </a:xfrm>
            <a:prstGeom prst="rect">
              <a:avLst/>
            </a:prstGeom>
          </p:spPr>
        </p:pic>
        <p:sp>
          <p:nvSpPr>
            <p:cNvPr id="24" name="object 24"/>
            <p:cNvSpPr/>
            <p:nvPr/>
          </p:nvSpPr>
          <p:spPr>
            <a:xfrm>
              <a:off x="1811451" y="3720185"/>
              <a:ext cx="206375" cy="87630"/>
            </a:xfrm>
            <a:custGeom>
              <a:avLst/>
              <a:gdLst/>
              <a:ahLst/>
              <a:cxnLst/>
              <a:rect l="l" t="t" r="r" b="b"/>
              <a:pathLst>
                <a:path w="206375" h="87629">
                  <a:moveTo>
                    <a:pt x="61239" y="28473"/>
                  </a:moveTo>
                  <a:lnTo>
                    <a:pt x="59804" y="26962"/>
                  </a:lnTo>
                  <a:lnTo>
                    <a:pt x="58013" y="26962"/>
                  </a:lnTo>
                  <a:lnTo>
                    <a:pt x="1435" y="26962"/>
                  </a:lnTo>
                  <a:lnTo>
                    <a:pt x="0" y="28473"/>
                  </a:lnTo>
                  <a:lnTo>
                    <a:pt x="0" y="86106"/>
                  </a:lnTo>
                  <a:lnTo>
                    <a:pt x="1435" y="87604"/>
                  </a:lnTo>
                  <a:lnTo>
                    <a:pt x="59804" y="87604"/>
                  </a:lnTo>
                  <a:lnTo>
                    <a:pt x="61239" y="86106"/>
                  </a:lnTo>
                  <a:lnTo>
                    <a:pt x="61239" y="28473"/>
                  </a:lnTo>
                  <a:close/>
                </a:path>
                <a:path w="206375" h="87629">
                  <a:moveTo>
                    <a:pt x="138607" y="1511"/>
                  </a:moveTo>
                  <a:lnTo>
                    <a:pt x="137160" y="0"/>
                  </a:lnTo>
                  <a:lnTo>
                    <a:pt x="135382" y="0"/>
                  </a:lnTo>
                  <a:lnTo>
                    <a:pt x="69138" y="0"/>
                  </a:lnTo>
                  <a:lnTo>
                    <a:pt x="67691" y="1511"/>
                  </a:lnTo>
                  <a:lnTo>
                    <a:pt x="67691" y="86106"/>
                  </a:lnTo>
                  <a:lnTo>
                    <a:pt x="69138" y="87604"/>
                  </a:lnTo>
                  <a:lnTo>
                    <a:pt x="137160" y="87604"/>
                  </a:lnTo>
                  <a:lnTo>
                    <a:pt x="138607" y="86106"/>
                  </a:lnTo>
                  <a:lnTo>
                    <a:pt x="138607" y="1511"/>
                  </a:lnTo>
                  <a:close/>
                </a:path>
                <a:path w="206375" h="87629">
                  <a:moveTo>
                    <a:pt x="206298" y="48679"/>
                  </a:moveTo>
                  <a:lnTo>
                    <a:pt x="204851" y="47180"/>
                  </a:lnTo>
                  <a:lnTo>
                    <a:pt x="203073" y="47180"/>
                  </a:lnTo>
                  <a:lnTo>
                    <a:pt x="146494" y="47180"/>
                  </a:lnTo>
                  <a:lnTo>
                    <a:pt x="145046" y="48679"/>
                  </a:lnTo>
                  <a:lnTo>
                    <a:pt x="145046" y="86106"/>
                  </a:lnTo>
                  <a:lnTo>
                    <a:pt x="146494" y="87604"/>
                  </a:lnTo>
                  <a:lnTo>
                    <a:pt x="204851" y="87604"/>
                  </a:lnTo>
                  <a:lnTo>
                    <a:pt x="206298" y="86106"/>
                  </a:lnTo>
                  <a:lnTo>
                    <a:pt x="206298" y="48679"/>
                  </a:lnTo>
                  <a:close/>
                </a:path>
              </a:pathLst>
            </a:custGeom>
            <a:solidFill>
              <a:srgbClr val="AC9976"/>
            </a:solidFill>
          </p:spPr>
          <p:txBody>
            <a:bodyPr wrap="square" lIns="0" tIns="0" rIns="0" bIns="0" rtlCol="0"/>
            <a:lstStyle/>
            <a:p>
              <a:endParaRPr/>
            </a:p>
          </p:txBody>
        </p:sp>
        <p:pic>
          <p:nvPicPr>
            <p:cNvPr id="25" name="object 25"/>
            <p:cNvPicPr/>
            <p:nvPr/>
          </p:nvPicPr>
          <p:blipFill>
            <a:blip r:embed="rId8" cstate="print"/>
            <a:stretch>
              <a:fillRect/>
            </a:stretch>
          </p:blipFill>
          <p:spPr>
            <a:xfrm>
              <a:off x="4597926" y="3611770"/>
              <a:ext cx="207325" cy="194380"/>
            </a:xfrm>
            <a:prstGeom prst="rect">
              <a:avLst/>
            </a:prstGeom>
          </p:spPr>
        </p:pic>
        <p:pic>
          <p:nvPicPr>
            <p:cNvPr id="26" name="object 26"/>
            <p:cNvPicPr/>
            <p:nvPr/>
          </p:nvPicPr>
          <p:blipFill>
            <a:blip r:embed="rId9" cstate="print"/>
            <a:stretch>
              <a:fillRect/>
            </a:stretch>
          </p:blipFill>
          <p:spPr>
            <a:xfrm>
              <a:off x="7402700" y="3611760"/>
              <a:ext cx="196609" cy="196680"/>
            </a:xfrm>
            <a:prstGeom prst="rect">
              <a:avLst/>
            </a:prstGeom>
          </p:spPr>
        </p:pic>
        <p:sp>
          <p:nvSpPr>
            <p:cNvPr id="27" name="object 27"/>
            <p:cNvSpPr/>
            <p:nvPr/>
          </p:nvSpPr>
          <p:spPr>
            <a:xfrm>
              <a:off x="8903281" y="2875420"/>
              <a:ext cx="2676525" cy="3857625"/>
            </a:xfrm>
            <a:custGeom>
              <a:avLst/>
              <a:gdLst/>
              <a:ahLst/>
              <a:cxnLst/>
              <a:rect l="l" t="t" r="r" b="b"/>
              <a:pathLst>
                <a:path w="2676525" h="3857625">
                  <a:moveTo>
                    <a:pt x="2676525" y="0"/>
                  </a:moveTo>
                  <a:lnTo>
                    <a:pt x="0" y="0"/>
                  </a:lnTo>
                  <a:lnTo>
                    <a:pt x="0" y="3857625"/>
                  </a:lnTo>
                  <a:lnTo>
                    <a:pt x="2676525" y="3857625"/>
                  </a:lnTo>
                  <a:lnTo>
                    <a:pt x="2676525" y="0"/>
                  </a:lnTo>
                  <a:close/>
                </a:path>
              </a:pathLst>
            </a:custGeom>
            <a:solidFill>
              <a:srgbClr val="EDEBE3"/>
            </a:solidFill>
          </p:spPr>
          <p:txBody>
            <a:bodyPr wrap="square" lIns="0" tIns="0" rIns="0" bIns="0" rtlCol="0"/>
            <a:lstStyle/>
            <a:p>
              <a:endParaRPr/>
            </a:p>
          </p:txBody>
        </p:sp>
        <p:pic>
          <p:nvPicPr>
            <p:cNvPr id="28" name="object 28"/>
            <p:cNvPicPr/>
            <p:nvPr/>
          </p:nvPicPr>
          <p:blipFill>
            <a:blip r:embed="rId10" cstate="print"/>
            <a:stretch>
              <a:fillRect/>
            </a:stretch>
          </p:blipFill>
          <p:spPr>
            <a:xfrm>
              <a:off x="10176211" y="3585385"/>
              <a:ext cx="212407" cy="240089"/>
            </a:xfrm>
            <a:prstGeom prst="rect">
              <a:avLst/>
            </a:prstGeom>
          </p:spPr>
        </p:pic>
        <p:pic>
          <p:nvPicPr>
            <p:cNvPr id="29" name="object 29"/>
            <p:cNvPicPr/>
            <p:nvPr/>
          </p:nvPicPr>
          <p:blipFill>
            <a:blip r:embed="rId11" cstate="print">
              <a:extLst>
                <a:ext uri="{28A0092B-C50C-407E-A947-70E740481C1C}">
                  <a14:useLocalDpi xmlns:a14="http://schemas.microsoft.com/office/drawing/2010/main" val="0"/>
                </a:ext>
              </a:extLst>
            </a:blip>
            <a:srcRect/>
            <a:stretch/>
          </p:blipFill>
          <p:spPr>
            <a:xfrm>
              <a:off x="8912527" y="1539444"/>
              <a:ext cx="2676525" cy="1752065"/>
            </a:xfrm>
            <a:prstGeom prst="rect">
              <a:avLst/>
            </a:prstGeom>
          </p:spPr>
        </p:pic>
        <p:sp>
          <p:nvSpPr>
            <p:cNvPr id="31" name="object 31"/>
            <p:cNvSpPr/>
            <p:nvPr/>
          </p:nvSpPr>
          <p:spPr>
            <a:xfrm>
              <a:off x="8952865" y="1626082"/>
              <a:ext cx="2466975" cy="1626641"/>
            </a:xfrm>
            <a:custGeom>
              <a:avLst/>
              <a:gdLst/>
              <a:ahLst/>
              <a:cxnLst/>
              <a:rect l="l" t="t" r="r" b="b"/>
              <a:pathLst>
                <a:path w="2466975" h="1666875">
                  <a:moveTo>
                    <a:pt x="0" y="1666875"/>
                  </a:moveTo>
                  <a:lnTo>
                    <a:pt x="2466975" y="1666875"/>
                  </a:lnTo>
                  <a:lnTo>
                    <a:pt x="2466975" y="0"/>
                  </a:lnTo>
                  <a:lnTo>
                    <a:pt x="0" y="0"/>
                  </a:lnTo>
                  <a:lnTo>
                    <a:pt x="0" y="1666875"/>
                  </a:lnTo>
                  <a:close/>
                </a:path>
              </a:pathLst>
            </a:custGeom>
            <a:ln w="6350">
              <a:solidFill>
                <a:srgbClr val="896F39"/>
              </a:solidFill>
            </a:ln>
          </p:spPr>
          <p:txBody>
            <a:bodyPr wrap="square" lIns="0" tIns="0" rIns="0" bIns="0" rtlCol="0"/>
            <a:lstStyle/>
            <a:p>
              <a:endParaRPr/>
            </a:p>
          </p:txBody>
        </p:sp>
      </p:grpSp>
      <p:sp>
        <p:nvSpPr>
          <p:cNvPr id="33" name="object 33"/>
          <p:cNvSpPr txBox="1"/>
          <p:nvPr/>
        </p:nvSpPr>
        <p:spPr>
          <a:xfrm>
            <a:off x="644207" y="316468"/>
            <a:ext cx="4264025" cy="392415"/>
          </a:xfrm>
          <a:prstGeom prst="rect">
            <a:avLst/>
          </a:prstGeom>
        </p:spPr>
        <p:txBody>
          <a:bodyPr vert="horz" wrap="square" lIns="0" tIns="83820" rIns="0" bIns="0" rtlCol="0">
            <a:spAutoFit/>
          </a:bodyPr>
          <a:lstStyle/>
          <a:p>
            <a:pPr marL="12700">
              <a:lnSpc>
                <a:spcPct val="100000"/>
              </a:lnSpc>
              <a:spcBef>
                <a:spcPts val="660"/>
              </a:spcBef>
            </a:pPr>
            <a:r>
              <a:rPr lang="en-US" sz="2000" spc="110" dirty="0">
                <a:solidFill>
                  <a:srgbClr val="AC9976"/>
                </a:solidFill>
                <a:latin typeface="Lucida Sans Unicode"/>
                <a:cs typeface="Lucida Sans Unicode"/>
              </a:rPr>
              <a:t>Room Categories</a:t>
            </a:r>
            <a:endParaRPr sz="2000" dirty="0">
              <a:latin typeface="Lucida Sans Unicode"/>
              <a:cs typeface="Lucida Sans Unicode"/>
            </a:endParaRPr>
          </a:p>
        </p:txBody>
      </p:sp>
      <p:sp>
        <p:nvSpPr>
          <p:cNvPr id="10" name="object 27">
            <a:extLst>
              <a:ext uri="{FF2B5EF4-FFF2-40B4-BE49-F238E27FC236}">
                <a16:creationId xmlns:a16="http://schemas.microsoft.com/office/drawing/2014/main" id="{5EC79C08-8345-25E4-5896-5322A48AD77B}"/>
              </a:ext>
            </a:extLst>
          </p:cNvPr>
          <p:cNvSpPr/>
          <p:nvPr/>
        </p:nvSpPr>
        <p:spPr>
          <a:xfrm>
            <a:off x="541320" y="3252723"/>
            <a:ext cx="2703726" cy="3470150"/>
          </a:xfrm>
          <a:custGeom>
            <a:avLst/>
            <a:gdLst/>
            <a:ahLst/>
            <a:cxnLst/>
            <a:rect l="l" t="t" r="r" b="b"/>
            <a:pathLst>
              <a:path w="2676525" h="3857625">
                <a:moveTo>
                  <a:pt x="2676525" y="0"/>
                </a:moveTo>
                <a:lnTo>
                  <a:pt x="0" y="0"/>
                </a:lnTo>
                <a:lnTo>
                  <a:pt x="0" y="3857625"/>
                </a:lnTo>
                <a:lnTo>
                  <a:pt x="2676525" y="3857625"/>
                </a:lnTo>
                <a:lnTo>
                  <a:pt x="2676525" y="0"/>
                </a:lnTo>
                <a:close/>
              </a:path>
            </a:pathLst>
          </a:custGeom>
          <a:solidFill>
            <a:srgbClr val="EDEBE3"/>
          </a:solidFill>
        </p:spPr>
        <p:txBody>
          <a:bodyPr wrap="square" lIns="0" tIns="0" rIns="0" bIns="0" rtlCol="0"/>
          <a:lstStyle/>
          <a:p>
            <a:endParaRPr/>
          </a:p>
        </p:txBody>
      </p:sp>
      <p:sp>
        <p:nvSpPr>
          <p:cNvPr id="21" name="object 19">
            <a:extLst>
              <a:ext uri="{FF2B5EF4-FFF2-40B4-BE49-F238E27FC236}">
                <a16:creationId xmlns:a16="http://schemas.microsoft.com/office/drawing/2014/main" id="{28A28C21-18BF-3F45-9790-B2D654DC589C}"/>
              </a:ext>
            </a:extLst>
          </p:cNvPr>
          <p:cNvSpPr txBox="1"/>
          <p:nvPr/>
        </p:nvSpPr>
        <p:spPr>
          <a:xfrm>
            <a:off x="835051" y="3571347"/>
            <a:ext cx="2203450" cy="2482731"/>
          </a:xfrm>
          <a:prstGeom prst="rect">
            <a:avLst/>
          </a:prstGeom>
        </p:spPr>
        <p:txBody>
          <a:bodyPr vert="horz" wrap="square" lIns="0" tIns="157480" rIns="0" bIns="0" rtlCol="0">
            <a:spAutoFit/>
          </a:bodyPr>
          <a:lstStyle/>
          <a:p>
            <a:pPr algn="ctr">
              <a:lnSpc>
                <a:spcPct val="100000"/>
              </a:lnSpc>
              <a:spcBef>
                <a:spcPts val="1240"/>
              </a:spcBef>
            </a:pPr>
            <a:r>
              <a:rPr lang="en-US" sz="2750" spc="-10" dirty="0">
                <a:solidFill>
                  <a:srgbClr val="AC9976"/>
                </a:solidFill>
                <a:latin typeface="Lucida Sans Unicode"/>
                <a:cs typeface="Lucida Sans Unicode"/>
              </a:rPr>
              <a:t>56 rooms </a:t>
            </a:r>
          </a:p>
          <a:p>
            <a:pPr algn="ctr">
              <a:lnSpc>
                <a:spcPct val="100000"/>
              </a:lnSpc>
              <a:spcBef>
                <a:spcPts val="1240"/>
              </a:spcBef>
            </a:pPr>
            <a:r>
              <a:rPr lang="en-US" sz="1400" dirty="0">
                <a:solidFill>
                  <a:srgbClr val="AC9976"/>
                </a:solidFill>
                <a:latin typeface="Lucida Sans Unicode"/>
                <a:cs typeface="Lucida Sans Unicode"/>
              </a:rPr>
              <a:t> of Standard King category</a:t>
            </a:r>
          </a:p>
          <a:p>
            <a:pPr algn="ctr">
              <a:lnSpc>
                <a:spcPct val="100000"/>
              </a:lnSpc>
              <a:spcBef>
                <a:spcPts val="1240"/>
              </a:spcBef>
            </a:pPr>
            <a:r>
              <a:rPr lang="en-US" sz="1400" dirty="0">
                <a:solidFill>
                  <a:srgbClr val="AC9976"/>
                </a:solidFill>
                <a:latin typeface="Lucida Sans Unicode"/>
                <a:cs typeface="Lucida Sans Unicode"/>
              </a:rPr>
              <a:t>and </a:t>
            </a:r>
          </a:p>
          <a:p>
            <a:pPr algn="ctr">
              <a:lnSpc>
                <a:spcPct val="100000"/>
              </a:lnSpc>
              <a:spcBef>
                <a:spcPts val="1240"/>
              </a:spcBef>
            </a:pPr>
            <a:r>
              <a:rPr lang="en-US" sz="2750" spc="-10" dirty="0">
                <a:solidFill>
                  <a:srgbClr val="AC9976"/>
                </a:solidFill>
                <a:latin typeface="Lucida Sans Unicode"/>
                <a:cs typeface="Lucida Sans Unicode"/>
              </a:rPr>
              <a:t>1</a:t>
            </a:r>
            <a:r>
              <a:rPr lang="en-US" sz="1400" dirty="0">
                <a:solidFill>
                  <a:srgbClr val="AC9976"/>
                </a:solidFill>
                <a:latin typeface="Lucida Sans Unicode"/>
                <a:cs typeface="Lucida Sans Unicode"/>
              </a:rPr>
              <a:t> </a:t>
            </a:r>
          </a:p>
          <a:p>
            <a:pPr algn="ctr">
              <a:lnSpc>
                <a:spcPct val="100000"/>
              </a:lnSpc>
              <a:spcBef>
                <a:spcPts val="1240"/>
              </a:spcBef>
            </a:pPr>
            <a:r>
              <a:rPr lang="en-US" sz="1400" dirty="0">
                <a:solidFill>
                  <a:srgbClr val="AC9976"/>
                </a:solidFill>
                <a:latin typeface="Lucida Sans Unicode"/>
                <a:cs typeface="Lucida Sans Unicode"/>
              </a:rPr>
              <a:t>Accessible Room</a:t>
            </a:r>
            <a:endParaRPr sz="1400" dirty="0">
              <a:solidFill>
                <a:srgbClr val="AC9976"/>
              </a:solidFill>
              <a:latin typeface="Lucida Sans Unicode"/>
              <a:cs typeface="Lucida Sans Unicode"/>
            </a:endParaRPr>
          </a:p>
        </p:txBody>
      </p:sp>
      <p:sp>
        <p:nvSpPr>
          <p:cNvPr id="30" name="object 27">
            <a:extLst>
              <a:ext uri="{FF2B5EF4-FFF2-40B4-BE49-F238E27FC236}">
                <a16:creationId xmlns:a16="http://schemas.microsoft.com/office/drawing/2014/main" id="{82BE4F03-1918-8D1D-9322-C96D94675951}"/>
              </a:ext>
            </a:extLst>
          </p:cNvPr>
          <p:cNvSpPr/>
          <p:nvPr/>
        </p:nvSpPr>
        <p:spPr>
          <a:xfrm>
            <a:off x="3360141" y="3236778"/>
            <a:ext cx="2676525" cy="3470150"/>
          </a:xfrm>
          <a:custGeom>
            <a:avLst/>
            <a:gdLst/>
            <a:ahLst/>
            <a:cxnLst/>
            <a:rect l="l" t="t" r="r" b="b"/>
            <a:pathLst>
              <a:path w="2676525" h="3857625">
                <a:moveTo>
                  <a:pt x="2676525" y="0"/>
                </a:moveTo>
                <a:lnTo>
                  <a:pt x="0" y="0"/>
                </a:lnTo>
                <a:lnTo>
                  <a:pt x="0" y="3857625"/>
                </a:lnTo>
                <a:lnTo>
                  <a:pt x="2676525" y="3857625"/>
                </a:lnTo>
                <a:lnTo>
                  <a:pt x="2676525" y="0"/>
                </a:lnTo>
                <a:close/>
              </a:path>
            </a:pathLst>
          </a:custGeom>
          <a:solidFill>
            <a:srgbClr val="EDEBE3"/>
          </a:solidFill>
        </p:spPr>
        <p:txBody>
          <a:bodyPr wrap="square" lIns="0" tIns="0" rIns="0" bIns="0" rtlCol="0"/>
          <a:lstStyle/>
          <a:p>
            <a:endParaRPr/>
          </a:p>
        </p:txBody>
      </p:sp>
      <p:sp>
        <p:nvSpPr>
          <p:cNvPr id="32" name="object 19">
            <a:extLst>
              <a:ext uri="{FF2B5EF4-FFF2-40B4-BE49-F238E27FC236}">
                <a16:creationId xmlns:a16="http://schemas.microsoft.com/office/drawing/2014/main" id="{E69B68D8-633E-3E67-6943-8D7E287F9523}"/>
              </a:ext>
            </a:extLst>
          </p:cNvPr>
          <p:cNvSpPr txBox="1"/>
          <p:nvPr/>
        </p:nvSpPr>
        <p:spPr>
          <a:xfrm>
            <a:off x="3525915" y="3590933"/>
            <a:ext cx="2203450" cy="1166986"/>
          </a:xfrm>
          <a:prstGeom prst="rect">
            <a:avLst/>
          </a:prstGeom>
        </p:spPr>
        <p:txBody>
          <a:bodyPr vert="horz" wrap="square" lIns="0" tIns="157480" rIns="0" bIns="0" rtlCol="0">
            <a:spAutoFit/>
          </a:bodyPr>
          <a:lstStyle/>
          <a:p>
            <a:pPr algn="ctr">
              <a:lnSpc>
                <a:spcPct val="100000"/>
              </a:lnSpc>
              <a:spcBef>
                <a:spcPts val="1240"/>
              </a:spcBef>
            </a:pPr>
            <a:r>
              <a:rPr lang="en-US" sz="2750" spc="-10" dirty="0">
                <a:solidFill>
                  <a:srgbClr val="AC9976"/>
                </a:solidFill>
                <a:latin typeface="Lucida Sans Unicode"/>
                <a:cs typeface="Lucida Sans Unicode"/>
              </a:rPr>
              <a:t>55 rooms </a:t>
            </a:r>
          </a:p>
          <a:p>
            <a:pPr algn="ctr">
              <a:lnSpc>
                <a:spcPct val="100000"/>
              </a:lnSpc>
              <a:spcBef>
                <a:spcPts val="1240"/>
              </a:spcBef>
            </a:pPr>
            <a:r>
              <a:rPr lang="en-US" sz="1400" dirty="0">
                <a:solidFill>
                  <a:srgbClr val="AC9976"/>
                </a:solidFill>
                <a:latin typeface="Lucida Sans Unicode"/>
                <a:cs typeface="Lucida Sans Unicode"/>
              </a:rPr>
              <a:t> of Standard Twin category</a:t>
            </a:r>
            <a:endParaRPr sz="1400" dirty="0">
              <a:solidFill>
                <a:srgbClr val="AC9976"/>
              </a:solidFill>
              <a:latin typeface="Lucida Sans Unicode"/>
              <a:cs typeface="Lucida Sans Unicode"/>
            </a:endParaRPr>
          </a:p>
        </p:txBody>
      </p:sp>
      <p:sp>
        <p:nvSpPr>
          <p:cNvPr id="34" name="object 27">
            <a:extLst>
              <a:ext uri="{FF2B5EF4-FFF2-40B4-BE49-F238E27FC236}">
                <a16:creationId xmlns:a16="http://schemas.microsoft.com/office/drawing/2014/main" id="{C2629537-94B4-122A-E347-F69C2023E893}"/>
              </a:ext>
            </a:extLst>
          </p:cNvPr>
          <p:cNvSpPr/>
          <p:nvPr/>
        </p:nvSpPr>
        <p:spPr>
          <a:xfrm>
            <a:off x="6181091" y="3238523"/>
            <a:ext cx="2676525" cy="3475710"/>
          </a:xfrm>
          <a:custGeom>
            <a:avLst/>
            <a:gdLst/>
            <a:ahLst/>
            <a:cxnLst/>
            <a:rect l="l" t="t" r="r" b="b"/>
            <a:pathLst>
              <a:path w="2676525" h="3857625">
                <a:moveTo>
                  <a:pt x="2676525" y="0"/>
                </a:moveTo>
                <a:lnTo>
                  <a:pt x="0" y="0"/>
                </a:lnTo>
                <a:lnTo>
                  <a:pt x="0" y="3857625"/>
                </a:lnTo>
                <a:lnTo>
                  <a:pt x="2676525" y="3857625"/>
                </a:lnTo>
                <a:lnTo>
                  <a:pt x="2676525" y="0"/>
                </a:lnTo>
                <a:close/>
              </a:path>
            </a:pathLst>
          </a:custGeom>
          <a:solidFill>
            <a:srgbClr val="EDEBE3"/>
          </a:solidFill>
        </p:spPr>
        <p:txBody>
          <a:bodyPr wrap="square" lIns="0" tIns="0" rIns="0" bIns="0" rtlCol="0"/>
          <a:lstStyle/>
          <a:p>
            <a:endParaRPr/>
          </a:p>
        </p:txBody>
      </p:sp>
      <p:sp>
        <p:nvSpPr>
          <p:cNvPr id="35" name="object 19">
            <a:extLst>
              <a:ext uri="{FF2B5EF4-FFF2-40B4-BE49-F238E27FC236}">
                <a16:creationId xmlns:a16="http://schemas.microsoft.com/office/drawing/2014/main" id="{68AD270B-305E-0B93-97B6-97854B233604}"/>
              </a:ext>
            </a:extLst>
          </p:cNvPr>
          <p:cNvSpPr txBox="1"/>
          <p:nvPr/>
        </p:nvSpPr>
        <p:spPr>
          <a:xfrm>
            <a:off x="6408812" y="3575324"/>
            <a:ext cx="2203450" cy="1166986"/>
          </a:xfrm>
          <a:prstGeom prst="rect">
            <a:avLst/>
          </a:prstGeom>
        </p:spPr>
        <p:txBody>
          <a:bodyPr vert="horz" wrap="square" lIns="0" tIns="157480" rIns="0" bIns="0" rtlCol="0">
            <a:spAutoFit/>
          </a:bodyPr>
          <a:lstStyle/>
          <a:p>
            <a:pPr algn="ctr">
              <a:lnSpc>
                <a:spcPct val="100000"/>
              </a:lnSpc>
              <a:spcBef>
                <a:spcPts val="1240"/>
              </a:spcBef>
            </a:pPr>
            <a:r>
              <a:rPr lang="en-US" sz="2750" spc="-10" dirty="0">
                <a:solidFill>
                  <a:srgbClr val="AC9976"/>
                </a:solidFill>
                <a:latin typeface="Lucida Sans Unicode"/>
                <a:cs typeface="Lucida Sans Unicode"/>
              </a:rPr>
              <a:t>4 rooms </a:t>
            </a:r>
          </a:p>
          <a:p>
            <a:pPr algn="ctr">
              <a:lnSpc>
                <a:spcPct val="100000"/>
              </a:lnSpc>
              <a:spcBef>
                <a:spcPts val="1240"/>
              </a:spcBef>
            </a:pPr>
            <a:r>
              <a:rPr lang="en-US" sz="1400" dirty="0">
                <a:solidFill>
                  <a:srgbClr val="AC9976"/>
                </a:solidFill>
                <a:latin typeface="Lucida Sans Unicode"/>
                <a:cs typeface="Lucida Sans Unicode"/>
              </a:rPr>
              <a:t> of Superior Twin category</a:t>
            </a:r>
            <a:endParaRPr sz="1400" dirty="0">
              <a:solidFill>
                <a:srgbClr val="AC9976"/>
              </a:solidFill>
              <a:latin typeface="Lucida Sans Unicode"/>
              <a:cs typeface="Lucida Sans Unicode"/>
            </a:endParaRPr>
          </a:p>
        </p:txBody>
      </p:sp>
      <p:sp>
        <p:nvSpPr>
          <p:cNvPr id="38" name="object 27">
            <a:extLst>
              <a:ext uri="{FF2B5EF4-FFF2-40B4-BE49-F238E27FC236}">
                <a16:creationId xmlns:a16="http://schemas.microsoft.com/office/drawing/2014/main" id="{713DF1A3-0B69-1C80-9117-10B67F943C47}"/>
              </a:ext>
            </a:extLst>
          </p:cNvPr>
          <p:cNvSpPr/>
          <p:nvPr/>
        </p:nvSpPr>
        <p:spPr>
          <a:xfrm>
            <a:off x="8933461" y="3292828"/>
            <a:ext cx="2676525" cy="3418625"/>
          </a:xfrm>
          <a:custGeom>
            <a:avLst/>
            <a:gdLst/>
            <a:ahLst/>
            <a:cxnLst/>
            <a:rect l="l" t="t" r="r" b="b"/>
            <a:pathLst>
              <a:path w="2676525" h="3857625">
                <a:moveTo>
                  <a:pt x="2676525" y="0"/>
                </a:moveTo>
                <a:lnTo>
                  <a:pt x="0" y="0"/>
                </a:lnTo>
                <a:lnTo>
                  <a:pt x="0" y="3857625"/>
                </a:lnTo>
                <a:lnTo>
                  <a:pt x="2676525" y="3857625"/>
                </a:lnTo>
                <a:lnTo>
                  <a:pt x="2676525" y="0"/>
                </a:lnTo>
                <a:close/>
              </a:path>
            </a:pathLst>
          </a:custGeom>
          <a:solidFill>
            <a:srgbClr val="EDEBE3"/>
          </a:solidFill>
        </p:spPr>
        <p:txBody>
          <a:bodyPr wrap="square" lIns="0" tIns="0" rIns="0" bIns="0" rtlCol="0"/>
          <a:lstStyle/>
          <a:p>
            <a:endParaRPr/>
          </a:p>
        </p:txBody>
      </p:sp>
      <p:sp>
        <p:nvSpPr>
          <p:cNvPr id="39" name="object 19">
            <a:extLst>
              <a:ext uri="{FF2B5EF4-FFF2-40B4-BE49-F238E27FC236}">
                <a16:creationId xmlns:a16="http://schemas.microsoft.com/office/drawing/2014/main" id="{A3D40CE4-E10C-549B-53D5-D3443C81DBED}"/>
              </a:ext>
            </a:extLst>
          </p:cNvPr>
          <p:cNvSpPr txBox="1"/>
          <p:nvPr/>
        </p:nvSpPr>
        <p:spPr>
          <a:xfrm>
            <a:off x="9048557" y="3616343"/>
            <a:ext cx="2203450" cy="951543"/>
          </a:xfrm>
          <a:prstGeom prst="rect">
            <a:avLst/>
          </a:prstGeom>
        </p:spPr>
        <p:txBody>
          <a:bodyPr vert="horz" wrap="square" lIns="0" tIns="157480" rIns="0" bIns="0" rtlCol="0">
            <a:spAutoFit/>
          </a:bodyPr>
          <a:lstStyle/>
          <a:p>
            <a:pPr algn="ctr">
              <a:lnSpc>
                <a:spcPct val="100000"/>
              </a:lnSpc>
              <a:spcBef>
                <a:spcPts val="1240"/>
              </a:spcBef>
            </a:pPr>
            <a:r>
              <a:rPr lang="en-US" sz="2750" spc="-10" dirty="0">
                <a:solidFill>
                  <a:srgbClr val="AC9976"/>
                </a:solidFill>
                <a:latin typeface="Lucida Sans Unicode"/>
                <a:cs typeface="Lucida Sans Unicode"/>
              </a:rPr>
              <a:t>4 rooms </a:t>
            </a:r>
          </a:p>
          <a:p>
            <a:pPr algn="ctr">
              <a:lnSpc>
                <a:spcPct val="100000"/>
              </a:lnSpc>
              <a:spcBef>
                <a:spcPts val="1240"/>
              </a:spcBef>
            </a:pPr>
            <a:r>
              <a:rPr lang="en-US" sz="1400" dirty="0">
                <a:solidFill>
                  <a:srgbClr val="AC9976"/>
                </a:solidFill>
                <a:latin typeface="Lucida Sans Unicode"/>
                <a:cs typeface="Lucida Sans Unicode"/>
              </a:rPr>
              <a:t> of Suite </a:t>
            </a:r>
            <a:endParaRPr sz="1400" dirty="0">
              <a:solidFill>
                <a:srgbClr val="AC9976"/>
              </a:solidFill>
              <a:latin typeface="Lucida Sans Unicode"/>
              <a:cs typeface="Lucida Sans Unicod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1999" cy="6857999"/>
            <a:chOff x="0" y="0"/>
            <a:chExt cx="12191999" cy="6857999"/>
          </a:xfrm>
        </p:grpSpPr>
        <p:sp>
          <p:nvSpPr>
            <p:cNvPr id="3" name="object 3"/>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575757"/>
              </a:solidFill>
            </a:ln>
          </p:spPr>
          <p:txBody>
            <a:bodyPr wrap="square" lIns="0" tIns="0" rIns="0" bIns="0" rtlCol="0"/>
            <a:lstStyle/>
            <a:p>
              <a:endParaRPr/>
            </a:p>
          </p:txBody>
        </p:sp>
        <p:sp>
          <p:nvSpPr>
            <p:cNvPr id="4" name="object 4"/>
            <p:cNvSpPr/>
            <p:nvPr/>
          </p:nvSpPr>
          <p:spPr>
            <a:xfrm>
              <a:off x="11120500" y="309625"/>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pic>
          <p:nvPicPr>
            <p:cNvPr id="5" name="object 5"/>
            <p:cNvPicPr/>
            <p:nvPr/>
          </p:nvPicPr>
          <p:blipFill>
            <a:blip r:embed="rId2" cstate="print"/>
            <a:stretch>
              <a:fillRect/>
            </a:stretch>
          </p:blipFill>
          <p:spPr>
            <a:xfrm>
              <a:off x="11766807" y="339886"/>
              <a:ext cx="147284" cy="68676"/>
            </a:xfrm>
            <a:prstGeom prst="rect">
              <a:avLst/>
            </a:prstGeom>
          </p:spPr>
        </p:pic>
        <p:sp>
          <p:nvSpPr>
            <p:cNvPr id="6" name="object 6"/>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AC9976"/>
            </a:solidFill>
          </p:spPr>
          <p:txBody>
            <a:bodyPr wrap="square" lIns="0" tIns="0" rIns="0" bIns="0" rtlCol="0"/>
            <a:lstStyle/>
            <a:p>
              <a:endParaRPr/>
            </a:p>
          </p:txBody>
        </p:sp>
        <p:pic>
          <p:nvPicPr>
            <p:cNvPr id="7" name="object 7"/>
            <p:cNvPicPr/>
            <p:nvPr/>
          </p:nvPicPr>
          <p:blipFill>
            <a:blip r:embed="rId3" cstate="print">
              <a:extLst>
                <a:ext uri="{28A0092B-C50C-407E-A947-70E740481C1C}">
                  <a14:useLocalDpi xmlns:a14="http://schemas.microsoft.com/office/drawing/2010/main" val="0"/>
                </a:ext>
              </a:extLst>
            </a:blip>
            <a:srcRect/>
            <a:stretch/>
          </p:blipFill>
          <p:spPr>
            <a:xfrm>
              <a:off x="0" y="0"/>
              <a:ext cx="12191999" cy="6857999"/>
            </a:xfrm>
            <a:prstGeom prst="rect">
              <a:avLst/>
            </a:prstGeom>
          </p:spPr>
        </p:pic>
        <p:sp>
          <p:nvSpPr>
            <p:cNvPr id="8" name="object 8"/>
            <p:cNvSpPr/>
            <p:nvPr/>
          </p:nvSpPr>
          <p:spPr>
            <a:xfrm>
              <a:off x="0" y="2247897"/>
              <a:ext cx="11673205" cy="4610100"/>
            </a:xfrm>
            <a:custGeom>
              <a:avLst/>
              <a:gdLst/>
              <a:ahLst/>
              <a:cxnLst/>
              <a:rect l="l" t="t" r="r" b="b"/>
              <a:pathLst>
                <a:path w="11673205" h="4610100">
                  <a:moveTo>
                    <a:pt x="7756077" y="4572000"/>
                  </a:moveTo>
                  <a:lnTo>
                    <a:pt x="3411057" y="4572000"/>
                  </a:lnTo>
                  <a:lnTo>
                    <a:pt x="3445281" y="4610100"/>
                  </a:lnTo>
                  <a:lnTo>
                    <a:pt x="7729320" y="4610100"/>
                  </a:lnTo>
                  <a:lnTo>
                    <a:pt x="7756077" y="4572000"/>
                  </a:lnTo>
                  <a:close/>
                </a:path>
                <a:path w="11673205" h="4610100">
                  <a:moveTo>
                    <a:pt x="7857759" y="4495800"/>
                  </a:moveTo>
                  <a:lnTo>
                    <a:pt x="3307618" y="4495800"/>
                  </a:lnTo>
                  <a:lnTo>
                    <a:pt x="3376705" y="4572000"/>
                  </a:lnTo>
                  <a:lnTo>
                    <a:pt x="7782301" y="4572000"/>
                  </a:lnTo>
                  <a:lnTo>
                    <a:pt x="7807992" y="4533900"/>
                  </a:lnTo>
                  <a:lnTo>
                    <a:pt x="7833146" y="4533900"/>
                  </a:lnTo>
                  <a:lnTo>
                    <a:pt x="7857759" y="4495800"/>
                  </a:lnTo>
                  <a:close/>
                </a:path>
                <a:path w="11673205" h="4610100">
                  <a:moveTo>
                    <a:pt x="7905354" y="4457700"/>
                  </a:moveTo>
                  <a:lnTo>
                    <a:pt x="3238025" y="4457700"/>
                  </a:lnTo>
                  <a:lnTo>
                    <a:pt x="3272885" y="4495800"/>
                  </a:lnTo>
                  <a:lnTo>
                    <a:pt x="7881830" y="4495800"/>
                  </a:lnTo>
                  <a:lnTo>
                    <a:pt x="7905354" y="4457700"/>
                  </a:lnTo>
                  <a:close/>
                </a:path>
                <a:path w="11673205" h="4610100">
                  <a:moveTo>
                    <a:pt x="7993935" y="4381500"/>
                  </a:moveTo>
                  <a:lnTo>
                    <a:pt x="3132691" y="4381500"/>
                  </a:lnTo>
                  <a:lnTo>
                    <a:pt x="3203039" y="4457700"/>
                  </a:lnTo>
                  <a:lnTo>
                    <a:pt x="7928330" y="4457700"/>
                  </a:lnTo>
                  <a:lnTo>
                    <a:pt x="7950754" y="4419600"/>
                  </a:lnTo>
                  <a:lnTo>
                    <a:pt x="7972624" y="4419600"/>
                  </a:lnTo>
                  <a:lnTo>
                    <a:pt x="7993935" y="4381500"/>
                  </a:lnTo>
                  <a:close/>
                </a:path>
                <a:path w="11673205" h="4610100">
                  <a:moveTo>
                    <a:pt x="8127260" y="4267200"/>
                  </a:moveTo>
                  <a:lnTo>
                    <a:pt x="2990504" y="4267200"/>
                  </a:lnTo>
                  <a:lnTo>
                    <a:pt x="3097331" y="4381500"/>
                  </a:lnTo>
                  <a:lnTo>
                    <a:pt x="8014687" y="4381500"/>
                  </a:lnTo>
                  <a:lnTo>
                    <a:pt x="8034874" y="4343400"/>
                  </a:lnTo>
                  <a:lnTo>
                    <a:pt x="8054496" y="4343400"/>
                  </a:lnTo>
                  <a:lnTo>
                    <a:pt x="8073548" y="4305300"/>
                  </a:lnTo>
                  <a:lnTo>
                    <a:pt x="8109933" y="4305300"/>
                  </a:lnTo>
                  <a:lnTo>
                    <a:pt x="8127260" y="4267200"/>
                  </a:lnTo>
                  <a:close/>
                </a:path>
                <a:path w="11673205" h="4610100">
                  <a:moveTo>
                    <a:pt x="6975331" y="4013200"/>
                  </a:moveTo>
                  <a:lnTo>
                    <a:pt x="2663432" y="4013200"/>
                  </a:lnTo>
                  <a:lnTo>
                    <a:pt x="2810007" y="4165600"/>
                  </a:lnTo>
                  <a:lnTo>
                    <a:pt x="2846350" y="4165600"/>
                  </a:lnTo>
                  <a:lnTo>
                    <a:pt x="2954649" y="4267200"/>
                  </a:lnTo>
                  <a:lnTo>
                    <a:pt x="8144006" y="4267200"/>
                  </a:lnTo>
                  <a:lnTo>
                    <a:pt x="8160168" y="4241800"/>
                  </a:lnTo>
                  <a:lnTo>
                    <a:pt x="8190729" y="4241800"/>
                  </a:lnTo>
                  <a:lnTo>
                    <a:pt x="8228487" y="4203700"/>
                  </a:lnTo>
                  <a:lnTo>
                    <a:pt x="8230961" y="4203700"/>
                  </a:lnTo>
                  <a:lnTo>
                    <a:pt x="8256146" y="4165600"/>
                  </a:lnTo>
                  <a:lnTo>
                    <a:pt x="8293120" y="4127500"/>
                  </a:lnTo>
                  <a:lnTo>
                    <a:pt x="8331936" y="4089400"/>
                  </a:lnTo>
                  <a:lnTo>
                    <a:pt x="7314984" y="4089400"/>
                  </a:lnTo>
                  <a:lnTo>
                    <a:pt x="7266702" y="4051300"/>
                  </a:lnTo>
                  <a:lnTo>
                    <a:pt x="7024115" y="4051300"/>
                  </a:lnTo>
                  <a:lnTo>
                    <a:pt x="6975331" y="4013200"/>
                  </a:lnTo>
                  <a:close/>
                </a:path>
                <a:path w="11673205" h="4610100">
                  <a:moveTo>
                    <a:pt x="8362645" y="4051300"/>
                  </a:moveTo>
                  <a:lnTo>
                    <a:pt x="8176763" y="4051300"/>
                  </a:lnTo>
                  <a:lnTo>
                    <a:pt x="8129022" y="4089400"/>
                  </a:lnTo>
                  <a:lnTo>
                    <a:pt x="8331936" y="4089400"/>
                  </a:lnTo>
                  <a:lnTo>
                    <a:pt x="8362645" y="4051300"/>
                  </a:lnTo>
                  <a:close/>
                </a:path>
                <a:path w="11673205" h="4610100">
                  <a:moveTo>
                    <a:pt x="34708" y="0"/>
                  </a:moveTo>
                  <a:lnTo>
                    <a:pt x="0" y="0"/>
                  </a:lnTo>
                  <a:lnTo>
                    <a:pt x="0" y="1308100"/>
                  </a:lnTo>
                  <a:lnTo>
                    <a:pt x="321810" y="1574800"/>
                  </a:lnTo>
                  <a:lnTo>
                    <a:pt x="368337" y="1651000"/>
                  </a:lnTo>
                  <a:lnTo>
                    <a:pt x="556298" y="1803400"/>
                  </a:lnTo>
                  <a:lnTo>
                    <a:pt x="603734" y="1879600"/>
                  </a:lnTo>
                  <a:lnTo>
                    <a:pt x="747064" y="1981200"/>
                  </a:lnTo>
                  <a:lnTo>
                    <a:pt x="795170" y="2057400"/>
                  </a:lnTo>
                  <a:lnTo>
                    <a:pt x="891855" y="2133600"/>
                  </a:lnTo>
                  <a:lnTo>
                    <a:pt x="940428" y="2209800"/>
                  </a:lnTo>
                  <a:lnTo>
                    <a:pt x="989151" y="2247900"/>
                  </a:lnTo>
                  <a:lnTo>
                    <a:pt x="1038019" y="2324100"/>
                  </a:lnTo>
                  <a:lnTo>
                    <a:pt x="1087031" y="2362200"/>
                  </a:lnTo>
                  <a:lnTo>
                    <a:pt x="1136182" y="2438400"/>
                  </a:lnTo>
                  <a:lnTo>
                    <a:pt x="1185470" y="2476500"/>
                  </a:lnTo>
                  <a:lnTo>
                    <a:pt x="1234890" y="2552700"/>
                  </a:lnTo>
                  <a:lnTo>
                    <a:pt x="1284441" y="2590800"/>
                  </a:lnTo>
                  <a:lnTo>
                    <a:pt x="1334118" y="2667000"/>
                  </a:lnTo>
                  <a:lnTo>
                    <a:pt x="1383918" y="2692400"/>
                  </a:lnTo>
                  <a:lnTo>
                    <a:pt x="1424452" y="2768600"/>
                  </a:lnTo>
                  <a:lnTo>
                    <a:pt x="1545418" y="2882900"/>
                  </a:lnTo>
                  <a:lnTo>
                    <a:pt x="1585527" y="2959100"/>
                  </a:lnTo>
                  <a:lnTo>
                    <a:pt x="1744883" y="3111500"/>
                  </a:lnTo>
                  <a:lnTo>
                    <a:pt x="1784450" y="3187700"/>
                  </a:lnTo>
                  <a:lnTo>
                    <a:pt x="1902494" y="3302000"/>
                  </a:lnTo>
                  <a:lnTo>
                    <a:pt x="2174033" y="3556000"/>
                  </a:lnTo>
                  <a:lnTo>
                    <a:pt x="2402353" y="3784600"/>
                  </a:lnTo>
                  <a:lnTo>
                    <a:pt x="2626489" y="4013200"/>
                  </a:lnTo>
                  <a:lnTo>
                    <a:pt x="6779160" y="4013200"/>
                  </a:lnTo>
                  <a:lnTo>
                    <a:pt x="6729835" y="3975100"/>
                  </a:lnTo>
                  <a:lnTo>
                    <a:pt x="6630818" y="3975100"/>
                  </a:lnTo>
                  <a:lnTo>
                    <a:pt x="6581116" y="3937000"/>
                  </a:lnTo>
                  <a:lnTo>
                    <a:pt x="6481303" y="3937000"/>
                  </a:lnTo>
                  <a:lnTo>
                    <a:pt x="6431183" y="3898900"/>
                  </a:lnTo>
                  <a:lnTo>
                    <a:pt x="6330493" y="3898900"/>
                  </a:lnTo>
                  <a:lnTo>
                    <a:pt x="6279915" y="3860800"/>
                  </a:lnTo>
                  <a:lnTo>
                    <a:pt x="6229175" y="3860800"/>
                  </a:lnTo>
                  <a:lnTo>
                    <a:pt x="6178269" y="3822700"/>
                  </a:lnTo>
                  <a:lnTo>
                    <a:pt x="6127193" y="3822700"/>
                  </a:lnTo>
                  <a:lnTo>
                    <a:pt x="6075941" y="3784600"/>
                  </a:lnTo>
                  <a:lnTo>
                    <a:pt x="6024510" y="3784600"/>
                  </a:lnTo>
                  <a:lnTo>
                    <a:pt x="5972895" y="3746500"/>
                  </a:lnTo>
                  <a:lnTo>
                    <a:pt x="5921092" y="3746500"/>
                  </a:lnTo>
                  <a:lnTo>
                    <a:pt x="5884548" y="3708400"/>
                  </a:lnTo>
                  <a:lnTo>
                    <a:pt x="5811169" y="3708400"/>
                  </a:lnTo>
                  <a:lnTo>
                    <a:pt x="5774331" y="3670300"/>
                  </a:lnTo>
                  <a:lnTo>
                    <a:pt x="5737392" y="3670300"/>
                  </a:lnTo>
                  <a:lnTo>
                    <a:pt x="5700349" y="3632200"/>
                  </a:lnTo>
                  <a:lnTo>
                    <a:pt x="5663203" y="3632200"/>
                  </a:lnTo>
                  <a:lnTo>
                    <a:pt x="5625951" y="3594100"/>
                  </a:lnTo>
                  <a:lnTo>
                    <a:pt x="5551124" y="3594100"/>
                  </a:lnTo>
                  <a:lnTo>
                    <a:pt x="5513545" y="3556000"/>
                  </a:lnTo>
                  <a:lnTo>
                    <a:pt x="5475855" y="3556000"/>
                  </a:lnTo>
                  <a:lnTo>
                    <a:pt x="5438051" y="3517900"/>
                  </a:lnTo>
                  <a:lnTo>
                    <a:pt x="5400132" y="3517900"/>
                  </a:lnTo>
                  <a:lnTo>
                    <a:pt x="5362097" y="3479800"/>
                  </a:lnTo>
                  <a:lnTo>
                    <a:pt x="5323944" y="3479800"/>
                  </a:lnTo>
                  <a:lnTo>
                    <a:pt x="5285671" y="3454400"/>
                  </a:lnTo>
                  <a:lnTo>
                    <a:pt x="5247277" y="3454400"/>
                  </a:lnTo>
                  <a:lnTo>
                    <a:pt x="5170119" y="3378200"/>
                  </a:lnTo>
                  <a:lnTo>
                    <a:pt x="5131353" y="3378200"/>
                  </a:lnTo>
                  <a:lnTo>
                    <a:pt x="5092459" y="3340100"/>
                  </a:lnTo>
                  <a:lnTo>
                    <a:pt x="5053437" y="3340100"/>
                  </a:lnTo>
                  <a:lnTo>
                    <a:pt x="5014284" y="3302000"/>
                  </a:lnTo>
                  <a:lnTo>
                    <a:pt x="4974999" y="3302000"/>
                  </a:lnTo>
                  <a:lnTo>
                    <a:pt x="4896028" y="3225800"/>
                  </a:lnTo>
                  <a:lnTo>
                    <a:pt x="4856339" y="3225800"/>
                  </a:lnTo>
                  <a:lnTo>
                    <a:pt x="4776545" y="3149600"/>
                  </a:lnTo>
                  <a:lnTo>
                    <a:pt x="4736437" y="3149600"/>
                  </a:lnTo>
                  <a:lnTo>
                    <a:pt x="4696186" y="3111500"/>
                  </a:lnTo>
                  <a:lnTo>
                    <a:pt x="4655792" y="3111500"/>
                  </a:lnTo>
                  <a:lnTo>
                    <a:pt x="4533728" y="2997200"/>
                  </a:lnTo>
                  <a:lnTo>
                    <a:pt x="4492741" y="2997200"/>
                  </a:lnTo>
                  <a:lnTo>
                    <a:pt x="4410312" y="2921000"/>
                  </a:lnTo>
                  <a:lnTo>
                    <a:pt x="4368865" y="2921000"/>
                  </a:lnTo>
                  <a:lnTo>
                    <a:pt x="4243581" y="2806700"/>
                  </a:lnTo>
                  <a:lnTo>
                    <a:pt x="4201500" y="2806700"/>
                  </a:lnTo>
                  <a:lnTo>
                    <a:pt x="4031535" y="2667000"/>
                  </a:lnTo>
                  <a:lnTo>
                    <a:pt x="3988626" y="2667000"/>
                  </a:lnTo>
                  <a:lnTo>
                    <a:pt x="3771496" y="2476500"/>
                  </a:lnTo>
                  <a:lnTo>
                    <a:pt x="3683410" y="2400300"/>
                  </a:lnTo>
                  <a:lnTo>
                    <a:pt x="3639097" y="2400300"/>
                  </a:lnTo>
                  <a:lnTo>
                    <a:pt x="3414760" y="2209800"/>
                  </a:lnTo>
                  <a:lnTo>
                    <a:pt x="3185670" y="2019300"/>
                  </a:lnTo>
                  <a:lnTo>
                    <a:pt x="2951635" y="1841500"/>
                  </a:lnTo>
                  <a:lnTo>
                    <a:pt x="2904217" y="1803400"/>
                  </a:lnTo>
                  <a:lnTo>
                    <a:pt x="2856593" y="1727200"/>
                  </a:lnTo>
                  <a:lnTo>
                    <a:pt x="2615311" y="1536700"/>
                  </a:lnTo>
                  <a:lnTo>
                    <a:pt x="2566412" y="1498600"/>
                  </a:lnTo>
                  <a:lnTo>
                    <a:pt x="2515448" y="1422400"/>
                  </a:lnTo>
                  <a:lnTo>
                    <a:pt x="1658054" y="787400"/>
                  </a:lnTo>
                  <a:lnTo>
                    <a:pt x="1509078" y="673100"/>
                  </a:lnTo>
                  <a:lnTo>
                    <a:pt x="1459613" y="673100"/>
                  </a:lnTo>
                  <a:lnTo>
                    <a:pt x="1311833" y="558800"/>
                  </a:lnTo>
                  <a:lnTo>
                    <a:pt x="1262787" y="558800"/>
                  </a:lnTo>
                  <a:lnTo>
                    <a:pt x="1116332" y="444500"/>
                  </a:lnTo>
                  <a:lnTo>
                    <a:pt x="1067750" y="444500"/>
                  </a:lnTo>
                  <a:lnTo>
                    <a:pt x="970955" y="368300"/>
                  </a:lnTo>
                  <a:lnTo>
                    <a:pt x="922749" y="368300"/>
                  </a:lnTo>
                  <a:lnTo>
                    <a:pt x="874672" y="342900"/>
                  </a:lnTo>
                  <a:lnTo>
                    <a:pt x="826730" y="342900"/>
                  </a:lnTo>
                  <a:lnTo>
                    <a:pt x="731255" y="266700"/>
                  </a:lnTo>
                  <a:lnTo>
                    <a:pt x="683728" y="266700"/>
                  </a:lnTo>
                  <a:lnTo>
                    <a:pt x="636346" y="228600"/>
                  </a:lnTo>
                  <a:lnTo>
                    <a:pt x="589110" y="228600"/>
                  </a:lnTo>
                  <a:lnTo>
                    <a:pt x="542023" y="190500"/>
                  </a:lnTo>
                  <a:lnTo>
                    <a:pt x="495089" y="190500"/>
                  </a:lnTo>
                  <a:lnTo>
                    <a:pt x="448310" y="152400"/>
                  </a:lnTo>
                  <a:lnTo>
                    <a:pt x="401688" y="152400"/>
                  </a:lnTo>
                  <a:lnTo>
                    <a:pt x="355226" y="114300"/>
                  </a:lnTo>
                  <a:lnTo>
                    <a:pt x="308928" y="114300"/>
                  </a:lnTo>
                  <a:lnTo>
                    <a:pt x="262795" y="76200"/>
                  </a:lnTo>
                  <a:lnTo>
                    <a:pt x="171036" y="76200"/>
                  </a:lnTo>
                  <a:lnTo>
                    <a:pt x="125416" y="38100"/>
                  </a:lnTo>
                  <a:lnTo>
                    <a:pt x="79973" y="38100"/>
                  </a:lnTo>
                  <a:lnTo>
                    <a:pt x="34708" y="0"/>
                  </a:lnTo>
                  <a:close/>
                </a:path>
                <a:path w="11673205" h="4610100">
                  <a:moveTo>
                    <a:pt x="10071093" y="2362200"/>
                  </a:moveTo>
                  <a:lnTo>
                    <a:pt x="8047383" y="2362200"/>
                  </a:lnTo>
                  <a:lnTo>
                    <a:pt x="7832163" y="2514600"/>
                  </a:lnTo>
                  <a:lnTo>
                    <a:pt x="7777663" y="2514600"/>
                  </a:lnTo>
                  <a:lnTo>
                    <a:pt x="7556934" y="2667000"/>
                  </a:lnTo>
                  <a:lnTo>
                    <a:pt x="7217835" y="2882900"/>
                  </a:lnTo>
                  <a:lnTo>
                    <a:pt x="7164136" y="2921000"/>
                  </a:lnTo>
                  <a:lnTo>
                    <a:pt x="7112334" y="2959100"/>
                  </a:lnTo>
                  <a:lnTo>
                    <a:pt x="7062322" y="2959100"/>
                  </a:lnTo>
                  <a:lnTo>
                    <a:pt x="7013996" y="2997200"/>
                  </a:lnTo>
                  <a:lnTo>
                    <a:pt x="6967250" y="3035300"/>
                  </a:lnTo>
                  <a:lnTo>
                    <a:pt x="6921979" y="3073400"/>
                  </a:lnTo>
                  <a:lnTo>
                    <a:pt x="6878077" y="3111500"/>
                  </a:lnTo>
                  <a:lnTo>
                    <a:pt x="6753535" y="3187700"/>
                  </a:lnTo>
                  <a:lnTo>
                    <a:pt x="6675424" y="3225800"/>
                  </a:lnTo>
                  <a:lnTo>
                    <a:pt x="6637528" y="3263900"/>
                  </a:lnTo>
                  <a:lnTo>
                    <a:pt x="6600263" y="3302000"/>
                  </a:lnTo>
                  <a:lnTo>
                    <a:pt x="6563526" y="3302000"/>
                  </a:lnTo>
                  <a:lnTo>
                    <a:pt x="6491210" y="3378200"/>
                  </a:lnTo>
                  <a:lnTo>
                    <a:pt x="6516537" y="3378200"/>
                  </a:lnTo>
                  <a:lnTo>
                    <a:pt x="6548325" y="3416300"/>
                  </a:lnTo>
                  <a:lnTo>
                    <a:pt x="6581290" y="3454400"/>
                  </a:lnTo>
                  <a:lnTo>
                    <a:pt x="6615399" y="3454400"/>
                  </a:lnTo>
                  <a:lnTo>
                    <a:pt x="6650620" y="3479800"/>
                  </a:lnTo>
                  <a:lnTo>
                    <a:pt x="6686918" y="3479800"/>
                  </a:lnTo>
                  <a:lnTo>
                    <a:pt x="6724262" y="3517900"/>
                  </a:lnTo>
                  <a:lnTo>
                    <a:pt x="6762616" y="3556000"/>
                  </a:lnTo>
                  <a:lnTo>
                    <a:pt x="6801949" y="3556000"/>
                  </a:lnTo>
                  <a:lnTo>
                    <a:pt x="6842227" y="3594100"/>
                  </a:lnTo>
                  <a:lnTo>
                    <a:pt x="6883416" y="3594100"/>
                  </a:lnTo>
                  <a:lnTo>
                    <a:pt x="6925483" y="3632200"/>
                  </a:lnTo>
                  <a:lnTo>
                    <a:pt x="6968396" y="3670300"/>
                  </a:lnTo>
                  <a:lnTo>
                    <a:pt x="7012120" y="3670300"/>
                  </a:lnTo>
                  <a:lnTo>
                    <a:pt x="7056623" y="3708400"/>
                  </a:lnTo>
                  <a:lnTo>
                    <a:pt x="7101871" y="3708400"/>
                  </a:lnTo>
                  <a:lnTo>
                    <a:pt x="7147831" y="3746500"/>
                  </a:lnTo>
                  <a:lnTo>
                    <a:pt x="7194470" y="3746500"/>
                  </a:lnTo>
                  <a:lnTo>
                    <a:pt x="7241754" y="3784600"/>
                  </a:lnTo>
                  <a:lnTo>
                    <a:pt x="7289651" y="3784600"/>
                  </a:lnTo>
                  <a:lnTo>
                    <a:pt x="7338126" y="3822700"/>
                  </a:lnTo>
                  <a:lnTo>
                    <a:pt x="7387147" y="3822700"/>
                  </a:lnTo>
                  <a:lnTo>
                    <a:pt x="7436681" y="3860800"/>
                  </a:lnTo>
                  <a:lnTo>
                    <a:pt x="7486693" y="3860800"/>
                  </a:lnTo>
                  <a:lnTo>
                    <a:pt x="7537152" y="3898900"/>
                  </a:lnTo>
                  <a:lnTo>
                    <a:pt x="7639273" y="3898900"/>
                  </a:lnTo>
                  <a:lnTo>
                    <a:pt x="7690870" y="3937000"/>
                  </a:lnTo>
                  <a:lnTo>
                    <a:pt x="7794968" y="3937000"/>
                  </a:lnTo>
                  <a:lnTo>
                    <a:pt x="7847403" y="3975100"/>
                  </a:lnTo>
                  <a:lnTo>
                    <a:pt x="7952879" y="3975100"/>
                  </a:lnTo>
                  <a:lnTo>
                    <a:pt x="8005854" y="4013200"/>
                  </a:lnTo>
                  <a:lnTo>
                    <a:pt x="8377981" y="4013200"/>
                  </a:lnTo>
                  <a:lnTo>
                    <a:pt x="8420229" y="3975100"/>
                  </a:lnTo>
                  <a:lnTo>
                    <a:pt x="8460058" y="3937000"/>
                  </a:lnTo>
                  <a:lnTo>
                    <a:pt x="8497760" y="3898900"/>
                  </a:lnTo>
                  <a:lnTo>
                    <a:pt x="8533625" y="3860800"/>
                  </a:lnTo>
                  <a:lnTo>
                    <a:pt x="8567944" y="3822700"/>
                  </a:lnTo>
                  <a:lnTo>
                    <a:pt x="8601007" y="3784600"/>
                  </a:lnTo>
                  <a:lnTo>
                    <a:pt x="8633104" y="3746500"/>
                  </a:lnTo>
                  <a:lnTo>
                    <a:pt x="8664526" y="3708400"/>
                  </a:lnTo>
                  <a:lnTo>
                    <a:pt x="8757648" y="3594100"/>
                  </a:lnTo>
                  <a:lnTo>
                    <a:pt x="8821680" y="3517900"/>
                  </a:lnTo>
                  <a:lnTo>
                    <a:pt x="8855153" y="3479800"/>
                  </a:lnTo>
                  <a:lnTo>
                    <a:pt x="8889984" y="3454400"/>
                  </a:lnTo>
                  <a:lnTo>
                    <a:pt x="8926464" y="3416300"/>
                  </a:lnTo>
                  <a:lnTo>
                    <a:pt x="8990774" y="3340100"/>
                  </a:lnTo>
                  <a:lnTo>
                    <a:pt x="9054324" y="3302000"/>
                  </a:lnTo>
                  <a:lnTo>
                    <a:pt x="9117118" y="3225800"/>
                  </a:lnTo>
                  <a:lnTo>
                    <a:pt x="9179157" y="3149600"/>
                  </a:lnTo>
                  <a:lnTo>
                    <a:pt x="9240444" y="3073400"/>
                  </a:lnTo>
                  <a:lnTo>
                    <a:pt x="9300982" y="3035300"/>
                  </a:lnTo>
                  <a:lnTo>
                    <a:pt x="9360772" y="2959100"/>
                  </a:lnTo>
                  <a:lnTo>
                    <a:pt x="9419818" y="2921000"/>
                  </a:lnTo>
                  <a:lnTo>
                    <a:pt x="9478120" y="2844800"/>
                  </a:lnTo>
                  <a:lnTo>
                    <a:pt x="9592507" y="2768600"/>
                  </a:lnTo>
                  <a:lnTo>
                    <a:pt x="9648595" y="2692400"/>
                  </a:lnTo>
                  <a:lnTo>
                    <a:pt x="9758574" y="2628900"/>
                  </a:lnTo>
                  <a:lnTo>
                    <a:pt x="9812469" y="2590800"/>
                  </a:lnTo>
                  <a:lnTo>
                    <a:pt x="9865637" y="2514600"/>
                  </a:lnTo>
                  <a:lnTo>
                    <a:pt x="9969804" y="2438400"/>
                  </a:lnTo>
                  <a:lnTo>
                    <a:pt x="10020807" y="2400300"/>
                  </a:lnTo>
                  <a:lnTo>
                    <a:pt x="10071093" y="2362200"/>
                  </a:lnTo>
                  <a:close/>
                </a:path>
                <a:path w="11673205" h="4610100">
                  <a:moveTo>
                    <a:pt x="10447837" y="2133600"/>
                  </a:moveTo>
                  <a:lnTo>
                    <a:pt x="8514901" y="2133600"/>
                  </a:lnTo>
                  <a:lnTo>
                    <a:pt x="8413052" y="2209800"/>
                  </a:lnTo>
                  <a:lnTo>
                    <a:pt x="8361685" y="2209800"/>
                  </a:lnTo>
                  <a:lnTo>
                    <a:pt x="8258072" y="2286000"/>
                  </a:lnTo>
                  <a:lnTo>
                    <a:pt x="8205830" y="2286000"/>
                  </a:lnTo>
                  <a:lnTo>
                    <a:pt x="8100484" y="2362200"/>
                  </a:lnTo>
                  <a:lnTo>
                    <a:pt x="10120664" y="2362200"/>
                  </a:lnTo>
                  <a:lnTo>
                    <a:pt x="10169522" y="2324100"/>
                  </a:lnTo>
                  <a:lnTo>
                    <a:pt x="10217670" y="2286000"/>
                  </a:lnTo>
                  <a:lnTo>
                    <a:pt x="10265110" y="2247900"/>
                  </a:lnTo>
                  <a:lnTo>
                    <a:pt x="10311845" y="2209800"/>
                  </a:lnTo>
                  <a:lnTo>
                    <a:pt x="10357876" y="2171700"/>
                  </a:lnTo>
                  <a:lnTo>
                    <a:pt x="10403206" y="2171700"/>
                  </a:lnTo>
                  <a:lnTo>
                    <a:pt x="10447837" y="2133600"/>
                  </a:lnTo>
                  <a:close/>
                </a:path>
                <a:path w="11673205" h="4610100">
                  <a:moveTo>
                    <a:pt x="10660595" y="2019300"/>
                  </a:moveTo>
                  <a:lnTo>
                    <a:pt x="8764273" y="2019300"/>
                  </a:lnTo>
                  <a:lnTo>
                    <a:pt x="8665432" y="2095500"/>
                  </a:lnTo>
                  <a:lnTo>
                    <a:pt x="8615556" y="2095500"/>
                  </a:lnTo>
                  <a:lnTo>
                    <a:pt x="8565378" y="2133600"/>
                  </a:lnTo>
                  <a:lnTo>
                    <a:pt x="10491772" y="2133600"/>
                  </a:lnTo>
                  <a:lnTo>
                    <a:pt x="10535013" y="2095500"/>
                  </a:lnTo>
                  <a:lnTo>
                    <a:pt x="10577563" y="2057400"/>
                  </a:lnTo>
                  <a:lnTo>
                    <a:pt x="10619423" y="2057400"/>
                  </a:lnTo>
                  <a:lnTo>
                    <a:pt x="10660595" y="2019300"/>
                  </a:lnTo>
                  <a:close/>
                </a:path>
                <a:path w="11673205" h="4610100">
                  <a:moveTo>
                    <a:pt x="10740889" y="1981200"/>
                  </a:moveTo>
                  <a:lnTo>
                    <a:pt x="8861887" y="1981200"/>
                  </a:lnTo>
                  <a:lnTo>
                    <a:pt x="8813234" y="2019300"/>
                  </a:lnTo>
                  <a:lnTo>
                    <a:pt x="10701083" y="2019300"/>
                  </a:lnTo>
                  <a:lnTo>
                    <a:pt x="10740889" y="1981200"/>
                  </a:lnTo>
                  <a:close/>
                </a:path>
                <a:path w="11673205" h="4610100">
                  <a:moveTo>
                    <a:pt x="10856234" y="1943100"/>
                  </a:moveTo>
                  <a:lnTo>
                    <a:pt x="8958261" y="1943100"/>
                  </a:lnTo>
                  <a:lnTo>
                    <a:pt x="8910230" y="1981200"/>
                  </a:lnTo>
                  <a:lnTo>
                    <a:pt x="10818462" y="1981200"/>
                  </a:lnTo>
                  <a:lnTo>
                    <a:pt x="10856234" y="1943100"/>
                  </a:lnTo>
                  <a:close/>
                </a:path>
                <a:path w="11673205" h="4610100">
                  <a:moveTo>
                    <a:pt x="10965521" y="1905000"/>
                  </a:moveTo>
                  <a:lnTo>
                    <a:pt x="9053382" y="1905000"/>
                  </a:lnTo>
                  <a:lnTo>
                    <a:pt x="9005979" y="1943100"/>
                  </a:lnTo>
                  <a:lnTo>
                    <a:pt x="10929761" y="1943100"/>
                  </a:lnTo>
                  <a:lnTo>
                    <a:pt x="10965521" y="1905000"/>
                  </a:lnTo>
                  <a:close/>
                </a:path>
                <a:path w="11673205" h="4610100">
                  <a:moveTo>
                    <a:pt x="11068811" y="1879600"/>
                  </a:moveTo>
                  <a:lnTo>
                    <a:pt x="9193683" y="1879600"/>
                  </a:lnTo>
                  <a:lnTo>
                    <a:pt x="9147236" y="1905000"/>
                  </a:lnTo>
                  <a:lnTo>
                    <a:pt x="11035043" y="1905000"/>
                  </a:lnTo>
                  <a:lnTo>
                    <a:pt x="11068811" y="1879600"/>
                  </a:lnTo>
                  <a:close/>
                </a:path>
                <a:path w="11673205" h="4610100">
                  <a:moveTo>
                    <a:pt x="11257654" y="1841500"/>
                  </a:moveTo>
                  <a:lnTo>
                    <a:pt x="9285612" y="1841500"/>
                  </a:lnTo>
                  <a:lnTo>
                    <a:pt x="9239809" y="1879600"/>
                  </a:lnTo>
                  <a:lnTo>
                    <a:pt x="11227807" y="1879600"/>
                  </a:lnTo>
                  <a:lnTo>
                    <a:pt x="11257654" y="1841500"/>
                  </a:lnTo>
                  <a:close/>
                </a:path>
                <a:path w="11673205" h="4610100">
                  <a:moveTo>
                    <a:pt x="11566140" y="1803400"/>
                  </a:moveTo>
                  <a:lnTo>
                    <a:pt x="9421061" y="1803400"/>
                  </a:lnTo>
                  <a:lnTo>
                    <a:pt x="9376239" y="1841500"/>
                  </a:lnTo>
                  <a:lnTo>
                    <a:pt x="11543884" y="1841500"/>
                  </a:lnTo>
                  <a:lnTo>
                    <a:pt x="11566140" y="1803400"/>
                  </a:lnTo>
                  <a:close/>
                </a:path>
                <a:path w="11673205" h="4610100">
                  <a:moveTo>
                    <a:pt x="11638657" y="1765300"/>
                  </a:moveTo>
                  <a:lnTo>
                    <a:pt x="9553538" y="1765300"/>
                  </a:lnTo>
                  <a:lnTo>
                    <a:pt x="9509712" y="1803400"/>
                  </a:lnTo>
                  <a:lnTo>
                    <a:pt x="11672605" y="1803400"/>
                  </a:lnTo>
                  <a:lnTo>
                    <a:pt x="11638657" y="1765300"/>
                  </a:lnTo>
                  <a:close/>
                </a:path>
                <a:path w="11673205" h="4610100">
                  <a:moveTo>
                    <a:pt x="11526216" y="1727200"/>
                  </a:moveTo>
                  <a:lnTo>
                    <a:pt x="9725474" y="1727200"/>
                  </a:lnTo>
                  <a:lnTo>
                    <a:pt x="9682999" y="1765300"/>
                  </a:lnTo>
                  <a:lnTo>
                    <a:pt x="11565449" y="1765300"/>
                  </a:lnTo>
                  <a:lnTo>
                    <a:pt x="11526216" y="1727200"/>
                  </a:lnTo>
                  <a:close/>
                </a:path>
                <a:path w="11673205" h="4610100">
                  <a:moveTo>
                    <a:pt x="11398158" y="1689100"/>
                  </a:moveTo>
                  <a:lnTo>
                    <a:pt x="9891937" y="1689100"/>
                  </a:lnTo>
                  <a:lnTo>
                    <a:pt x="9850840" y="1727200"/>
                  </a:lnTo>
                  <a:lnTo>
                    <a:pt x="11442557" y="1727200"/>
                  </a:lnTo>
                  <a:lnTo>
                    <a:pt x="11398158" y="1689100"/>
                  </a:lnTo>
                  <a:close/>
                </a:path>
                <a:path w="11673205" h="4610100">
                  <a:moveTo>
                    <a:pt x="11254842" y="1651000"/>
                  </a:moveTo>
                  <a:lnTo>
                    <a:pt x="10092159" y="1651000"/>
                  </a:lnTo>
                  <a:lnTo>
                    <a:pt x="10052822" y="1689100"/>
                  </a:lnTo>
                  <a:lnTo>
                    <a:pt x="11304288" y="1689100"/>
                  </a:lnTo>
                  <a:lnTo>
                    <a:pt x="11254842" y="1651000"/>
                  </a:lnTo>
                  <a:close/>
                </a:path>
                <a:path w="11673205" h="4610100">
                  <a:moveTo>
                    <a:pt x="10983051" y="1612900"/>
                  </a:moveTo>
                  <a:lnTo>
                    <a:pt x="10429917" y="1612900"/>
                  </a:lnTo>
                  <a:lnTo>
                    <a:pt x="10393855" y="1651000"/>
                  </a:lnTo>
                  <a:lnTo>
                    <a:pt x="11040641" y="1651000"/>
                  </a:lnTo>
                  <a:lnTo>
                    <a:pt x="10983051" y="1612900"/>
                  </a:lnTo>
                  <a:close/>
                </a:path>
              </a:pathLst>
            </a:custGeom>
            <a:solidFill>
              <a:srgbClr val="FFFFFF">
                <a:alpha val="17646"/>
              </a:srgbClr>
            </a:solidFill>
          </p:spPr>
          <p:txBody>
            <a:bodyPr wrap="square" lIns="0" tIns="0" rIns="0" bIns="0" rtlCol="0"/>
            <a:lstStyle/>
            <a:p>
              <a:endParaRPr/>
            </a:p>
          </p:txBody>
        </p:sp>
        <p:sp>
          <p:nvSpPr>
            <p:cNvPr id="9" name="object 9"/>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12" name="object 12"/>
          <p:cNvSpPr txBox="1">
            <a:spLocks noGrp="1"/>
          </p:cNvSpPr>
          <p:nvPr>
            <p:ph type="title"/>
          </p:nvPr>
        </p:nvSpPr>
        <p:spPr>
          <a:xfrm>
            <a:off x="1143000" y="1722719"/>
            <a:ext cx="2806700" cy="1050352"/>
          </a:xfrm>
          <a:prstGeom prst="rect">
            <a:avLst/>
          </a:prstGeom>
        </p:spPr>
        <p:txBody>
          <a:bodyPr vert="horz" wrap="square" lIns="0" tIns="11430" rIns="0" bIns="0" rtlCol="0">
            <a:spAutoFit/>
          </a:bodyPr>
          <a:lstStyle/>
          <a:p>
            <a:pPr marL="12700" marR="5080">
              <a:lnSpc>
                <a:spcPct val="107600"/>
              </a:lnSpc>
              <a:spcBef>
                <a:spcPts val="90"/>
              </a:spcBef>
            </a:pPr>
            <a:r>
              <a:rPr sz="3200" spc="-10" dirty="0">
                <a:solidFill>
                  <a:srgbClr val="FFFFFF"/>
                </a:solidFill>
                <a:latin typeface="Arial Black"/>
                <a:cs typeface="Arial Black"/>
              </a:rPr>
              <a:t>S</a:t>
            </a:r>
            <a:r>
              <a:rPr lang="en-US" sz="3200" spc="-10" dirty="0">
                <a:solidFill>
                  <a:srgbClr val="FFFFFF"/>
                </a:solidFill>
                <a:latin typeface="Arial Black"/>
                <a:cs typeface="Arial Black"/>
              </a:rPr>
              <a:t>tandard King </a:t>
            </a:r>
            <a:endParaRPr sz="3200" dirty="0">
              <a:latin typeface="Arial Black"/>
              <a:cs typeface="Arial Black"/>
            </a:endParaRPr>
          </a:p>
        </p:txBody>
      </p:sp>
      <p:sp>
        <p:nvSpPr>
          <p:cNvPr id="13" name="object 13"/>
          <p:cNvSpPr txBox="1"/>
          <p:nvPr/>
        </p:nvSpPr>
        <p:spPr>
          <a:xfrm>
            <a:off x="6355712" y="4539809"/>
            <a:ext cx="5349872" cy="1715085"/>
          </a:xfrm>
          <a:prstGeom prst="rect">
            <a:avLst/>
          </a:prstGeom>
          <a:effectLst>
            <a:glow rad="63500">
              <a:schemeClr val="accent1">
                <a:satMod val="175000"/>
                <a:alpha val="40000"/>
              </a:schemeClr>
            </a:glow>
          </a:effectLst>
        </p:spPr>
        <p:txBody>
          <a:bodyPr vert="horz" wrap="square" lIns="0" tIns="10795" rIns="0" bIns="0" rtlCol="0">
            <a:spAutoFit/>
          </a:bodyPr>
          <a:lstStyle/>
          <a:p>
            <a:pPr marL="12700" marR="5080">
              <a:lnSpc>
                <a:spcPct val="100800"/>
              </a:lnSpc>
              <a:spcBef>
                <a:spcPts val="85"/>
              </a:spcBef>
            </a:pPr>
            <a:r>
              <a:rPr lang="en-US" sz="1800" dirty="0">
                <a:solidFill>
                  <a:srgbClr val="FFFFFF"/>
                </a:solidFill>
                <a:latin typeface="Lucida Sans Unicode"/>
                <a:cs typeface="Lucida Sans Unicode"/>
              </a:rPr>
              <a:t>The Standard King Room offers refined comfort, featuring a king-size bed, floor-to-ceiling windows with blackout curtains, and a calm, contemporary interior.</a:t>
            </a:r>
          </a:p>
          <a:p>
            <a:pPr marL="12700" marR="5080">
              <a:lnSpc>
                <a:spcPct val="100800"/>
              </a:lnSpc>
              <a:spcBef>
                <a:spcPts val="85"/>
              </a:spcBef>
            </a:pPr>
            <a:endParaRPr lang="en-US" sz="1800" dirty="0">
              <a:solidFill>
                <a:srgbClr val="FFFFFF"/>
              </a:solidFill>
              <a:latin typeface="Lucida Sans Unicode"/>
              <a:cs typeface="Lucida Sans Unicode"/>
            </a:endParaRPr>
          </a:p>
          <a:p>
            <a:pPr marL="12700" marR="5080">
              <a:lnSpc>
                <a:spcPct val="100800"/>
              </a:lnSpc>
              <a:spcBef>
                <a:spcPts val="85"/>
              </a:spcBef>
            </a:pPr>
            <a:r>
              <a:rPr lang="en-US" sz="1800" dirty="0">
                <a:solidFill>
                  <a:srgbClr val="FFFFFF"/>
                </a:solidFill>
                <a:latin typeface="Lucida Sans Unicode"/>
                <a:cs typeface="Lucida Sans Unicode"/>
              </a:rPr>
              <a:t>Room Size: 30 sqm</a:t>
            </a:r>
            <a:endParaRPr lang="en-US" sz="1800" dirty="0">
              <a:latin typeface="Lucida Sans Unicode"/>
              <a:cs typeface="Lucida Sans Unicod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Рисунок 10" descr="Изображение выглядит как стена, в помещении, мебель, дизайн интерьера&#10;&#10;Автоматически созданное описание">
            <a:extLst>
              <a:ext uri="{FF2B5EF4-FFF2-40B4-BE49-F238E27FC236}">
                <a16:creationId xmlns:a16="http://schemas.microsoft.com/office/drawing/2014/main" id="{81A92D49-A4A2-BFD8-79AB-15911277209A}"/>
              </a:ext>
            </a:extLst>
          </p:cNvPr>
          <p:cNvPicPr>
            <a:picLocks noChangeAspect="1"/>
          </p:cNvPicPr>
          <p:nvPr/>
        </p:nvPicPr>
        <p:blipFill>
          <a:blip r:embed="rId2" cstate="print">
            <a:extLst>
              <a:ext uri="{28A0092B-C50C-407E-A947-70E740481C1C}">
                <a14:useLocalDpi xmlns:a14="http://schemas.microsoft.com/office/drawing/2010/main" val="0"/>
              </a:ext>
            </a:extLst>
          </a:blip>
          <a:srcRect t="15457"/>
          <a:stretch/>
        </p:blipFill>
        <p:spPr>
          <a:xfrm>
            <a:off x="0" y="0"/>
            <a:ext cx="12192000" cy="6858000"/>
          </a:xfrm>
          <a:prstGeom prst="rect">
            <a:avLst/>
          </a:prstGeom>
        </p:spPr>
      </p:pic>
      <p:sp>
        <p:nvSpPr>
          <p:cNvPr id="12" name="object 12"/>
          <p:cNvSpPr txBox="1">
            <a:spLocks noGrp="1"/>
          </p:cNvSpPr>
          <p:nvPr>
            <p:ph type="title"/>
          </p:nvPr>
        </p:nvSpPr>
        <p:spPr>
          <a:xfrm>
            <a:off x="1143000" y="1722719"/>
            <a:ext cx="2806700" cy="1050352"/>
          </a:xfrm>
          <a:prstGeom prst="rect">
            <a:avLst/>
          </a:prstGeom>
        </p:spPr>
        <p:txBody>
          <a:bodyPr vert="horz" wrap="square" lIns="0" tIns="11430" rIns="0" bIns="0" rtlCol="0">
            <a:spAutoFit/>
          </a:bodyPr>
          <a:lstStyle/>
          <a:p>
            <a:pPr marL="12700" marR="5080">
              <a:lnSpc>
                <a:spcPct val="107600"/>
              </a:lnSpc>
              <a:spcBef>
                <a:spcPts val="90"/>
              </a:spcBef>
            </a:pPr>
            <a:r>
              <a:rPr sz="3200" spc="-10" dirty="0">
                <a:solidFill>
                  <a:srgbClr val="FFFFFF"/>
                </a:solidFill>
                <a:latin typeface="Arial Black"/>
                <a:cs typeface="Arial Black"/>
              </a:rPr>
              <a:t>S</a:t>
            </a:r>
            <a:r>
              <a:rPr lang="en-US" sz="3200" spc="-10" dirty="0">
                <a:solidFill>
                  <a:srgbClr val="FFFFFF"/>
                </a:solidFill>
                <a:latin typeface="Arial Black"/>
                <a:cs typeface="Arial Black"/>
              </a:rPr>
              <a:t>tandard King </a:t>
            </a:r>
            <a:endParaRPr sz="3200" dirty="0">
              <a:latin typeface="Arial Black"/>
              <a:cs typeface="Arial Black"/>
            </a:endParaRPr>
          </a:p>
        </p:txBody>
      </p:sp>
      <p:sp>
        <p:nvSpPr>
          <p:cNvPr id="2" name="object 13">
            <a:extLst>
              <a:ext uri="{FF2B5EF4-FFF2-40B4-BE49-F238E27FC236}">
                <a16:creationId xmlns:a16="http://schemas.microsoft.com/office/drawing/2014/main" id="{89CD1B1F-BB4A-AECD-5BFB-DA3751415C99}"/>
              </a:ext>
            </a:extLst>
          </p:cNvPr>
          <p:cNvSpPr txBox="1"/>
          <p:nvPr/>
        </p:nvSpPr>
        <p:spPr>
          <a:xfrm>
            <a:off x="6400800" y="4419600"/>
            <a:ext cx="5349872" cy="1702261"/>
          </a:xfrm>
          <a:prstGeom prst="rect">
            <a:avLst/>
          </a:prstGeom>
          <a:effectLst>
            <a:glow rad="63500">
              <a:schemeClr val="accent1">
                <a:satMod val="175000"/>
                <a:alpha val="40000"/>
              </a:schemeClr>
            </a:glow>
          </a:effectLst>
        </p:spPr>
        <p:txBody>
          <a:bodyPr vert="horz" wrap="square" lIns="0" tIns="10795" rIns="0" bIns="0" rtlCol="0">
            <a:spAutoFit/>
          </a:bodyPr>
          <a:lstStyle/>
          <a:p>
            <a:pPr marL="12700" marR="5080">
              <a:lnSpc>
                <a:spcPct val="100800"/>
              </a:lnSpc>
              <a:spcBef>
                <a:spcPts val="85"/>
              </a:spcBef>
            </a:pPr>
            <a:r>
              <a:rPr lang="en-US" b="1" dirty="0">
                <a:solidFill>
                  <a:schemeClr val="bg1"/>
                </a:solidFill>
              </a:rPr>
              <a:t>Work Area</a:t>
            </a:r>
            <a:endParaRPr lang="ru-RU" b="1" dirty="0">
              <a:solidFill>
                <a:schemeClr val="bg1"/>
              </a:solidFill>
            </a:endParaRPr>
          </a:p>
          <a:p>
            <a:pPr marL="12700" marR="5080">
              <a:lnSpc>
                <a:spcPct val="100800"/>
              </a:lnSpc>
              <a:spcBef>
                <a:spcPts val="85"/>
              </a:spcBef>
            </a:pPr>
            <a:br>
              <a:rPr lang="en-US" dirty="0">
                <a:solidFill>
                  <a:schemeClr val="bg1"/>
                </a:solidFill>
              </a:rPr>
            </a:br>
            <a:r>
              <a:rPr lang="en-US" dirty="0">
                <a:solidFill>
                  <a:schemeClr val="bg1"/>
                </a:solidFill>
              </a:rPr>
              <a:t>A thoughtfully designed work area with a comfortable chair, ample desk space, and natural daylight, creating an ideal setting for focused work or planning the day.</a:t>
            </a:r>
            <a:endParaRPr lang="en-US" sz="1800" dirty="0">
              <a:solidFill>
                <a:schemeClr val="bg1"/>
              </a:solidFill>
              <a:latin typeface="Lucida Sans Unicode"/>
              <a:cs typeface="Lucida Sans Unicode"/>
            </a:endParaRPr>
          </a:p>
        </p:txBody>
      </p:sp>
      <p:sp>
        <p:nvSpPr>
          <p:cNvPr id="3" name="object 9">
            <a:extLst>
              <a:ext uri="{FF2B5EF4-FFF2-40B4-BE49-F238E27FC236}">
                <a16:creationId xmlns:a16="http://schemas.microsoft.com/office/drawing/2014/main" id="{BD03C868-048C-D412-4969-A05072EB6B5F}"/>
              </a:ext>
            </a:extLst>
          </p:cNvPr>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spTree>
    <p:extLst>
      <p:ext uri="{BB962C8B-B14F-4D97-AF65-F5344CB8AC3E}">
        <p14:creationId xmlns:p14="http://schemas.microsoft.com/office/powerpoint/2010/main" val="2301777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1A92D49-A4A2-BFD8-79AB-15911277209A}"/>
              </a:ext>
            </a:extLst>
          </p:cNvPr>
          <p:cNvPicPr>
            <a:picLocks noChangeAspect="1"/>
          </p:cNvPicPr>
          <p:nvPr/>
        </p:nvPicPr>
        <p:blipFill>
          <a:blip r:embed="rId2" cstate="print">
            <a:extLst>
              <a:ext uri="{28A0092B-C50C-407E-A947-70E740481C1C}">
                <a14:useLocalDpi xmlns:a14="http://schemas.microsoft.com/office/drawing/2010/main" val="0"/>
              </a:ext>
            </a:extLst>
          </a:blip>
          <a:srcRect t="7727" b="7727"/>
          <a:stretch/>
        </p:blipFill>
        <p:spPr>
          <a:xfrm>
            <a:off x="-1143000" y="0"/>
            <a:ext cx="13335000" cy="7500938"/>
          </a:xfrm>
          <a:prstGeom prst="rect">
            <a:avLst/>
          </a:prstGeom>
        </p:spPr>
      </p:pic>
      <p:sp>
        <p:nvSpPr>
          <p:cNvPr id="12" name="object 12"/>
          <p:cNvSpPr txBox="1">
            <a:spLocks noGrp="1"/>
          </p:cNvSpPr>
          <p:nvPr>
            <p:ph type="title"/>
          </p:nvPr>
        </p:nvSpPr>
        <p:spPr>
          <a:xfrm>
            <a:off x="1143000" y="1722719"/>
            <a:ext cx="2806700" cy="1050352"/>
          </a:xfrm>
          <a:prstGeom prst="rect">
            <a:avLst/>
          </a:prstGeom>
        </p:spPr>
        <p:txBody>
          <a:bodyPr vert="horz" wrap="square" lIns="0" tIns="11430" rIns="0" bIns="0" rtlCol="0">
            <a:spAutoFit/>
          </a:bodyPr>
          <a:lstStyle/>
          <a:p>
            <a:pPr marL="12700" marR="5080">
              <a:lnSpc>
                <a:spcPct val="107600"/>
              </a:lnSpc>
              <a:spcBef>
                <a:spcPts val="90"/>
              </a:spcBef>
            </a:pPr>
            <a:r>
              <a:rPr sz="3200" spc="-10" dirty="0">
                <a:solidFill>
                  <a:srgbClr val="FFFFFF"/>
                </a:solidFill>
                <a:latin typeface="Arial Black"/>
                <a:cs typeface="Arial Black"/>
              </a:rPr>
              <a:t>S</a:t>
            </a:r>
            <a:r>
              <a:rPr lang="en-US" sz="3200" spc="-10" dirty="0">
                <a:solidFill>
                  <a:srgbClr val="FFFFFF"/>
                </a:solidFill>
                <a:latin typeface="Arial Black"/>
                <a:cs typeface="Arial Black"/>
              </a:rPr>
              <a:t>tandard King </a:t>
            </a:r>
            <a:endParaRPr sz="3200" dirty="0">
              <a:latin typeface="Arial Black"/>
              <a:cs typeface="Arial Black"/>
            </a:endParaRPr>
          </a:p>
        </p:txBody>
      </p:sp>
      <p:sp>
        <p:nvSpPr>
          <p:cNvPr id="2" name="object 13">
            <a:extLst>
              <a:ext uri="{FF2B5EF4-FFF2-40B4-BE49-F238E27FC236}">
                <a16:creationId xmlns:a16="http://schemas.microsoft.com/office/drawing/2014/main" id="{89CD1B1F-BB4A-AECD-5BFB-DA3751415C99}"/>
              </a:ext>
            </a:extLst>
          </p:cNvPr>
          <p:cNvSpPr txBox="1"/>
          <p:nvPr/>
        </p:nvSpPr>
        <p:spPr>
          <a:xfrm>
            <a:off x="6537328" y="2577869"/>
            <a:ext cx="5349872" cy="1702261"/>
          </a:xfrm>
          <a:prstGeom prst="rect">
            <a:avLst/>
          </a:prstGeom>
          <a:effectLst>
            <a:glow rad="63500">
              <a:schemeClr val="accent1">
                <a:satMod val="175000"/>
                <a:alpha val="40000"/>
              </a:schemeClr>
            </a:glow>
          </a:effectLst>
        </p:spPr>
        <p:txBody>
          <a:bodyPr vert="horz" wrap="square" lIns="0" tIns="10795" rIns="0" bIns="0" rtlCol="0">
            <a:spAutoFit/>
          </a:bodyPr>
          <a:lstStyle/>
          <a:p>
            <a:pPr marL="12700" marR="5080">
              <a:lnSpc>
                <a:spcPct val="100800"/>
              </a:lnSpc>
              <a:spcBef>
                <a:spcPts val="85"/>
              </a:spcBef>
            </a:pPr>
            <a:r>
              <a:rPr lang="en-US" b="1" dirty="0">
                <a:solidFill>
                  <a:schemeClr val="bg1"/>
                </a:solidFill>
              </a:rPr>
              <a:t>Bathroom</a:t>
            </a:r>
            <a:endParaRPr lang="ru-RU" b="1" dirty="0">
              <a:solidFill>
                <a:schemeClr val="bg1"/>
              </a:solidFill>
            </a:endParaRPr>
          </a:p>
          <a:p>
            <a:pPr marL="12700" marR="5080">
              <a:lnSpc>
                <a:spcPct val="100800"/>
              </a:lnSpc>
              <a:spcBef>
                <a:spcPts val="85"/>
              </a:spcBef>
            </a:pPr>
            <a:br>
              <a:rPr lang="en-US" dirty="0">
                <a:solidFill>
                  <a:schemeClr val="bg1"/>
                </a:solidFill>
              </a:rPr>
            </a:br>
            <a:r>
              <a:rPr lang="en-US" dirty="0">
                <a:solidFill>
                  <a:schemeClr val="bg1"/>
                </a:solidFill>
              </a:rPr>
              <a:t>A spacious, contemporary bathroom featuring a walk-in shower, elegant finishes, and premium     </a:t>
            </a:r>
            <a:r>
              <a:rPr lang="en-US" b="1" dirty="0">
                <a:solidFill>
                  <a:schemeClr val="bg1"/>
                </a:solidFill>
              </a:rPr>
              <a:t>UNI</a:t>
            </a:r>
            <a:r>
              <a:rPr lang="en-US" dirty="0">
                <a:solidFill>
                  <a:schemeClr val="bg1"/>
                </a:solidFill>
              </a:rPr>
              <a:t> bathroom amenities, designed for comfort and relaxation.</a:t>
            </a:r>
            <a:endParaRPr lang="en-US" sz="1800" dirty="0">
              <a:solidFill>
                <a:schemeClr val="bg1"/>
              </a:solidFill>
              <a:latin typeface="Lucida Sans Unicode"/>
              <a:cs typeface="Lucida Sans Unicode"/>
            </a:endParaRPr>
          </a:p>
        </p:txBody>
      </p:sp>
      <p:sp>
        <p:nvSpPr>
          <p:cNvPr id="15" name="object 9">
            <a:extLst>
              <a:ext uri="{FF2B5EF4-FFF2-40B4-BE49-F238E27FC236}">
                <a16:creationId xmlns:a16="http://schemas.microsoft.com/office/drawing/2014/main" id="{AEC203CA-F03F-8486-3BA0-AFFA4EDCC248}"/>
              </a:ext>
            </a:extLst>
          </p:cNvPr>
          <p:cNvSpPr/>
          <p:nvPr/>
        </p:nvSpPr>
        <p:spPr>
          <a:xfrm>
            <a:off x="-914400" y="152400"/>
            <a:ext cx="12801600" cy="716280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spTree>
    <p:extLst>
      <p:ext uri="{BB962C8B-B14F-4D97-AF65-F5344CB8AC3E}">
        <p14:creationId xmlns:p14="http://schemas.microsoft.com/office/powerpoint/2010/main" val="3987411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1A92D49-A4A2-BFD8-79AB-15911277209A}"/>
              </a:ext>
            </a:extLst>
          </p:cNvPr>
          <p:cNvPicPr>
            <a:picLocks noChangeAspect="1"/>
          </p:cNvPicPr>
          <p:nvPr/>
        </p:nvPicPr>
        <p:blipFill>
          <a:blip r:embed="rId2" cstate="print">
            <a:extLst>
              <a:ext uri="{28A0092B-C50C-407E-A947-70E740481C1C}">
                <a14:useLocalDpi xmlns:a14="http://schemas.microsoft.com/office/drawing/2010/main" val="0"/>
              </a:ext>
            </a:extLst>
          </a:blip>
          <a:srcRect t="7773" b="7773"/>
          <a:stretch/>
        </p:blipFill>
        <p:spPr>
          <a:xfrm>
            <a:off x="-1143000" y="0"/>
            <a:ext cx="13335000" cy="7500938"/>
          </a:xfrm>
          <a:prstGeom prst="rect">
            <a:avLst/>
          </a:prstGeom>
        </p:spPr>
      </p:pic>
      <p:sp>
        <p:nvSpPr>
          <p:cNvPr id="12" name="object 12"/>
          <p:cNvSpPr txBox="1">
            <a:spLocks noGrp="1"/>
          </p:cNvSpPr>
          <p:nvPr>
            <p:ph type="title"/>
          </p:nvPr>
        </p:nvSpPr>
        <p:spPr>
          <a:xfrm>
            <a:off x="1143000" y="1722719"/>
            <a:ext cx="2806700" cy="1050352"/>
          </a:xfrm>
          <a:prstGeom prst="rect">
            <a:avLst/>
          </a:prstGeom>
        </p:spPr>
        <p:txBody>
          <a:bodyPr vert="horz" wrap="square" lIns="0" tIns="11430" rIns="0" bIns="0" rtlCol="0">
            <a:spAutoFit/>
          </a:bodyPr>
          <a:lstStyle/>
          <a:p>
            <a:pPr marL="12700" marR="5080">
              <a:lnSpc>
                <a:spcPct val="107600"/>
              </a:lnSpc>
              <a:spcBef>
                <a:spcPts val="90"/>
              </a:spcBef>
            </a:pPr>
            <a:r>
              <a:rPr sz="3200" spc="-10" dirty="0">
                <a:solidFill>
                  <a:srgbClr val="FFFFFF"/>
                </a:solidFill>
                <a:latin typeface="Arial Black"/>
                <a:cs typeface="Arial Black"/>
              </a:rPr>
              <a:t>S</a:t>
            </a:r>
            <a:r>
              <a:rPr lang="en-US" sz="3200" spc="-10" dirty="0">
                <a:solidFill>
                  <a:srgbClr val="FFFFFF"/>
                </a:solidFill>
                <a:latin typeface="Arial Black"/>
                <a:cs typeface="Arial Black"/>
              </a:rPr>
              <a:t>tandard </a:t>
            </a:r>
            <a:br>
              <a:rPr lang="ru-RU" sz="3200" spc="-10" dirty="0">
                <a:solidFill>
                  <a:srgbClr val="FFFFFF"/>
                </a:solidFill>
                <a:latin typeface="Arial Black"/>
                <a:cs typeface="Arial Black"/>
              </a:rPr>
            </a:br>
            <a:r>
              <a:rPr lang="en-US" sz="3200" spc="-10" dirty="0">
                <a:solidFill>
                  <a:srgbClr val="FFFFFF"/>
                </a:solidFill>
                <a:latin typeface="Arial Black"/>
                <a:cs typeface="Arial Black"/>
              </a:rPr>
              <a:t>Twin </a:t>
            </a:r>
            <a:endParaRPr sz="3200" dirty="0">
              <a:latin typeface="Arial Black"/>
              <a:cs typeface="Arial Black"/>
            </a:endParaRPr>
          </a:p>
        </p:txBody>
      </p:sp>
      <p:sp>
        <p:nvSpPr>
          <p:cNvPr id="2" name="object 13">
            <a:extLst>
              <a:ext uri="{FF2B5EF4-FFF2-40B4-BE49-F238E27FC236}">
                <a16:creationId xmlns:a16="http://schemas.microsoft.com/office/drawing/2014/main" id="{89CD1B1F-BB4A-AECD-5BFB-DA3751415C99}"/>
              </a:ext>
            </a:extLst>
          </p:cNvPr>
          <p:cNvSpPr txBox="1"/>
          <p:nvPr/>
        </p:nvSpPr>
        <p:spPr>
          <a:xfrm>
            <a:off x="6324600" y="4648200"/>
            <a:ext cx="5349872" cy="1982017"/>
          </a:xfrm>
          <a:prstGeom prst="rect">
            <a:avLst/>
          </a:prstGeom>
          <a:effectLst>
            <a:glow rad="63500">
              <a:schemeClr val="accent1">
                <a:satMod val="175000"/>
                <a:alpha val="40000"/>
              </a:schemeClr>
            </a:glow>
          </a:effectLst>
        </p:spPr>
        <p:txBody>
          <a:bodyPr vert="horz" wrap="square" lIns="0" tIns="10795" rIns="0" bIns="0" rtlCol="0">
            <a:spAutoFit/>
          </a:bodyPr>
          <a:lstStyle/>
          <a:p>
            <a:pPr marL="12700" marR="5080">
              <a:lnSpc>
                <a:spcPct val="100800"/>
              </a:lnSpc>
              <a:spcBef>
                <a:spcPts val="85"/>
              </a:spcBef>
            </a:pPr>
            <a:br>
              <a:rPr lang="en-US" dirty="0">
                <a:solidFill>
                  <a:schemeClr val="bg1"/>
                </a:solidFill>
              </a:rPr>
            </a:br>
            <a:r>
              <a:rPr lang="en-US" dirty="0">
                <a:solidFill>
                  <a:schemeClr val="bg1"/>
                </a:solidFill>
              </a:rPr>
              <a:t>The Standard Twin Room offers effortless comfort, featuring twin beds, floor-to-ceiling windows with blackout curtains, and a modern, well-balanced interior.</a:t>
            </a:r>
          </a:p>
          <a:p>
            <a:pPr marL="12700" marR="5080">
              <a:lnSpc>
                <a:spcPct val="100800"/>
              </a:lnSpc>
              <a:spcBef>
                <a:spcPts val="85"/>
              </a:spcBef>
            </a:pPr>
            <a:br>
              <a:rPr lang="en-US" dirty="0">
                <a:solidFill>
                  <a:schemeClr val="bg1"/>
                </a:solidFill>
              </a:rPr>
            </a:br>
            <a:r>
              <a:rPr lang="en-US" dirty="0">
                <a:solidFill>
                  <a:schemeClr val="bg1"/>
                </a:solidFill>
              </a:rPr>
              <a:t>Room Size: 30 sqm</a:t>
            </a:r>
            <a:endParaRPr lang="en-US" sz="1800" dirty="0">
              <a:solidFill>
                <a:schemeClr val="bg1"/>
              </a:solidFill>
              <a:latin typeface="Lucida Sans Unicode"/>
              <a:cs typeface="Lucida Sans Unicode"/>
            </a:endParaRPr>
          </a:p>
        </p:txBody>
      </p:sp>
    </p:spTree>
    <p:extLst>
      <p:ext uri="{BB962C8B-B14F-4D97-AF65-F5344CB8AC3E}">
        <p14:creationId xmlns:p14="http://schemas.microsoft.com/office/powerpoint/2010/main" val="282282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1A92D49-A4A2-BFD8-79AB-15911277209A}"/>
              </a:ext>
            </a:extLst>
          </p:cNvPr>
          <p:cNvPicPr>
            <a:picLocks noChangeAspect="1"/>
          </p:cNvPicPr>
          <p:nvPr/>
        </p:nvPicPr>
        <p:blipFill>
          <a:blip r:embed="rId2" cstate="print">
            <a:extLst>
              <a:ext uri="{28A0092B-C50C-407E-A947-70E740481C1C}">
                <a14:useLocalDpi xmlns:a14="http://schemas.microsoft.com/office/drawing/2010/main" val="0"/>
              </a:ext>
            </a:extLst>
          </a:blip>
          <a:srcRect t="7773" b="7773"/>
          <a:stretch/>
        </p:blipFill>
        <p:spPr>
          <a:xfrm>
            <a:off x="-1143000" y="0"/>
            <a:ext cx="13335000" cy="7500938"/>
          </a:xfrm>
          <a:prstGeom prst="rect">
            <a:avLst/>
          </a:prstGeom>
        </p:spPr>
      </p:pic>
      <p:sp>
        <p:nvSpPr>
          <p:cNvPr id="12" name="object 12"/>
          <p:cNvSpPr txBox="1">
            <a:spLocks noGrp="1"/>
          </p:cNvSpPr>
          <p:nvPr>
            <p:ph type="title"/>
          </p:nvPr>
        </p:nvSpPr>
        <p:spPr>
          <a:xfrm>
            <a:off x="1143000" y="1722719"/>
            <a:ext cx="2806700" cy="1050352"/>
          </a:xfrm>
          <a:prstGeom prst="rect">
            <a:avLst/>
          </a:prstGeom>
        </p:spPr>
        <p:txBody>
          <a:bodyPr vert="horz" wrap="square" lIns="0" tIns="11430" rIns="0" bIns="0" rtlCol="0">
            <a:spAutoFit/>
          </a:bodyPr>
          <a:lstStyle/>
          <a:p>
            <a:pPr marL="12700" marR="5080">
              <a:lnSpc>
                <a:spcPct val="107600"/>
              </a:lnSpc>
              <a:spcBef>
                <a:spcPts val="90"/>
              </a:spcBef>
            </a:pPr>
            <a:r>
              <a:rPr sz="3200" spc="-10" dirty="0">
                <a:solidFill>
                  <a:srgbClr val="FFFFFF"/>
                </a:solidFill>
                <a:latin typeface="Arial Black"/>
                <a:cs typeface="Arial Black"/>
              </a:rPr>
              <a:t>S</a:t>
            </a:r>
            <a:r>
              <a:rPr lang="en-US" sz="3200" spc="-10" dirty="0">
                <a:solidFill>
                  <a:srgbClr val="FFFFFF"/>
                </a:solidFill>
                <a:latin typeface="Arial Black"/>
                <a:cs typeface="Arial Black"/>
              </a:rPr>
              <a:t>uperior</a:t>
            </a:r>
            <a:br>
              <a:rPr lang="en-US" sz="3200" spc="-10" dirty="0">
                <a:solidFill>
                  <a:srgbClr val="FFFFFF"/>
                </a:solidFill>
                <a:latin typeface="Arial Black"/>
                <a:cs typeface="Arial Black"/>
              </a:rPr>
            </a:br>
            <a:r>
              <a:rPr lang="en-US" sz="3200" spc="-10" dirty="0">
                <a:solidFill>
                  <a:srgbClr val="FFFFFF"/>
                </a:solidFill>
                <a:latin typeface="Arial Black"/>
                <a:cs typeface="Arial Black"/>
              </a:rPr>
              <a:t>Twin </a:t>
            </a:r>
            <a:endParaRPr sz="3200" dirty="0">
              <a:latin typeface="Arial Black"/>
              <a:cs typeface="Arial Black"/>
            </a:endParaRPr>
          </a:p>
        </p:txBody>
      </p:sp>
      <p:sp>
        <p:nvSpPr>
          <p:cNvPr id="2" name="object 13">
            <a:extLst>
              <a:ext uri="{FF2B5EF4-FFF2-40B4-BE49-F238E27FC236}">
                <a16:creationId xmlns:a16="http://schemas.microsoft.com/office/drawing/2014/main" id="{89CD1B1F-BB4A-AECD-5BFB-DA3751415C99}"/>
              </a:ext>
            </a:extLst>
          </p:cNvPr>
          <p:cNvSpPr txBox="1"/>
          <p:nvPr/>
        </p:nvSpPr>
        <p:spPr>
          <a:xfrm>
            <a:off x="6324600" y="4648200"/>
            <a:ext cx="5349872" cy="1982017"/>
          </a:xfrm>
          <a:prstGeom prst="rect">
            <a:avLst/>
          </a:prstGeom>
          <a:effectLst>
            <a:glow rad="63500">
              <a:schemeClr val="accent1">
                <a:satMod val="175000"/>
                <a:alpha val="40000"/>
              </a:schemeClr>
            </a:glow>
          </a:effectLst>
        </p:spPr>
        <p:txBody>
          <a:bodyPr vert="horz" wrap="square" lIns="0" tIns="10795" rIns="0" bIns="0" rtlCol="0">
            <a:spAutoFit/>
          </a:bodyPr>
          <a:lstStyle/>
          <a:p>
            <a:pPr marL="12700" marR="5080">
              <a:lnSpc>
                <a:spcPct val="100800"/>
              </a:lnSpc>
              <a:spcBef>
                <a:spcPts val="85"/>
              </a:spcBef>
            </a:pPr>
            <a:br>
              <a:rPr lang="en-US" dirty="0">
                <a:solidFill>
                  <a:schemeClr val="bg1"/>
                </a:solidFill>
              </a:rPr>
            </a:br>
            <a:r>
              <a:rPr lang="en-US" dirty="0">
                <a:solidFill>
                  <a:schemeClr val="bg1"/>
                </a:solidFill>
              </a:rPr>
              <a:t>The Superior Twin Room provides enhanced space and comfort, featuring twin beds, floor-to-ceiling windows, and a contemporary interior designed for added ease and relaxation.</a:t>
            </a:r>
            <a:br>
              <a:rPr lang="en-US" dirty="0">
                <a:solidFill>
                  <a:schemeClr val="bg1"/>
                </a:solidFill>
              </a:rPr>
            </a:br>
            <a:endParaRPr lang="en-US" dirty="0">
              <a:solidFill>
                <a:schemeClr val="bg1"/>
              </a:solidFill>
            </a:endParaRPr>
          </a:p>
          <a:p>
            <a:pPr marL="12700" marR="5080">
              <a:lnSpc>
                <a:spcPct val="100800"/>
              </a:lnSpc>
              <a:spcBef>
                <a:spcPts val="85"/>
              </a:spcBef>
            </a:pPr>
            <a:r>
              <a:rPr lang="en-US" dirty="0">
                <a:solidFill>
                  <a:schemeClr val="bg1"/>
                </a:solidFill>
              </a:rPr>
              <a:t>Room Size</a:t>
            </a:r>
            <a:r>
              <a:rPr lang="en-US" b="1" dirty="0">
                <a:solidFill>
                  <a:schemeClr val="bg1"/>
                </a:solidFill>
              </a:rPr>
              <a:t>:</a:t>
            </a:r>
            <a:r>
              <a:rPr lang="en-US" dirty="0">
                <a:solidFill>
                  <a:schemeClr val="bg1"/>
                </a:solidFill>
              </a:rPr>
              <a:t> 40 sqm</a:t>
            </a:r>
            <a:endParaRPr lang="en-US" sz="1800" dirty="0">
              <a:solidFill>
                <a:schemeClr val="bg1"/>
              </a:solidFill>
              <a:latin typeface="Lucida Sans Unicode"/>
              <a:cs typeface="Lucida Sans Unicode"/>
            </a:endParaRPr>
          </a:p>
        </p:txBody>
      </p:sp>
    </p:spTree>
    <p:extLst>
      <p:ext uri="{BB962C8B-B14F-4D97-AF65-F5344CB8AC3E}">
        <p14:creationId xmlns:p14="http://schemas.microsoft.com/office/powerpoint/2010/main" val="3463780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1A92D49-A4A2-BFD8-79AB-15911277209A}"/>
              </a:ext>
            </a:extLst>
          </p:cNvPr>
          <p:cNvPicPr>
            <a:picLocks noChangeAspect="1"/>
          </p:cNvPicPr>
          <p:nvPr/>
        </p:nvPicPr>
        <p:blipFill>
          <a:blip r:embed="rId2" cstate="print">
            <a:extLst>
              <a:ext uri="{28A0092B-C50C-407E-A947-70E740481C1C}">
                <a14:useLocalDpi xmlns:a14="http://schemas.microsoft.com/office/drawing/2010/main" val="0"/>
              </a:ext>
            </a:extLst>
          </a:blip>
          <a:srcRect t="7773" b="7773"/>
          <a:stretch/>
        </p:blipFill>
        <p:spPr>
          <a:xfrm>
            <a:off x="-1143000" y="0"/>
            <a:ext cx="13335000" cy="7500938"/>
          </a:xfrm>
          <a:prstGeom prst="rect">
            <a:avLst/>
          </a:prstGeom>
        </p:spPr>
      </p:pic>
      <p:sp>
        <p:nvSpPr>
          <p:cNvPr id="12" name="object 12"/>
          <p:cNvSpPr txBox="1">
            <a:spLocks noGrp="1"/>
          </p:cNvSpPr>
          <p:nvPr>
            <p:ph type="title"/>
          </p:nvPr>
        </p:nvSpPr>
        <p:spPr>
          <a:xfrm>
            <a:off x="1143000" y="1722719"/>
            <a:ext cx="2806700" cy="518540"/>
          </a:xfrm>
          <a:prstGeom prst="rect">
            <a:avLst/>
          </a:prstGeom>
        </p:spPr>
        <p:txBody>
          <a:bodyPr vert="horz" wrap="square" lIns="0" tIns="11430" rIns="0" bIns="0" rtlCol="0">
            <a:spAutoFit/>
          </a:bodyPr>
          <a:lstStyle/>
          <a:p>
            <a:pPr marL="12700" marR="5080">
              <a:lnSpc>
                <a:spcPct val="107600"/>
              </a:lnSpc>
              <a:spcBef>
                <a:spcPts val="90"/>
              </a:spcBef>
            </a:pPr>
            <a:r>
              <a:rPr sz="3200" spc="-10" dirty="0">
                <a:solidFill>
                  <a:srgbClr val="FFFFFF"/>
                </a:solidFill>
                <a:latin typeface="Arial Black"/>
                <a:cs typeface="Arial Black"/>
              </a:rPr>
              <a:t>S</a:t>
            </a:r>
            <a:r>
              <a:rPr lang="en-US" sz="3200" spc="-10" dirty="0">
                <a:solidFill>
                  <a:srgbClr val="FFFFFF"/>
                </a:solidFill>
                <a:latin typeface="Arial Black"/>
                <a:cs typeface="Arial Black"/>
              </a:rPr>
              <a:t>uite </a:t>
            </a:r>
            <a:endParaRPr sz="3200" dirty="0">
              <a:latin typeface="Arial Black"/>
              <a:cs typeface="Arial Black"/>
            </a:endParaRPr>
          </a:p>
        </p:txBody>
      </p:sp>
      <p:sp>
        <p:nvSpPr>
          <p:cNvPr id="2" name="object 13">
            <a:extLst>
              <a:ext uri="{FF2B5EF4-FFF2-40B4-BE49-F238E27FC236}">
                <a16:creationId xmlns:a16="http://schemas.microsoft.com/office/drawing/2014/main" id="{89CD1B1F-BB4A-AECD-5BFB-DA3751415C99}"/>
              </a:ext>
            </a:extLst>
          </p:cNvPr>
          <p:cNvSpPr txBox="1"/>
          <p:nvPr/>
        </p:nvSpPr>
        <p:spPr>
          <a:xfrm>
            <a:off x="714597" y="4267200"/>
            <a:ext cx="5349872" cy="2261773"/>
          </a:xfrm>
          <a:prstGeom prst="rect">
            <a:avLst/>
          </a:prstGeom>
          <a:effectLst>
            <a:glow rad="63500">
              <a:schemeClr val="accent1">
                <a:satMod val="175000"/>
                <a:alpha val="40000"/>
              </a:schemeClr>
            </a:glow>
          </a:effectLst>
        </p:spPr>
        <p:txBody>
          <a:bodyPr vert="horz" wrap="square" lIns="0" tIns="10795" rIns="0" bIns="0" rtlCol="0">
            <a:spAutoFit/>
          </a:bodyPr>
          <a:lstStyle/>
          <a:p>
            <a:pPr marL="12700" marR="5080">
              <a:lnSpc>
                <a:spcPct val="100800"/>
              </a:lnSpc>
              <a:spcBef>
                <a:spcPts val="85"/>
              </a:spcBef>
            </a:pPr>
            <a:br>
              <a:rPr lang="en-US" dirty="0">
                <a:solidFill>
                  <a:schemeClr val="bg1"/>
                </a:solidFill>
              </a:rPr>
            </a:br>
            <a:r>
              <a:rPr lang="en-US" dirty="0">
                <a:solidFill>
                  <a:schemeClr val="bg1"/>
                </a:solidFill>
              </a:rPr>
              <a:t>The Suite offers generous space and elevated comfort, featuring a king-size bedroom, a separate living area, and refined contemporary interiors with floor-to-ceiling windows that fill the space with natural light.</a:t>
            </a:r>
            <a:endParaRPr lang="ru-RU" dirty="0">
              <a:solidFill>
                <a:schemeClr val="bg1"/>
              </a:solidFill>
            </a:endParaRPr>
          </a:p>
          <a:p>
            <a:pPr marL="12700" marR="5080">
              <a:lnSpc>
                <a:spcPct val="100800"/>
              </a:lnSpc>
              <a:spcBef>
                <a:spcPts val="85"/>
              </a:spcBef>
            </a:pPr>
            <a:br>
              <a:rPr lang="en-US" dirty="0">
                <a:solidFill>
                  <a:schemeClr val="bg1"/>
                </a:solidFill>
              </a:rPr>
            </a:br>
            <a:r>
              <a:rPr lang="en-US" dirty="0">
                <a:solidFill>
                  <a:schemeClr val="bg1"/>
                </a:solidFill>
              </a:rPr>
              <a:t>Room Size: 80 sqm</a:t>
            </a:r>
            <a:endParaRPr lang="en-US" sz="1800" dirty="0">
              <a:solidFill>
                <a:schemeClr val="bg1"/>
              </a:solidFill>
              <a:latin typeface="Lucida Sans Unicode"/>
              <a:cs typeface="Lucida Sans Unicode"/>
            </a:endParaRPr>
          </a:p>
        </p:txBody>
      </p:sp>
    </p:spTree>
    <p:extLst>
      <p:ext uri="{BB962C8B-B14F-4D97-AF65-F5344CB8AC3E}">
        <p14:creationId xmlns:p14="http://schemas.microsoft.com/office/powerpoint/2010/main" val="107753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1A92D49-A4A2-BFD8-79AB-15911277209A}"/>
              </a:ext>
            </a:extLst>
          </p:cNvPr>
          <p:cNvPicPr>
            <a:picLocks noChangeAspect="1"/>
          </p:cNvPicPr>
          <p:nvPr/>
        </p:nvPicPr>
        <p:blipFill>
          <a:blip r:embed="rId2" cstate="print">
            <a:extLst>
              <a:ext uri="{28A0092B-C50C-407E-A947-70E740481C1C}">
                <a14:useLocalDpi xmlns:a14="http://schemas.microsoft.com/office/drawing/2010/main" val="0"/>
              </a:ext>
            </a:extLst>
          </a:blip>
          <a:srcRect t="7767" b="7767"/>
          <a:stretch/>
        </p:blipFill>
        <p:spPr>
          <a:xfrm>
            <a:off x="-1143000" y="0"/>
            <a:ext cx="13335000" cy="7500938"/>
          </a:xfrm>
          <a:prstGeom prst="rect">
            <a:avLst/>
          </a:prstGeom>
        </p:spPr>
      </p:pic>
      <p:sp>
        <p:nvSpPr>
          <p:cNvPr id="12" name="object 12"/>
          <p:cNvSpPr txBox="1">
            <a:spLocks noGrp="1"/>
          </p:cNvSpPr>
          <p:nvPr>
            <p:ph type="title"/>
          </p:nvPr>
        </p:nvSpPr>
        <p:spPr>
          <a:xfrm>
            <a:off x="1143000" y="1722719"/>
            <a:ext cx="2806700" cy="518540"/>
          </a:xfrm>
          <a:prstGeom prst="rect">
            <a:avLst/>
          </a:prstGeom>
        </p:spPr>
        <p:txBody>
          <a:bodyPr vert="horz" wrap="square" lIns="0" tIns="11430" rIns="0" bIns="0" rtlCol="0">
            <a:spAutoFit/>
          </a:bodyPr>
          <a:lstStyle/>
          <a:p>
            <a:pPr marL="12700" marR="5080">
              <a:lnSpc>
                <a:spcPct val="107600"/>
              </a:lnSpc>
              <a:spcBef>
                <a:spcPts val="90"/>
              </a:spcBef>
            </a:pPr>
            <a:r>
              <a:rPr sz="3200" spc="-10" dirty="0">
                <a:solidFill>
                  <a:srgbClr val="FFFFFF"/>
                </a:solidFill>
                <a:latin typeface="Arial Black"/>
                <a:cs typeface="Arial Black"/>
              </a:rPr>
              <a:t>S</a:t>
            </a:r>
            <a:r>
              <a:rPr lang="en-US" sz="3200" spc="-10" dirty="0">
                <a:solidFill>
                  <a:srgbClr val="FFFFFF"/>
                </a:solidFill>
                <a:latin typeface="Arial Black"/>
                <a:cs typeface="Arial Black"/>
              </a:rPr>
              <a:t>uite </a:t>
            </a:r>
            <a:endParaRPr sz="3200" dirty="0">
              <a:latin typeface="Arial Black"/>
              <a:cs typeface="Arial Black"/>
            </a:endParaRPr>
          </a:p>
        </p:txBody>
      </p:sp>
      <p:sp>
        <p:nvSpPr>
          <p:cNvPr id="2" name="object 13">
            <a:extLst>
              <a:ext uri="{FF2B5EF4-FFF2-40B4-BE49-F238E27FC236}">
                <a16:creationId xmlns:a16="http://schemas.microsoft.com/office/drawing/2014/main" id="{89CD1B1F-BB4A-AECD-5BFB-DA3751415C99}"/>
              </a:ext>
            </a:extLst>
          </p:cNvPr>
          <p:cNvSpPr txBox="1"/>
          <p:nvPr/>
        </p:nvSpPr>
        <p:spPr>
          <a:xfrm>
            <a:off x="714597" y="4267200"/>
            <a:ext cx="5349872" cy="1982017"/>
          </a:xfrm>
          <a:prstGeom prst="rect">
            <a:avLst/>
          </a:prstGeom>
          <a:effectLst>
            <a:glow rad="63500">
              <a:schemeClr val="accent1">
                <a:satMod val="175000"/>
                <a:alpha val="40000"/>
              </a:schemeClr>
            </a:glow>
          </a:effectLst>
        </p:spPr>
        <p:txBody>
          <a:bodyPr vert="horz" wrap="square" lIns="0" tIns="10795" rIns="0" bIns="0" rtlCol="0">
            <a:spAutoFit/>
          </a:bodyPr>
          <a:lstStyle/>
          <a:p>
            <a:pPr marL="12700" marR="5080">
              <a:lnSpc>
                <a:spcPct val="100800"/>
              </a:lnSpc>
              <a:spcBef>
                <a:spcPts val="85"/>
              </a:spcBef>
            </a:pPr>
            <a:br>
              <a:rPr lang="en-US" dirty="0">
                <a:solidFill>
                  <a:schemeClr val="bg1"/>
                </a:solidFill>
              </a:rPr>
            </a:br>
            <a:r>
              <a:rPr lang="en-US" b="1" dirty="0">
                <a:solidFill>
                  <a:schemeClr val="bg1"/>
                </a:solidFill>
              </a:rPr>
              <a:t>Sitting Area</a:t>
            </a:r>
            <a:endParaRPr lang="ru-RU" b="1" dirty="0">
              <a:solidFill>
                <a:schemeClr val="bg1"/>
              </a:solidFill>
            </a:endParaRPr>
          </a:p>
          <a:p>
            <a:pPr marL="12700" marR="5080">
              <a:lnSpc>
                <a:spcPct val="100800"/>
              </a:lnSpc>
              <a:spcBef>
                <a:spcPts val="85"/>
              </a:spcBef>
            </a:pPr>
            <a:br>
              <a:rPr lang="en-US" dirty="0">
                <a:solidFill>
                  <a:schemeClr val="bg1"/>
                </a:solidFill>
              </a:rPr>
            </a:br>
            <a:r>
              <a:rPr lang="en-US" dirty="0">
                <a:solidFill>
                  <a:schemeClr val="bg1"/>
                </a:solidFill>
              </a:rPr>
              <a:t>A spacious and inviting sitting area featuring a comfortable sofa, coffee table, and a flat-screen TV, ideal for relaxation, informal meetings, or quiet moments during the day.</a:t>
            </a:r>
            <a:endParaRPr lang="en-US" sz="1800" dirty="0">
              <a:solidFill>
                <a:schemeClr val="bg1"/>
              </a:solidFill>
              <a:latin typeface="Lucida Sans Unicode"/>
              <a:cs typeface="Lucida Sans Unicode"/>
            </a:endParaRPr>
          </a:p>
        </p:txBody>
      </p:sp>
    </p:spTree>
    <p:extLst>
      <p:ext uri="{BB962C8B-B14F-4D97-AF65-F5344CB8AC3E}">
        <p14:creationId xmlns:p14="http://schemas.microsoft.com/office/powerpoint/2010/main" val="2061370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81A92D49-A4A2-BFD8-79AB-15911277209A}"/>
              </a:ext>
            </a:extLst>
          </p:cNvPr>
          <p:cNvPicPr>
            <a:picLocks noChangeAspect="1"/>
          </p:cNvPicPr>
          <p:nvPr/>
        </p:nvPicPr>
        <p:blipFill>
          <a:blip r:embed="rId2" cstate="print">
            <a:extLst>
              <a:ext uri="{28A0092B-C50C-407E-A947-70E740481C1C}">
                <a14:useLocalDpi xmlns:a14="http://schemas.microsoft.com/office/drawing/2010/main" val="0"/>
              </a:ext>
            </a:extLst>
          </a:blip>
          <a:srcRect t="7847" b="7847"/>
          <a:stretch/>
        </p:blipFill>
        <p:spPr>
          <a:xfrm>
            <a:off x="-1143000" y="0"/>
            <a:ext cx="13335000" cy="7500938"/>
          </a:xfrm>
          <a:prstGeom prst="rect">
            <a:avLst/>
          </a:prstGeom>
        </p:spPr>
      </p:pic>
      <p:sp>
        <p:nvSpPr>
          <p:cNvPr id="12" name="object 12"/>
          <p:cNvSpPr txBox="1">
            <a:spLocks noGrp="1"/>
          </p:cNvSpPr>
          <p:nvPr>
            <p:ph type="title"/>
          </p:nvPr>
        </p:nvSpPr>
        <p:spPr>
          <a:xfrm>
            <a:off x="1143000" y="1722719"/>
            <a:ext cx="2806700" cy="518540"/>
          </a:xfrm>
          <a:prstGeom prst="rect">
            <a:avLst/>
          </a:prstGeom>
        </p:spPr>
        <p:txBody>
          <a:bodyPr vert="horz" wrap="square" lIns="0" tIns="11430" rIns="0" bIns="0" rtlCol="0">
            <a:spAutoFit/>
          </a:bodyPr>
          <a:lstStyle/>
          <a:p>
            <a:pPr marL="12700" marR="5080">
              <a:lnSpc>
                <a:spcPct val="107600"/>
              </a:lnSpc>
              <a:spcBef>
                <a:spcPts val="90"/>
              </a:spcBef>
            </a:pPr>
            <a:r>
              <a:rPr sz="3200" spc="-10" dirty="0">
                <a:solidFill>
                  <a:srgbClr val="FFFFFF"/>
                </a:solidFill>
                <a:latin typeface="Arial Black"/>
                <a:cs typeface="Arial Black"/>
              </a:rPr>
              <a:t>S</a:t>
            </a:r>
            <a:r>
              <a:rPr lang="en-US" sz="3200" spc="-10" dirty="0">
                <a:solidFill>
                  <a:srgbClr val="FFFFFF"/>
                </a:solidFill>
                <a:latin typeface="Arial Black"/>
                <a:cs typeface="Arial Black"/>
              </a:rPr>
              <a:t>uite </a:t>
            </a:r>
            <a:endParaRPr sz="3200" dirty="0">
              <a:latin typeface="Arial Black"/>
              <a:cs typeface="Arial Black"/>
            </a:endParaRPr>
          </a:p>
        </p:txBody>
      </p:sp>
      <p:sp>
        <p:nvSpPr>
          <p:cNvPr id="2" name="object 13">
            <a:extLst>
              <a:ext uri="{FF2B5EF4-FFF2-40B4-BE49-F238E27FC236}">
                <a16:creationId xmlns:a16="http://schemas.microsoft.com/office/drawing/2014/main" id="{89CD1B1F-BB4A-AECD-5BFB-DA3751415C99}"/>
              </a:ext>
            </a:extLst>
          </p:cNvPr>
          <p:cNvSpPr txBox="1"/>
          <p:nvPr/>
        </p:nvSpPr>
        <p:spPr>
          <a:xfrm>
            <a:off x="5943600" y="4851174"/>
            <a:ext cx="5349872" cy="1982017"/>
          </a:xfrm>
          <a:prstGeom prst="rect">
            <a:avLst/>
          </a:prstGeom>
          <a:effectLst>
            <a:glow rad="63500">
              <a:schemeClr val="accent1">
                <a:satMod val="175000"/>
                <a:alpha val="40000"/>
              </a:schemeClr>
            </a:glow>
          </a:effectLst>
        </p:spPr>
        <p:txBody>
          <a:bodyPr vert="horz" wrap="square" lIns="0" tIns="10795" rIns="0" bIns="0" rtlCol="0">
            <a:spAutoFit/>
          </a:bodyPr>
          <a:lstStyle/>
          <a:p>
            <a:pPr marL="12700" marR="5080">
              <a:lnSpc>
                <a:spcPct val="100800"/>
              </a:lnSpc>
              <a:spcBef>
                <a:spcPts val="85"/>
              </a:spcBef>
            </a:pPr>
            <a:r>
              <a:rPr lang="en-US" b="1" dirty="0">
                <a:solidFill>
                  <a:schemeClr val="bg1"/>
                </a:solidFill>
              </a:rPr>
              <a:t>Bathroom</a:t>
            </a:r>
            <a:endParaRPr lang="ru-RU" b="1" dirty="0">
              <a:solidFill>
                <a:schemeClr val="bg1"/>
              </a:solidFill>
            </a:endParaRPr>
          </a:p>
          <a:p>
            <a:pPr marL="12700" marR="5080">
              <a:lnSpc>
                <a:spcPct val="100800"/>
              </a:lnSpc>
              <a:spcBef>
                <a:spcPts val="85"/>
              </a:spcBef>
            </a:pPr>
            <a:br>
              <a:rPr lang="en-US" b="1" dirty="0">
                <a:solidFill>
                  <a:schemeClr val="bg1"/>
                </a:solidFill>
              </a:rPr>
            </a:br>
            <a:r>
              <a:rPr lang="en-US" dirty="0">
                <a:solidFill>
                  <a:schemeClr val="bg1"/>
                </a:solidFill>
              </a:rPr>
              <a:t>The Suite features two bathrooms, including a main bathroom with a bathtub and a walk-in shower, and a separate guest bathroom. Both bathrooms are finished with refined materials and include premium UNI bathroom amenities.</a:t>
            </a:r>
            <a:endParaRPr lang="en-US" sz="1800" dirty="0">
              <a:solidFill>
                <a:schemeClr val="bg1"/>
              </a:solidFill>
              <a:latin typeface="Lucida Sans Unicode"/>
              <a:cs typeface="Lucida Sans Unicode"/>
            </a:endParaRPr>
          </a:p>
        </p:txBody>
      </p:sp>
    </p:spTree>
    <p:extLst>
      <p:ext uri="{BB962C8B-B14F-4D97-AF65-F5344CB8AC3E}">
        <p14:creationId xmlns:p14="http://schemas.microsoft.com/office/powerpoint/2010/main" val="4082992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09626"/>
            <a:ext cx="11120500" cy="6548898"/>
            <a:chOff x="0" y="309626"/>
            <a:chExt cx="11120500" cy="6548898"/>
          </a:xfrm>
        </p:grpSpPr>
        <p:sp>
          <p:nvSpPr>
            <p:cNvPr id="4" name="object 4"/>
            <p:cNvSpPr/>
            <p:nvPr/>
          </p:nvSpPr>
          <p:spPr>
            <a:xfrm>
              <a:off x="0" y="4514104"/>
              <a:ext cx="6091555" cy="2344420"/>
            </a:xfrm>
            <a:custGeom>
              <a:avLst/>
              <a:gdLst/>
              <a:ahLst/>
              <a:cxnLst/>
              <a:rect l="l" t="t" r="r" b="b"/>
              <a:pathLst>
                <a:path w="6091555" h="2344420">
                  <a:moveTo>
                    <a:pt x="0" y="0"/>
                  </a:moveTo>
                  <a:lnTo>
                    <a:pt x="0" y="1523715"/>
                  </a:lnTo>
                  <a:lnTo>
                    <a:pt x="46050" y="1579599"/>
                  </a:lnTo>
                  <a:lnTo>
                    <a:pt x="84966" y="1603433"/>
                  </a:lnTo>
                  <a:lnTo>
                    <a:pt x="123697" y="1651100"/>
                  </a:lnTo>
                  <a:lnTo>
                    <a:pt x="162244" y="1674934"/>
                  </a:lnTo>
                  <a:lnTo>
                    <a:pt x="200603" y="1722602"/>
                  </a:lnTo>
                  <a:lnTo>
                    <a:pt x="238775" y="1746436"/>
                  </a:lnTo>
                  <a:lnTo>
                    <a:pt x="276759" y="1794104"/>
                  </a:lnTo>
                  <a:lnTo>
                    <a:pt x="352156" y="1841771"/>
                  </a:lnTo>
                  <a:lnTo>
                    <a:pt x="389568" y="1889439"/>
                  </a:lnTo>
                  <a:lnTo>
                    <a:pt x="463811" y="1937107"/>
                  </a:lnTo>
                  <a:lnTo>
                    <a:pt x="500640" y="1984774"/>
                  </a:lnTo>
                  <a:lnTo>
                    <a:pt x="645986" y="2080110"/>
                  </a:lnTo>
                  <a:lnTo>
                    <a:pt x="823151" y="2199279"/>
                  </a:lnTo>
                  <a:lnTo>
                    <a:pt x="961184" y="2294614"/>
                  </a:lnTo>
                  <a:lnTo>
                    <a:pt x="979870" y="2294614"/>
                  </a:lnTo>
                  <a:lnTo>
                    <a:pt x="988570" y="2318448"/>
                  </a:lnTo>
                  <a:lnTo>
                    <a:pt x="997163" y="2318448"/>
                  </a:lnTo>
                  <a:lnTo>
                    <a:pt x="1059066" y="2342282"/>
                  </a:lnTo>
                  <a:lnTo>
                    <a:pt x="1061143" y="2343892"/>
                  </a:lnTo>
                  <a:lnTo>
                    <a:pt x="3418647" y="2343892"/>
                  </a:lnTo>
                  <a:lnTo>
                    <a:pt x="3420824" y="2342282"/>
                  </a:lnTo>
                  <a:lnTo>
                    <a:pt x="3452258" y="2342282"/>
                  </a:lnTo>
                  <a:lnTo>
                    <a:pt x="3482898" y="2318448"/>
                  </a:lnTo>
                  <a:lnTo>
                    <a:pt x="3512739" y="2294614"/>
                  </a:lnTo>
                  <a:lnTo>
                    <a:pt x="3541772" y="2270780"/>
                  </a:lnTo>
                  <a:lnTo>
                    <a:pt x="3569990" y="2246946"/>
                  </a:lnTo>
                  <a:lnTo>
                    <a:pt x="3597386" y="2246946"/>
                  </a:lnTo>
                  <a:lnTo>
                    <a:pt x="3623954" y="2223113"/>
                  </a:lnTo>
                  <a:lnTo>
                    <a:pt x="3649685" y="2199279"/>
                  </a:lnTo>
                  <a:lnTo>
                    <a:pt x="3674572" y="2175445"/>
                  </a:lnTo>
                  <a:lnTo>
                    <a:pt x="3698609" y="2151611"/>
                  </a:lnTo>
                  <a:lnTo>
                    <a:pt x="3721788" y="2151611"/>
                  </a:lnTo>
                  <a:lnTo>
                    <a:pt x="3744102" y="2127777"/>
                  </a:lnTo>
                  <a:lnTo>
                    <a:pt x="3765544" y="2103943"/>
                  </a:lnTo>
                  <a:lnTo>
                    <a:pt x="3786106" y="2080110"/>
                  </a:lnTo>
                  <a:lnTo>
                    <a:pt x="3805781" y="2080110"/>
                  </a:lnTo>
                  <a:lnTo>
                    <a:pt x="3824562" y="2056276"/>
                  </a:lnTo>
                  <a:lnTo>
                    <a:pt x="3842443" y="2032442"/>
                  </a:lnTo>
                  <a:lnTo>
                    <a:pt x="3859415" y="2032442"/>
                  </a:lnTo>
                  <a:lnTo>
                    <a:pt x="3875471" y="2008608"/>
                  </a:lnTo>
                  <a:lnTo>
                    <a:pt x="3890605" y="2008608"/>
                  </a:lnTo>
                  <a:lnTo>
                    <a:pt x="3914575" y="1984774"/>
                  </a:lnTo>
                  <a:lnTo>
                    <a:pt x="3916148" y="1984774"/>
                  </a:lnTo>
                  <a:lnTo>
                    <a:pt x="3932165" y="1960940"/>
                  </a:lnTo>
                  <a:lnTo>
                    <a:pt x="3955668" y="1937107"/>
                  </a:lnTo>
                  <a:lnTo>
                    <a:pt x="3980337" y="1913273"/>
                  </a:lnTo>
                  <a:lnTo>
                    <a:pt x="3337923" y="1913273"/>
                  </a:lnTo>
                  <a:lnTo>
                    <a:pt x="3289971" y="1889439"/>
                  </a:lnTo>
                  <a:lnTo>
                    <a:pt x="3145380" y="1889439"/>
                  </a:lnTo>
                  <a:lnTo>
                    <a:pt x="3096901" y="1865605"/>
                  </a:lnTo>
                  <a:lnTo>
                    <a:pt x="2999459" y="1865605"/>
                  </a:lnTo>
                  <a:lnTo>
                    <a:pt x="2950472" y="1841771"/>
                  </a:lnTo>
                  <a:lnTo>
                    <a:pt x="2901295" y="1841771"/>
                  </a:lnTo>
                  <a:lnTo>
                    <a:pt x="2851916" y="1817937"/>
                  </a:lnTo>
                  <a:lnTo>
                    <a:pt x="2802325" y="1817937"/>
                  </a:lnTo>
                  <a:lnTo>
                    <a:pt x="2702461" y="1770270"/>
                  </a:lnTo>
                  <a:lnTo>
                    <a:pt x="2652168" y="1770270"/>
                  </a:lnTo>
                  <a:lnTo>
                    <a:pt x="2550802" y="1722602"/>
                  </a:lnTo>
                  <a:lnTo>
                    <a:pt x="2499709" y="1722602"/>
                  </a:lnTo>
                  <a:lnTo>
                    <a:pt x="2448328" y="1698768"/>
                  </a:lnTo>
                  <a:lnTo>
                    <a:pt x="2411873" y="1674934"/>
                  </a:lnTo>
                  <a:lnTo>
                    <a:pt x="2375266" y="1674934"/>
                  </a:lnTo>
                  <a:lnTo>
                    <a:pt x="2301580" y="1627267"/>
                  </a:lnTo>
                  <a:lnTo>
                    <a:pt x="2264493" y="1627267"/>
                  </a:lnTo>
                  <a:lnTo>
                    <a:pt x="2152214" y="1555765"/>
                  </a:lnTo>
                  <a:lnTo>
                    <a:pt x="2114435" y="1555765"/>
                  </a:lnTo>
                  <a:lnTo>
                    <a:pt x="1883800" y="1412762"/>
                  </a:lnTo>
                  <a:lnTo>
                    <a:pt x="1844665" y="1412762"/>
                  </a:lnTo>
                  <a:lnTo>
                    <a:pt x="1645784" y="1293593"/>
                  </a:lnTo>
                  <a:lnTo>
                    <a:pt x="1605340" y="1245925"/>
                  </a:lnTo>
                  <a:lnTo>
                    <a:pt x="1399575" y="1126756"/>
                  </a:lnTo>
                  <a:lnTo>
                    <a:pt x="1357686" y="1102922"/>
                  </a:lnTo>
                  <a:lnTo>
                    <a:pt x="1315544" y="1055254"/>
                  </a:lnTo>
                  <a:lnTo>
                    <a:pt x="1187555" y="983753"/>
                  </a:lnTo>
                  <a:lnTo>
                    <a:pt x="1144359" y="936085"/>
                  </a:lnTo>
                  <a:lnTo>
                    <a:pt x="1100890" y="912251"/>
                  </a:lnTo>
                  <a:lnTo>
                    <a:pt x="1057145" y="864584"/>
                  </a:lnTo>
                  <a:lnTo>
                    <a:pt x="968810" y="816916"/>
                  </a:lnTo>
                  <a:lnTo>
                    <a:pt x="924212" y="769248"/>
                  </a:lnTo>
                  <a:lnTo>
                    <a:pt x="879323" y="745415"/>
                  </a:lnTo>
                  <a:lnTo>
                    <a:pt x="834139" y="697747"/>
                  </a:lnTo>
                  <a:lnTo>
                    <a:pt x="788655" y="673913"/>
                  </a:lnTo>
                  <a:lnTo>
                    <a:pt x="696776" y="578578"/>
                  </a:lnTo>
                  <a:lnTo>
                    <a:pt x="650373" y="554744"/>
                  </a:lnTo>
                  <a:lnTo>
                    <a:pt x="556620" y="459408"/>
                  </a:lnTo>
                  <a:lnTo>
                    <a:pt x="509263" y="435575"/>
                  </a:lnTo>
                  <a:lnTo>
                    <a:pt x="413568" y="340239"/>
                  </a:lnTo>
                  <a:lnTo>
                    <a:pt x="365223" y="292572"/>
                  </a:lnTo>
                  <a:lnTo>
                    <a:pt x="316542" y="268738"/>
                  </a:lnTo>
                  <a:lnTo>
                    <a:pt x="164795" y="125735"/>
                  </a:lnTo>
                  <a:lnTo>
                    <a:pt x="114373" y="101901"/>
                  </a:lnTo>
                  <a:lnTo>
                    <a:pt x="13809" y="6565"/>
                  </a:lnTo>
                  <a:lnTo>
                    <a:pt x="0" y="0"/>
                  </a:lnTo>
                  <a:close/>
                </a:path>
                <a:path w="6091555" h="2344420">
                  <a:moveTo>
                    <a:pt x="3999852" y="1889439"/>
                  </a:moveTo>
                  <a:lnTo>
                    <a:pt x="3908282" y="1889439"/>
                  </a:lnTo>
                  <a:lnTo>
                    <a:pt x="3860871" y="1913273"/>
                  </a:lnTo>
                  <a:lnTo>
                    <a:pt x="3980337" y="1913273"/>
                  </a:lnTo>
                  <a:lnTo>
                    <a:pt x="3999852" y="1889439"/>
                  </a:lnTo>
                  <a:close/>
                </a:path>
                <a:path w="6091555" h="2344420">
                  <a:moveTo>
                    <a:pt x="5575743" y="554744"/>
                  </a:moveTo>
                  <a:lnTo>
                    <a:pt x="4388256" y="554744"/>
                  </a:lnTo>
                  <a:lnTo>
                    <a:pt x="4191576" y="650079"/>
                  </a:lnTo>
                  <a:lnTo>
                    <a:pt x="4141182" y="650079"/>
                  </a:lnTo>
                  <a:lnTo>
                    <a:pt x="3934839" y="745415"/>
                  </a:lnTo>
                  <a:lnTo>
                    <a:pt x="3882082" y="793082"/>
                  </a:lnTo>
                  <a:lnTo>
                    <a:pt x="3666503" y="888418"/>
                  </a:lnTo>
                  <a:lnTo>
                    <a:pt x="3611491" y="936085"/>
                  </a:lnTo>
                  <a:lnTo>
                    <a:pt x="3556040" y="959919"/>
                  </a:lnTo>
                  <a:lnTo>
                    <a:pt x="3500156" y="1007587"/>
                  </a:lnTo>
                  <a:lnTo>
                    <a:pt x="3443842" y="1031421"/>
                  </a:lnTo>
                  <a:lnTo>
                    <a:pt x="3387102" y="1079088"/>
                  </a:lnTo>
                  <a:lnTo>
                    <a:pt x="3329941" y="1102922"/>
                  </a:lnTo>
                  <a:lnTo>
                    <a:pt x="3272364" y="1150590"/>
                  </a:lnTo>
                  <a:lnTo>
                    <a:pt x="3220139" y="1174424"/>
                  </a:lnTo>
                  <a:lnTo>
                    <a:pt x="3170706" y="1222091"/>
                  </a:lnTo>
                  <a:lnTo>
                    <a:pt x="3123816" y="1245925"/>
                  </a:lnTo>
                  <a:lnTo>
                    <a:pt x="3079222" y="1269759"/>
                  </a:lnTo>
                  <a:lnTo>
                    <a:pt x="3036678" y="1293593"/>
                  </a:lnTo>
                  <a:lnTo>
                    <a:pt x="2956750" y="1365094"/>
                  </a:lnTo>
                  <a:lnTo>
                    <a:pt x="2918872" y="1388928"/>
                  </a:lnTo>
                  <a:lnTo>
                    <a:pt x="2882056" y="1412762"/>
                  </a:lnTo>
                  <a:lnTo>
                    <a:pt x="2846053" y="1436596"/>
                  </a:lnTo>
                  <a:lnTo>
                    <a:pt x="2810618" y="1460430"/>
                  </a:lnTo>
                  <a:lnTo>
                    <a:pt x="2807283" y="1460430"/>
                  </a:lnTo>
                  <a:lnTo>
                    <a:pt x="2838272" y="1484264"/>
                  </a:lnTo>
                  <a:lnTo>
                    <a:pt x="2871144" y="1508097"/>
                  </a:lnTo>
                  <a:lnTo>
                    <a:pt x="2905817" y="1531931"/>
                  </a:lnTo>
                  <a:lnTo>
                    <a:pt x="2942208" y="1555765"/>
                  </a:lnTo>
                  <a:lnTo>
                    <a:pt x="2980234" y="1579599"/>
                  </a:lnTo>
                  <a:lnTo>
                    <a:pt x="3019812" y="1603433"/>
                  </a:lnTo>
                  <a:lnTo>
                    <a:pt x="3060859" y="1603433"/>
                  </a:lnTo>
                  <a:lnTo>
                    <a:pt x="3103292" y="1627267"/>
                  </a:lnTo>
                  <a:lnTo>
                    <a:pt x="3147028" y="1651100"/>
                  </a:lnTo>
                  <a:lnTo>
                    <a:pt x="3191985" y="1674934"/>
                  </a:lnTo>
                  <a:lnTo>
                    <a:pt x="3238078" y="1698768"/>
                  </a:lnTo>
                  <a:lnTo>
                    <a:pt x="3285226" y="1722602"/>
                  </a:lnTo>
                  <a:lnTo>
                    <a:pt x="3333346" y="1746436"/>
                  </a:lnTo>
                  <a:lnTo>
                    <a:pt x="3382354" y="1746436"/>
                  </a:lnTo>
                  <a:lnTo>
                    <a:pt x="3482704" y="1794104"/>
                  </a:lnTo>
                  <a:lnTo>
                    <a:pt x="3533881" y="1794104"/>
                  </a:lnTo>
                  <a:lnTo>
                    <a:pt x="3585614" y="1817937"/>
                  </a:lnTo>
                  <a:lnTo>
                    <a:pt x="3637821" y="1817937"/>
                  </a:lnTo>
                  <a:lnTo>
                    <a:pt x="3690419" y="1841771"/>
                  </a:lnTo>
                  <a:lnTo>
                    <a:pt x="3743325" y="1841771"/>
                  </a:lnTo>
                  <a:lnTo>
                    <a:pt x="3796456" y="1865605"/>
                  </a:lnTo>
                  <a:lnTo>
                    <a:pt x="4009574" y="1865605"/>
                  </a:lnTo>
                  <a:lnTo>
                    <a:pt x="4051786" y="1841771"/>
                  </a:lnTo>
                  <a:lnTo>
                    <a:pt x="4090347" y="1794104"/>
                  </a:lnTo>
                  <a:lnTo>
                    <a:pt x="4126012" y="1746436"/>
                  </a:lnTo>
                  <a:lnTo>
                    <a:pt x="4159539" y="1722602"/>
                  </a:lnTo>
                  <a:lnTo>
                    <a:pt x="4191684" y="1674934"/>
                  </a:lnTo>
                  <a:lnTo>
                    <a:pt x="4223203" y="1651100"/>
                  </a:lnTo>
                  <a:lnTo>
                    <a:pt x="4254851" y="1603433"/>
                  </a:lnTo>
                  <a:lnTo>
                    <a:pt x="4287386" y="1579599"/>
                  </a:lnTo>
                  <a:lnTo>
                    <a:pt x="4321564" y="1531931"/>
                  </a:lnTo>
                  <a:lnTo>
                    <a:pt x="4358140" y="1484264"/>
                  </a:lnTo>
                  <a:lnTo>
                    <a:pt x="4422009" y="1412762"/>
                  </a:lnTo>
                  <a:lnTo>
                    <a:pt x="4484695" y="1365094"/>
                  </a:lnTo>
                  <a:lnTo>
                    <a:pt x="4546202" y="1293593"/>
                  </a:lnTo>
                  <a:lnTo>
                    <a:pt x="4606537" y="1222091"/>
                  </a:lnTo>
                  <a:lnTo>
                    <a:pt x="4665704" y="1174424"/>
                  </a:lnTo>
                  <a:lnTo>
                    <a:pt x="4723711" y="1126756"/>
                  </a:lnTo>
                  <a:lnTo>
                    <a:pt x="4780562" y="1079088"/>
                  </a:lnTo>
                  <a:lnTo>
                    <a:pt x="4836264" y="1031421"/>
                  </a:lnTo>
                  <a:lnTo>
                    <a:pt x="4890821" y="983753"/>
                  </a:lnTo>
                  <a:lnTo>
                    <a:pt x="4944240" y="936085"/>
                  </a:lnTo>
                  <a:lnTo>
                    <a:pt x="4996525" y="888418"/>
                  </a:lnTo>
                  <a:lnTo>
                    <a:pt x="5047684" y="864584"/>
                  </a:lnTo>
                  <a:lnTo>
                    <a:pt x="5097722" y="816916"/>
                  </a:lnTo>
                  <a:lnTo>
                    <a:pt x="5146643" y="793082"/>
                  </a:lnTo>
                  <a:lnTo>
                    <a:pt x="5194455" y="745415"/>
                  </a:lnTo>
                  <a:lnTo>
                    <a:pt x="5241162" y="721581"/>
                  </a:lnTo>
                  <a:lnTo>
                    <a:pt x="5286771" y="697747"/>
                  </a:lnTo>
                  <a:lnTo>
                    <a:pt x="5331286" y="673913"/>
                  </a:lnTo>
                  <a:lnTo>
                    <a:pt x="5374714" y="650079"/>
                  </a:lnTo>
                  <a:lnTo>
                    <a:pt x="5417061" y="626245"/>
                  </a:lnTo>
                  <a:lnTo>
                    <a:pt x="5458331" y="602411"/>
                  </a:lnTo>
                  <a:lnTo>
                    <a:pt x="5498531" y="602411"/>
                  </a:lnTo>
                  <a:lnTo>
                    <a:pt x="5537667" y="578578"/>
                  </a:lnTo>
                  <a:lnTo>
                    <a:pt x="5575743" y="554744"/>
                  </a:lnTo>
                  <a:close/>
                </a:path>
                <a:path w="6091555" h="2344420">
                  <a:moveTo>
                    <a:pt x="5717573" y="507076"/>
                  </a:moveTo>
                  <a:lnTo>
                    <a:pt x="4530506" y="507076"/>
                  </a:lnTo>
                  <a:lnTo>
                    <a:pt x="4436181" y="554744"/>
                  </a:lnTo>
                  <a:lnTo>
                    <a:pt x="5612766" y="554744"/>
                  </a:lnTo>
                  <a:lnTo>
                    <a:pt x="5648742" y="530910"/>
                  </a:lnTo>
                  <a:lnTo>
                    <a:pt x="5683676" y="530910"/>
                  </a:lnTo>
                  <a:lnTo>
                    <a:pt x="5717573" y="507076"/>
                  </a:lnTo>
                  <a:close/>
                </a:path>
                <a:path w="6091555" h="2344420">
                  <a:moveTo>
                    <a:pt x="6045579" y="459408"/>
                  </a:moveTo>
                  <a:lnTo>
                    <a:pt x="4668119" y="459408"/>
                  </a:lnTo>
                  <a:lnTo>
                    <a:pt x="4576898" y="507076"/>
                  </a:lnTo>
                  <a:lnTo>
                    <a:pt x="5813104" y="507076"/>
                  </a:lnTo>
                  <a:lnTo>
                    <a:pt x="5842913" y="483242"/>
                  </a:lnTo>
                  <a:lnTo>
                    <a:pt x="6023674" y="483242"/>
                  </a:lnTo>
                  <a:lnTo>
                    <a:pt x="6045579" y="459408"/>
                  </a:lnTo>
                  <a:close/>
                </a:path>
                <a:path w="6091555" h="2344420">
                  <a:moveTo>
                    <a:pt x="6017407" y="411741"/>
                  </a:moveTo>
                  <a:lnTo>
                    <a:pt x="4844190" y="411741"/>
                  </a:lnTo>
                  <a:lnTo>
                    <a:pt x="4800979" y="435575"/>
                  </a:lnTo>
                  <a:lnTo>
                    <a:pt x="4757227" y="435575"/>
                  </a:lnTo>
                  <a:lnTo>
                    <a:pt x="4712939" y="459408"/>
                  </a:lnTo>
                  <a:lnTo>
                    <a:pt x="6091007" y="459408"/>
                  </a:lnTo>
                  <a:lnTo>
                    <a:pt x="6055588" y="435575"/>
                  </a:lnTo>
                  <a:lnTo>
                    <a:pt x="6017407" y="411741"/>
                  </a:lnTo>
                  <a:close/>
                </a:path>
                <a:path w="6091555" h="2344420">
                  <a:moveTo>
                    <a:pt x="5932892" y="387907"/>
                  </a:moveTo>
                  <a:lnTo>
                    <a:pt x="4970535" y="387907"/>
                  </a:lnTo>
                  <a:lnTo>
                    <a:pt x="4928972" y="411741"/>
                  </a:lnTo>
                  <a:lnTo>
                    <a:pt x="5976497" y="411741"/>
                  </a:lnTo>
                  <a:lnTo>
                    <a:pt x="5932892" y="387907"/>
                  </a:lnTo>
                  <a:close/>
                </a:path>
                <a:path w="6091555" h="2344420">
                  <a:moveTo>
                    <a:pt x="5837725" y="364073"/>
                  </a:moveTo>
                  <a:lnTo>
                    <a:pt x="5091858" y="364073"/>
                  </a:lnTo>
                  <a:lnTo>
                    <a:pt x="5051982" y="387907"/>
                  </a:lnTo>
                  <a:lnTo>
                    <a:pt x="5886623" y="387907"/>
                  </a:lnTo>
                  <a:lnTo>
                    <a:pt x="5837725" y="364073"/>
                  </a:lnTo>
                  <a:close/>
                </a:path>
                <a:path w="6091555" h="2344420">
                  <a:moveTo>
                    <a:pt x="5616484" y="340239"/>
                  </a:moveTo>
                  <a:lnTo>
                    <a:pt x="5318979" y="340239"/>
                  </a:lnTo>
                  <a:lnTo>
                    <a:pt x="5282591" y="364073"/>
                  </a:lnTo>
                  <a:lnTo>
                    <a:pt x="5675576" y="364073"/>
                  </a:lnTo>
                  <a:lnTo>
                    <a:pt x="5616484" y="340239"/>
                  </a:lnTo>
                  <a:close/>
                </a:path>
              </a:pathLst>
            </a:custGeom>
            <a:solidFill>
              <a:srgbClr val="DED5C7"/>
            </a:solidFill>
          </p:spPr>
          <p:txBody>
            <a:bodyPr wrap="square" lIns="0" tIns="0" rIns="0" bIns="0" rtlCol="0"/>
            <a:lstStyle/>
            <a:p>
              <a:endParaRPr/>
            </a:p>
          </p:txBody>
        </p:sp>
        <p:sp>
          <p:nvSpPr>
            <p:cNvPr id="5" name="object 5"/>
            <p:cNvSpPr/>
            <p:nvPr/>
          </p:nvSpPr>
          <p:spPr>
            <a:xfrm>
              <a:off x="11120500" y="309626"/>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grpSp>
      <p:sp>
        <p:nvSpPr>
          <p:cNvPr id="6" name="object 6"/>
          <p:cNvSpPr txBox="1"/>
          <p:nvPr/>
        </p:nvSpPr>
        <p:spPr>
          <a:xfrm>
            <a:off x="11207115" y="295021"/>
            <a:ext cx="83185" cy="151130"/>
          </a:xfrm>
          <a:prstGeom prst="rect">
            <a:avLst/>
          </a:prstGeom>
        </p:spPr>
        <p:txBody>
          <a:bodyPr vert="horz" wrap="square" lIns="0" tIns="15875" rIns="0" bIns="0" rtlCol="0">
            <a:spAutoFit/>
          </a:bodyPr>
          <a:lstStyle/>
          <a:p>
            <a:pPr marL="12700">
              <a:lnSpc>
                <a:spcPct val="100000"/>
              </a:lnSpc>
              <a:spcBef>
                <a:spcPts val="125"/>
              </a:spcBef>
            </a:pPr>
            <a:r>
              <a:rPr sz="800" spc="-50" dirty="0">
                <a:solidFill>
                  <a:srgbClr val="FFFFFF"/>
                </a:solidFill>
                <a:latin typeface="Lucida Sans Unicode"/>
                <a:cs typeface="Lucida Sans Unicode"/>
              </a:rPr>
              <a:t>7</a:t>
            </a:r>
            <a:endParaRPr sz="800">
              <a:latin typeface="Lucida Sans Unicode"/>
              <a:cs typeface="Lucida Sans Unicode"/>
            </a:endParaRPr>
          </a:p>
        </p:txBody>
      </p:sp>
      <p:grpSp>
        <p:nvGrpSpPr>
          <p:cNvPr id="7" name="object 7"/>
          <p:cNvGrpSpPr/>
          <p:nvPr/>
        </p:nvGrpSpPr>
        <p:grpSpPr>
          <a:xfrm>
            <a:off x="106362" y="0"/>
            <a:ext cx="12085955" cy="6858000"/>
            <a:chOff x="106362" y="0"/>
            <a:chExt cx="12085955" cy="6858000"/>
          </a:xfrm>
        </p:grpSpPr>
        <p:sp>
          <p:nvSpPr>
            <p:cNvPr id="8" name="object 8"/>
            <p:cNvSpPr/>
            <p:nvPr/>
          </p:nvSpPr>
          <p:spPr>
            <a:xfrm>
              <a:off x="12087225" y="0"/>
              <a:ext cx="104775" cy="6858000"/>
            </a:xfrm>
            <a:custGeom>
              <a:avLst/>
              <a:gdLst/>
              <a:ahLst/>
              <a:cxnLst/>
              <a:rect l="l" t="t" r="r" b="b"/>
              <a:pathLst>
                <a:path w="104775" h="6858000">
                  <a:moveTo>
                    <a:pt x="104775" y="0"/>
                  </a:moveTo>
                  <a:lnTo>
                    <a:pt x="0" y="0"/>
                  </a:lnTo>
                  <a:lnTo>
                    <a:pt x="0" y="6858000"/>
                  </a:lnTo>
                  <a:lnTo>
                    <a:pt x="104775" y="6858000"/>
                  </a:lnTo>
                  <a:lnTo>
                    <a:pt x="104775" y="0"/>
                  </a:lnTo>
                  <a:close/>
                </a:path>
              </a:pathLst>
            </a:custGeom>
            <a:solidFill>
              <a:srgbClr val="EDEBE3"/>
            </a:solidFill>
          </p:spPr>
          <p:txBody>
            <a:bodyPr wrap="square" lIns="0" tIns="0" rIns="0" bIns="0" rtlCol="0"/>
            <a:lstStyle/>
            <a:p>
              <a:endParaRPr/>
            </a:p>
          </p:txBody>
        </p:sp>
        <p:sp>
          <p:nvSpPr>
            <p:cNvPr id="9" name="object 9"/>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10" name="object 10"/>
          <p:cNvSpPr txBox="1"/>
          <p:nvPr/>
        </p:nvSpPr>
        <p:spPr>
          <a:xfrm>
            <a:off x="1036002" y="3304032"/>
            <a:ext cx="3366770" cy="491801"/>
          </a:xfrm>
          <a:prstGeom prst="rect">
            <a:avLst/>
          </a:prstGeom>
        </p:spPr>
        <p:txBody>
          <a:bodyPr vert="horz" wrap="square" lIns="0" tIns="60325" rIns="0" bIns="0" rtlCol="0">
            <a:spAutoFit/>
          </a:bodyPr>
          <a:lstStyle/>
          <a:p>
            <a:pPr marL="12700">
              <a:lnSpc>
                <a:spcPct val="100000"/>
              </a:lnSpc>
              <a:spcBef>
                <a:spcPts val="475"/>
              </a:spcBef>
            </a:pPr>
            <a:r>
              <a:rPr lang="en-US" sz="2800" spc="60" dirty="0" err="1">
                <a:solidFill>
                  <a:srgbClr val="AC9976"/>
                </a:solidFill>
                <a:latin typeface="Lucida Sans Unicode"/>
                <a:cs typeface="Lucida Sans Unicode"/>
              </a:rPr>
              <a:t>Mövenpick</a:t>
            </a:r>
            <a:r>
              <a:rPr lang="en-US" sz="2800" spc="60" dirty="0">
                <a:solidFill>
                  <a:srgbClr val="AC9976"/>
                </a:solidFill>
                <a:latin typeface="Lucida Sans Unicode"/>
                <a:cs typeface="Lucida Sans Unicode"/>
              </a:rPr>
              <a:t> Dining</a:t>
            </a:r>
            <a:endParaRPr lang="en-US" sz="2800" dirty="0">
              <a:latin typeface="Lucida Sans Unicode"/>
              <a:cs typeface="Lucida Sans Unicode"/>
            </a:endParaRPr>
          </a:p>
        </p:txBody>
      </p:sp>
      <p:sp>
        <p:nvSpPr>
          <p:cNvPr id="11" name="object 11"/>
          <p:cNvSpPr txBox="1"/>
          <p:nvPr/>
        </p:nvSpPr>
        <p:spPr>
          <a:xfrm>
            <a:off x="1047750" y="2705100"/>
            <a:ext cx="438150" cy="428625"/>
          </a:xfrm>
          <a:prstGeom prst="rect">
            <a:avLst/>
          </a:prstGeom>
          <a:solidFill>
            <a:srgbClr val="AC9976"/>
          </a:solidFill>
        </p:spPr>
        <p:txBody>
          <a:bodyPr vert="horz" wrap="square" lIns="0" tIns="136525" rIns="0" bIns="0" rtlCol="0">
            <a:spAutoFit/>
          </a:bodyPr>
          <a:lstStyle/>
          <a:p>
            <a:pPr marL="133350">
              <a:lnSpc>
                <a:spcPct val="100000"/>
              </a:lnSpc>
              <a:spcBef>
                <a:spcPts val="1075"/>
              </a:spcBef>
            </a:pPr>
            <a:r>
              <a:rPr sz="1200" spc="-25" dirty="0">
                <a:solidFill>
                  <a:srgbClr val="FFFFFF"/>
                </a:solidFill>
                <a:latin typeface="Lucida Sans Unicode"/>
                <a:cs typeface="Lucida Sans Unicode"/>
              </a:rPr>
              <a:t>01</a:t>
            </a:r>
            <a:endParaRPr sz="1200">
              <a:latin typeface="Lucida Sans Unicode"/>
              <a:cs typeface="Lucida Sans Unicode"/>
            </a:endParaRPr>
          </a:p>
        </p:txBody>
      </p:sp>
      <p:grpSp>
        <p:nvGrpSpPr>
          <p:cNvPr id="12" name="object 12"/>
          <p:cNvGrpSpPr/>
          <p:nvPr/>
        </p:nvGrpSpPr>
        <p:grpSpPr>
          <a:xfrm>
            <a:off x="11507372" y="286715"/>
            <a:ext cx="407034" cy="158115"/>
            <a:chOff x="11507372" y="286715"/>
            <a:chExt cx="407034" cy="158115"/>
          </a:xfrm>
        </p:grpSpPr>
        <p:pic>
          <p:nvPicPr>
            <p:cNvPr id="13" name="object 13"/>
            <p:cNvPicPr/>
            <p:nvPr/>
          </p:nvPicPr>
          <p:blipFill>
            <a:blip r:embed="rId2" cstate="print"/>
            <a:stretch>
              <a:fillRect/>
            </a:stretch>
          </p:blipFill>
          <p:spPr>
            <a:xfrm>
              <a:off x="11766807" y="339886"/>
              <a:ext cx="147284" cy="68676"/>
            </a:xfrm>
            <a:prstGeom prst="rect">
              <a:avLst/>
            </a:prstGeom>
          </p:spPr>
        </p:pic>
        <p:sp>
          <p:nvSpPr>
            <p:cNvPr id="14" name="object 14"/>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FFFFFF"/>
            </a:solidFill>
          </p:spPr>
          <p:txBody>
            <a:bodyPr wrap="square" lIns="0" tIns="0" rIns="0" bIns="0" rtlCol="0"/>
            <a:lstStyle/>
            <a:p>
              <a:endParaRPr/>
            </a:p>
          </p:txBody>
        </p:sp>
      </p:grpSp>
      <p:pic>
        <p:nvPicPr>
          <p:cNvPr id="15" name="object 8">
            <a:extLst>
              <a:ext uri="{FF2B5EF4-FFF2-40B4-BE49-F238E27FC236}">
                <a16:creationId xmlns:a16="http://schemas.microsoft.com/office/drawing/2014/main" id="{6B780FB3-CCE1-89AD-1904-D539DA2D680F}"/>
              </a:ext>
            </a:extLst>
          </p:cNvPr>
          <p:cNvPicPr/>
          <p:nvPr/>
        </p:nvPicPr>
        <p:blipFill>
          <a:blip r:embed="rId3" cstate="print"/>
          <a:stretch>
            <a:fillRect/>
          </a:stretch>
        </p:blipFill>
        <p:spPr>
          <a:xfrm>
            <a:off x="6229350" y="104775"/>
            <a:ext cx="5848350" cy="6643688"/>
          </a:xfrm>
          <a:prstGeom prst="rect">
            <a:avLst/>
          </a:prstGeom>
        </p:spPr>
      </p:pic>
    </p:spTree>
    <p:extLst>
      <p:ext uri="{BB962C8B-B14F-4D97-AF65-F5344CB8AC3E}">
        <p14:creationId xmlns:p14="http://schemas.microsoft.com/office/powerpoint/2010/main" val="3454709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6362" y="104772"/>
            <a:ext cx="11990705" cy="6657975"/>
            <a:chOff x="106362" y="104772"/>
            <a:chExt cx="11990705" cy="6657975"/>
          </a:xfrm>
        </p:grpSpPr>
        <p:pic>
          <p:nvPicPr>
            <p:cNvPr id="3" name="object 3"/>
            <p:cNvPicPr/>
            <p:nvPr/>
          </p:nvPicPr>
          <p:blipFill>
            <a:blip r:embed="rId2" cstate="print"/>
            <a:stretch>
              <a:fillRect/>
            </a:stretch>
          </p:blipFill>
          <p:spPr>
            <a:xfrm>
              <a:off x="5457825" y="190499"/>
              <a:ext cx="1276350" cy="6477000"/>
            </a:xfrm>
            <a:prstGeom prst="rect">
              <a:avLst/>
            </a:prstGeom>
          </p:spPr>
        </p:pic>
        <p:pic>
          <p:nvPicPr>
            <p:cNvPr id="4" name="object 4"/>
            <p:cNvPicPr/>
            <p:nvPr/>
          </p:nvPicPr>
          <p:blipFill>
            <a:blip r:embed="rId3" cstate="print"/>
            <a:stretch>
              <a:fillRect/>
            </a:stretch>
          </p:blipFill>
          <p:spPr>
            <a:xfrm>
              <a:off x="6096000" y="104772"/>
              <a:ext cx="6000750" cy="6657975"/>
            </a:xfrm>
            <a:prstGeom prst="rect">
              <a:avLst/>
            </a:prstGeom>
          </p:spPr>
        </p:pic>
        <p:sp>
          <p:nvSpPr>
            <p:cNvPr id="5" name="object 5"/>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sp>
          <p:nvSpPr>
            <p:cNvPr id="6" name="object 6"/>
            <p:cNvSpPr/>
            <p:nvPr/>
          </p:nvSpPr>
          <p:spPr>
            <a:xfrm>
              <a:off x="11120501" y="309625"/>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pic>
          <p:nvPicPr>
            <p:cNvPr id="7" name="object 7"/>
            <p:cNvPicPr/>
            <p:nvPr/>
          </p:nvPicPr>
          <p:blipFill>
            <a:blip r:embed="rId4" cstate="print"/>
            <a:stretch>
              <a:fillRect/>
            </a:stretch>
          </p:blipFill>
          <p:spPr>
            <a:xfrm>
              <a:off x="11766807" y="339886"/>
              <a:ext cx="147284" cy="68676"/>
            </a:xfrm>
            <a:prstGeom prst="rect">
              <a:avLst/>
            </a:prstGeom>
          </p:spPr>
        </p:pic>
        <p:sp>
          <p:nvSpPr>
            <p:cNvPr id="8" name="object 8"/>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FFFFFF"/>
            </a:solidFill>
          </p:spPr>
          <p:txBody>
            <a:bodyPr wrap="square" lIns="0" tIns="0" rIns="0" bIns="0" rtlCol="0"/>
            <a:lstStyle/>
            <a:p>
              <a:endParaRPr/>
            </a:p>
          </p:txBody>
        </p:sp>
      </p:grpSp>
      <p:sp>
        <p:nvSpPr>
          <p:cNvPr id="9" name="object 9"/>
          <p:cNvSpPr txBox="1"/>
          <p:nvPr/>
        </p:nvSpPr>
        <p:spPr>
          <a:xfrm>
            <a:off x="10319384" y="295021"/>
            <a:ext cx="1002665" cy="151130"/>
          </a:xfrm>
          <a:prstGeom prst="rect">
            <a:avLst/>
          </a:prstGeom>
        </p:spPr>
        <p:txBody>
          <a:bodyPr vert="horz" wrap="square" lIns="0" tIns="15875" rIns="0" bIns="0" rtlCol="0">
            <a:spAutoFit/>
          </a:bodyPr>
          <a:lstStyle/>
          <a:p>
            <a:pPr marL="12700">
              <a:lnSpc>
                <a:spcPct val="100000"/>
              </a:lnSpc>
              <a:spcBef>
                <a:spcPts val="125"/>
              </a:spcBef>
              <a:tabLst>
                <a:tab pos="899794" algn="l"/>
              </a:tabLst>
            </a:pPr>
            <a:r>
              <a:rPr sz="800" dirty="0">
                <a:solidFill>
                  <a:srgbClr val="FFFFFF"/>
                </a:solidFill>
                <a:latin typeface="Lucida Sans Unicode"/>
                <a:cs typeface="Lucida Sans Unicode"/>
              </a:rPr>
              <a:t>Section</a:t>
            </a:r>
            <a:r>
              <a:rPr sz="800" spc="120" dirty="0">
                <a:solidFill>
                  <a:srgbClr val="FFFFFF"/>
                </a:solidFill>
                <a:latin typeface="Lucida Sans Unicode"/>
                <a:cs typeface="Lucida Sans Unicode"/>
              </a:rPr>
              <a:t> </a:t>
            </a:r>
            <a:r>
              <a:rPr sz="800" spc="-20" dirty="0">
                <a:solidFill>
                  <a:srgbClr val="FFFFFF"/>
                </a:solidFill>
                <a:latin typeface="Lucida Sans Unicode"/>
                <a:cs typeface="Lucida Sans Unicode"/>
              </a:rPr>
              <a:t>Name</a:t>
            </a:r>
            <a:r>
              <a:rPr sz="800" dirty="0">
                <a:solidFill>
                  <a:srgbClr val="FFFFFF"/>
                </a:solidFill>
                <a:latin typeface="Lucida Sans Unicode"/>
                <a:cs typeface="Lucida Sans Unicode"/>
              </a:rPr>
              <a:t>	</a:t>
            </a:r>
            <a:r>
              <a:rPr sz="800" spc="-120" dirty="0">
                <a:solidFill>
                  <a:srgbClr val="FFFFFF"/>
                </a:solidFill>
                <a:latin typeface="Lucida Sans Unicode"/>
                <a:cs typeface="Lucida Sans Unicode"/>
              </a:rPr>
              <a:t>15</a:t>
            </a:r>
            <a:endParaRPr sz="800">
              <a:latin typeface="Lucida Sans Unicode"/>
              <a:cs typeface="Lucida Sans Unicode"/>
            </a:endParaRPr>
          </a:p>
        </p:txBody>
      </p:sp>
      <p:sp>
        <p:nvSpPr>
          <p:cNvPr id="10" name="object 10"/>
          <p:cNvSpPr txBox="1">
            <a:spLocks noGrp="1"/>
          </p:cNvSpPr>
          <p:nvPr>
            <p:ph type="title"/>
          </p:nvPr>
        </p:nvSpPr>
        <p:spPr>
          <a:xfrm>
            <a:off x="668679" y="1752600"/>
            <a:ext cx="3920490" cy="386003"/>
          </a:xfrm>
          <a:prstGeom prst="rect">
            <a:avLst/>
          </a:prstGeom>
        </p:spPr>
        <p:txBody>
          <a:bodyPr vert="horz" wrap="square" lIns="0" tIns="16510" rIns="0" bIns="0" rtlCol="0">
            <a:spAutoFit/>
          </a:bodyPr>
          <a:lstStyle/>
          <a:p>
            <a:pPr marL="12700">
              <a:lnSpc>
                <a:spcPct val="100000"/>
              </a:lnSpc>
              <a:spcBef>
                <a:spcPts val="475"/>
              </a:spcBef>
            </a:pPr>
            <a:r>
              <a:rPr lang="en-US" sz="2400" b="1" spc="60" dirty="0" err="1">
                <a:solidFill>
                  <a:srgbClr val="AC9976"/>
                </a:solidFill>
                <a:latin typeface="Lucida Sans Unicode"/>
                <a:cs typeface="Lucida Sans Unicode"/>
              </a:rPr>
              <a:t>Mövenpick</a:t>
            </a:r>
            <a:r>
              <a:rPr lang="en-US" sz="2400" b="1" spc="60" dirty="0">
                <a:solidFill>
                  <a:srgbClr val="AC9976"/>
                </a:solidFill>
                <a:latin typeface="Lucida Sans Unicode"/>
                <a:cs typeface="Lucida Sans Unicode"/>
              </a:rPr>
              <a:t> Dining</a:t>
            </a:r>
            <a:endParaRPr lang="en-US" sz="2400" b="1" dirty="0">
              <a:latin typeface="Lucida Sans Unicode"/>
              <a:cs typeface="Lucida Sans Unicode"/>
            </a:endParaRPr>
          </a:p>
        </p:txBody>
      </p:sp>
      <p:sp>
        <p:nvSpPr>
          <p:cNvPr id="11" name="object 11"/>
          <p:cNvSpPr txBox="1"/>
          <p:nvPr/>
        </p:nvSpPr>
        <p:spPr>
          <a:xfrm>
            <a:off x="668679" y="2984820"/>
            <a:ext cx="4689715" cy="3469155"/>
          </a:xfrm>
          <a:prstGeom prst="rect">
            <a:avLst/>
          </a:prstGeom>
        </p:spPr>
        <p:txBody>
          <a:bodyPr vert="horz" wrap="square" lIns="0" tIns="67945" rIns="0" bIns="0" rtlCol="0">
            <a:spAutoFit/>
          </a:bodyPr>
          <a:lstStyle/>
          <a:p>
            <a:pPr marL="12700">
              <a:lnSpc>
                <a:spcPct val="100000"/>
              </a:lnSpc>
              <a:spcBef>
                <a:spcPts val="535"/>
              </a:spcBef>
            </a:pPr>
            <a:r>
              <a:rPr lang="en-US" sz="1200" b="1" dirty="0">
                <a:solidFill>
                  <a:srgbClr val="AC9976"/>
                </a:solidFill>
                <a:latin typeface="Lucida Sans Unicode"/>
                <a:cs typeface="Lucida Sans Unicode"/>
              </a:rPr>
              <a:t>Silk &amp; Spice Restaurant </a:t>
            </a:r>
            <a:r>
              <a:rPr sz="1200" spc="-10" dirty="0">
                <a:solidFill>
                  <a:srgbClr val="AC9976"/>
                </a:solidFill>
                <a:latin typeface="Arial Black"/>
                <a:cs typeface="Arial Black"/>
              </a:rPr>
              <a:t>:</a:t>
            </a:r>
            <a:endParaRPr sz="1200" dirty="0">
              <a:latin typeface="Arial Black"/>
              <a:cs typeface="Arial Black"/>
            </a:endParaRPr>
          </a:p>
          <a:p>
            <a:pPr marL="12700" marR="5080" algn="just">
              <a:lnSpc>
                <a:spcPct val="100000"/>
              </a:lnSpc>
              <a:spcBef>
                <a:spcPts val="885"/>
              </a:spcBef>
            </a:pPr>
            <a:r>
              <a:rPr lang="en-US" sz="1200" dirty="0">
                <a:solidFill>
                  <a:srgbClr val="AC9976"/>
                </a:solidFill>
                <a:latin typeface="Lucida Sans Unicode"/>
                <a:cs typeface="Lucida Sans Unicode"/>
              </a:rPr>
              <a:t>Discover a refined selection of culinary experiences at </a:t>
            </a:r>
            <a:r>
              <a:rPr lang="en-US" sz="1200" dirty="0" err="1">
                <a:solidFill>
                  <a:srgbClr val="AC9976"/>
                </a:solidFill>
                <a:latin typeface="Lucida Sans Unicode"/>
                <a:cs typeface="Lucida Sans Unicode"/>
              </a:rPr>
              <a:t>Mövenpick</a:t>
            </a:r>
            <a:r>
              <a:rPr lang="en-US" sz="1200" dirty="0">
                <a:solidFill>
                  <a:srgbClr val="AC9976"/>
                </a:solidFill>
                <a:latin typeface="Lucida Sans Unicode"/>
                <a:cs typeface="Lucida Sans Unicode"/>
              </a:rPr>
              <a:t> Tashkent Old City, offering a thoughtful blend of world classics and local culinary traditions.</a:t>
            </a:r>
          </a:p>
          <a:p>
            <a:pPr marL="12700" marR="5080" algn="just">
              <a:lnSpc>
                <a:spcPct val="100000"/>
              </a:lnSpc>
              <a:spcBef>
                <a:spcPts val="885"/>
              </a:spcBef>
            </a:pPr>
            <a:r>
              <a:rPr lang="en-US" sz="1200" dirty="0">
                <a:solidFill>
                  <a:srgbClr val="AC9976"/>
                </a:solidFill>
                <a:latin typeface="Lucida Sans Unicode"/>
                <a:cs typeface="Lucida Sans Unicode"/>
              </a:rPr>
              <a:t>Begin your day with a beautifully presented breakfast spread featuring freshly baked pastries, seasonal fruits, warm dishes, and Movenpick specialties at Silk &amp; Spice Restaurant, where Swiss finesse meets the </a:t>
            </a:r>
            <a:r>
              <a:rPr lang="en-US" sz="1200" dirty="0" err="1">
                <a:solidFill>
                  <a:srgbClr val="AC9976"/>
                </a:solidFill>
                <a:latin typeface="Lucida Sans Unicode"/>
                <a:cs typeface="Lucida Sans Unicode"/>
              </a:rPr>
              <a:t>flavours</a:t>
            </a:r>
            <a:r>
              <a:rPr lang="en-US" sz="1200" dirty="0">
                <a:solidFill>
                  <a:srgbClr val="AC9976"/>
                </a:solidFill>
                <a:latin typeface="Lucida Sans Unicode"/>
                <a:cs typeface="Lucida Sans Unicode"/>
              </a:rPr>
              <a:t> of Uzbekistan.</a:t>
            </a:r>
          </a:p>
          <a:p>
            <a:pPr marL="12700" marR="5080" algn="just">
              <a:spcBef>
                <a:spcPts val="885"/>
              </a:spcBef>
            </a:pPr>
            <a:r>
              <a:rPr lang="en-US" sz="1200" dirty="0">
                <a:solidFill>
                  <a:srgbClr val="AC9976"/>
                </a:solidFill>
                <a:latin typeface="Lucida Sans Unicode"/>
                <a:cs typeface="Lucida Sans Unicode"/>
              </a:rPr>
              <a:t>Our a la carte menu features fresh, locally sourced ingredients, crafted into dishes that celebrate tradition with a modern touch. From delicate starters to expertly prepared mains and indulgent desserts, every plate is a journey of taste, aroma, and artistry - all designed for a memorable lunch or dinner experience</a:t>
            </a:r>
          </a:p>
          <a:p>
            <a:pPr marL="12700" marR="5080">
              <a:lnSpc>
                <a:spcPct val="130300"/>
              </a:lnSpc>
              <a:spcBef>
                <a:spcPts val="5"/>
              </a:spcBef>
            </a:pPr>
            <a:endParaRPr sz="1200" dirty="0">
              <a:latin typeface="Lucida Sans Unicode"/>
              <a:cs typeface="Lucida Sans Unicode"/>
            </a:endParaRPr>
          </a:p>
          <a:p>
            <a:pPr marL="12700" marR="5080">
              <a:lnSpc>
                <a:spcPts val="1880"/>
              </a:lnSpc>
              <a:spcBef>
                <a:spcPts val="15"/>
              </a:spcBef>
            </a:pPr>
            <a:endParaRPr sz="1200" dirty="0">
              <a:latin typeface="Lucida Sans Unicode"/>
              <a:cs typeface="Lucida Sans Unicod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9537" y="109537"/>
            <a:ext cx="11982450" cy="6648450"/>
            <a:chOff x="109537" y="109537"/>
            <a:chExt cx="11982450" cy="6648450"/>
          </a:xfrm>
        </p:grpSpPr>
        <p:pic>
          <p:nvPicPr>
            <p:cNvPr id="3" name="object 3"/>
            <p:cNvPicPr/>
            <p:nvPr/>
          </p:nvPicPr>
          <p:blipFill>
            <a:blip r:embed="rId2" cstate="print"/>
            <a:stretch>
              <a:fillRect/>
            </a:stretch>
          </p:blipFill>
          <p:spPr>
            <a:xfrm>
              <a:off x="5457825" y="190499"/>
              <a:ext cx="1276350" cy="6477000"/>
            </a:xfrm>
            <a:prstGeom prst="rect">
              <a:avLst/>
            </a:prstGeom>
          </p:spPr>
        </p:pic>
        <p:sp>
          <p:nvSpPr>
            <p:cNvPr id="5" name="object 5"/>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sp>
          <p:nvSpPr>
            <p:cNvPr id="6" name="object 6"/>
            <p:cNvSpPr/>
            <p:nvPr/>
          </p:nvSpPr>
          <p:spPr>
            <a:xfrm>
              <a:off x="11120501" y="309625"/>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pic>
          <p:nvPicPr>
            <p:cNvPr id="7" name="object 7"/>
            <p:cNvPicPr/>
            <p:nvPr/>
          </p:nvPicPr>
          <p:blipFill>
            <a:blip r:embed="rId3" cstate="print"/>
            <a:stretch>
              <a:fillRect/>
            </a:stretch>
          </p:blipFill>
          <p:spPr>
            <a:xfrm>
              <a:off x="11766807" y="339886"/>
              <a:ext cx="147284" cy="68676"/>
            </a:xfrm>
            <a:prstGeom prst="rect">
              <a:avLst/>
            </a:prstGeom>
          </p:spPr>
        </p:pic>
        <p:sp>
          <p:nvSpPr>
            <p:cNvPr id="8" name="object 8"/>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FFFFFF"/>
            </a:solidFill>
          </p:spPr>
          <p:txBody>
            <a:bodyPr wrap="square" lIns="0" tIns="0" rIns="0" bIns="0" rtlCol="0"/>
            <a:lstStyle/>
            <a:p>
              <a:endParaRPr/>
            </a:p>
          </p:txBody>
        </p:sp>
      </p:grpSp>
      <p:sp>
        <p:nvSpPr>
          <p:cNvPr id="9" name="object 9"/>
          <p:cNvSpPr txBox="1"/>
          <p:nvPr/>
        </p:nvSpPr>
        <p:spPr>
          <a:xfrm>
            <a:off x="10319384" y="295021"/>
            <a:ext cx="1002665" cy="151130"/>
          </a:xfrm>
          <a:prstGeom prst="rect">
            <a:avLst/>
          </a:prstGeom>
        </p:spPr>
        <p:txBody>
          <a:bodyPr vert="horz" wrap="square" lIns="0" tIns="15875" rIns="0" bIns="0" rtlCol="0">
            <a:spAutoFit/>
          </a:bodyPr>
          <a:lstStyle/>
          <a:p>
            <a:pPr marL="12700">
              <a:lnSpc>
                <a:spcPct val="100000"/>
              </a:lnSpc>
              <a:spcBef>
                <a:spcPts val="125"/>
              </a:spcBef>
              <a:tabLst>
                <a:tab pos="899794" algn="l"/>
              </a:tabLst>
            </a:pPr>
            <a:r>
              <a:rPr sz="800" dirty="0">
                <a:solidFill>
                  <a:srgbClr val="FFFFFF"/>
                </a:solidFill>
                <a:latin typeface="Lucida Sans Unicode"/>
                <a:cs typeface="Lucida Sans Unicode"/>
              </a:rPr>
              <a:t>Section</a:t>
            </a:r>
            <a:r>
              <a:rPr sz="800" spc="120" dirty="0">
                <a:solidFill>
                  <a:srgbClr val="FFFFFF"/>
                </a:solidFill>
                <a:latin typeface="Lucida Sans Unicode"/>
                <a:cs typeface="Lucida Sans Unicode"/>
              </a:rPr>
              <a:t> </a:t>
            </a:r>
            <a:r>
              <a:rPr sz="800" spc="-20" dirty="0">
                <a:solidFill>
                  <a:srgbClr val="FFFFFF"/>
                </a:solidFill>
                <a:latin typeface="Lucida Sans Unicode"/>
                <a:cs typeface="Lucida Sans Unicode"/>
              </a:rPr>
              <a:t>Name</a:t>
            </a:r>
            <a:r>
              <a:rPr sz="800" dirty="0">
                <a:solidFill>
                  <a:srgbClr val="FFFFFF"/>
                </a:solidFill>
                <a:latin typeface="Lucida Sans Unicode"/>
                <a:cs typeface="Lucida Sans Unicode"/>
              </a:rPr>
              <a:t>	</a:t>
            </a:r>
            <a:r>
              <a:rPr sz="800" spc="-120" dirty="0">
                <a:solidFill>
                  <a:srgbClr val="FFFFFF"/>
                </a:solidFill>
                <a:latin typeface="Lucida Sans Unicode"/>
                <a:cs typeface="Lucida Sans Unicode"/>
              </a:rPr>
              <a:t>15</a:t>
            </a:r>
            <a:endParaRPr sz="800">
              <a:latin typeface="Lucida Sans Unicode"/>
              <a:cs typeface="Lucida Sans Unicode"/>
            </a:endParaRPr>
          </a:p>
        </p:txBody>
      </p:sp>
      <p:sp>
        <p:nvSpPr>
          <p:cNvPr id="10" name="object 10"/>
          <p:cNvSpPr txBox="1">
            <a:spLocks noGrp="1"/>
          </p:cNvSpPr>
          <p:nvPr>
            <p:ph type="title"/>
          </p:nvPr>
        </p:nvSpPr>
        <p:spPr>
          <a:xfrm>
            <a:off x="684628" y="2819400"/>
            <a:ext cx="3920490" cy="386003"/>
          </a:xfrm>
          <a:prstGeom prst="rect">
            <a:avLst/>
          </a:prstGeom>
        </p:spPr>
        <p:txBody>
          <a:bodyPr vert="horz" wrap="square" lIns="0" tIns="16510" rIns="0" bIns="0" rtlCol="0">
            <a:spAutoFit/>
          </a:bodyPr>
          <a:lstStyle/>
          <a:p>
            <a:pPr marL="12700">
              <a:lnSpc>
                <a:spcPct val="100000"/>
              </a:lnSpc>
              <a:spcBef>
                <a:spcPts val="475"/>
              </a:spcBef>
            </a:pPr>
            <a:r>
              <a:rPr lang="en-US" sz="2400" b="1" spc="60" dirty="0" err="1">
                <a:solidFill>
                  <a:srgbClr val="AC9976"/>
                </a:solidFill>
                <a:latin typeface="Lucida Sans Unicode"/>
                <a:cs typeface="Lucida Sans Unicode"/>
              </a:rPr>
              <a:t>Mövenpick</a:t>
            </a:r>
            <a:r>
              <a:rPr lang="en-US" sz="2400" b="1" spc="60" dirty="0">
                <a:solidFill>
                  <a:srgbClr val="AC9976"/>
                </a:solidFill>
                <a:latin typeface="Lucida Sans Unicode"/>
                <a:cs typeface="Lucida Sans Unicode"/>
              </a:rPr>
              <a:t> Dining</a:t>
            </a:r>
            <a:endParaRPr lang="en-US" sz="2400" b="1" dirty="0">
              <a:latin typeface="Lucida Sans Unicode"/>
              <a:cs typeface="Lucida Sans Unicode"/>
            </a:endParaRPr>
          </a:p>
        </p:txBody>
      </p:sp>
      <p:sp>
        <p:nvSpPr>
          <p:cNvPr id="11" name="object 11"/>
          <p:cNvSpPr txBox="1"/>
          <p:nvPr/>
        </p:nvSpPr>
        <p:spPr>
          <a:xfrm>
            <a:off x="704121" y="3824968"/>
            <a:ext cx="4556125" cy="2313454"/>
          </a:xfrm>
          <a:prstGeom prst="rect">
            <a:avLst/>
          </a:prstGeom>
        </p:spPr>
        <p:txBody>
          <a:bodyPr vert="horz" wrap="square" lIns="0" tIns="67945" rIns="0" bIns="0" rtlCol="0">
            <a:spAutoFit/>
          </a:bodyPr>
          <a:lstStyle/>
          <a:p>
            <a:pPr>
              <a:lnSpc>
                <a:spcPct val="100000"/>
              </a:lnSpc>
              <a:spcBef>
                <a:spcPts val="470"/>
              </a:spcBef>
            </a:pPr>
            <a:endParaRPr sz="1200" dirty="0">
              <a:latin typeface="Lucida Sans Unicode"/>
              <a:cs typeface="Lucida Sans Unicode"/>
            </a:endParaRPr>
          </a:p>
          <a:p>
            <a:pPr marL="12700">
              <a:lnSpc>
                <a:spcPct val="100000"/>
              </a:lnSpc>
            </a:pPr>
            <a:r>
              <a:rPr lang="en-US" sz="1200" spc="-80" dirty="0">
                <a:solidFill>
                  <a:srgbClr val="AC9976"/>
                </a:solidFill>
                <a:latin typeface="Arial Black"/>
                <a:cs typeface="Arial Black"/>
              </a:rPr>
              <a:t>Lobby Bar</a:t>
            </a:r>
            <a:r>
              <a:rPr sz="1200" spc="-10" dirty="0">
                <a:solidFill>
                  <a:srgbClr val="AC9976"/>
                </a:solidFill>
                <a:latin typeface="Arial Black"/>
                <a:cs typeface="Arial Black"/>
              </a:rPr>
              <a:t>:</a:t>
            </a:r>
            <a:endParaRPr lang="en-US" sz="1200" spc="-10" dirty="0">
              <a:solidFill>
                <a:srgbClr val="AC9976"/>
              </a:solidFill>
              <a:latin typeface="Arial Black"/>
              <a:cs typeface="Arial Black"/>
            </a:endParaRPr>
          </a:p>
          <a:p>
            <a:pPr marL="12700">
              <a:lnSpc>
                <a:spcPct val="100000"/>
              </a:lnSpc>
            </a:pPr>
            <a:endParaRPr sz="1200" dirty="0">
              <a:latin typeface="Arial Black"/>
              <a:cs typeface="Arial Black"/>
            </a:endParaRPr>
          </a:p>
          <a:p>
            <a:pPr marL="12700" marR="5080" algn="just">
              <a:lnSpc>
                <a:spcPts val="1880"/>
              </a:lnSpc>
              <a:spcBef>
                <a:spcPts val="15"/>
              </a:spcBef>
            </a:pPr>
            <a:r>
              <a:rPr lang="en-US" sz="1200" dirty="0">
                <a:solidFill>
                  <a:srgbClr val="AC9976"/>
                </a:solidFill>
                <a:latin typeface="Lucida Sans Unicode"/>
                <a:cs typeface="Lucida Sans Unicode"/>
              </a:rPr>
              <a:t>Enjoy </a:t>
            </a:r>
            <a:r>
              <a:rPr lang="en-US" sz="1200" dirty="0" err="1">
                <a:solidFill>
                  <a:srgbClr val="AC9976"/>
                </a:solidFill>
                <a:latin typeface="Lucida Sans Unicode"/>
                <a:cs typeface="Lucida Sans Unicode"/>
              </a:rPr>
              <a:t>Mövenpick</a:t>
            </a:r>
            <a:r>
              <a:rPr lang="en-US" sz="1200" dirty="0">
                <a:solidFill>
                  <a:srgbClr val="AC9976"/>
                </a:solidFill>
                <a:latin typeface="Lucida Sans Unicode"/>
                <a:cs typeface="Lucida Sans Unicode"/>
              </a:rPr>
              <a:t> coffee, signature cocktails, and an inviting atmosphere of Lobby Bar and every afternoon, as the warm light gently illuminates the elegant interiors of our hotel lobby, we invite you to pause for a moment and experience a delightful tradition celebrated daily at </a:t>
            </a:r>
            <a:r>
              <a:rPr lang="en-US" sz="1200" dirty="0" err="1">
                <a:solidFill>
                  <a:srgbClr val="AC9976"/>
                </a:solidFill>
                <a:latin typeface="Lucida Sans Unicode"/>
                <a:cs typeface="Lucida Sans Unicode"/>
              </a:rPr>
              <a:t>Mövenpick</a:t>
            </a:r>
            <a:r>
              <a:rPr lang="en-US" sz="1200" dirty="0">
                <a:solidFill>
                  <a:srgbClr val="AC9976"/>
                </a:solidFill>
                <a:latin typeface="Lucida Sans Unicode"/>
                <a:cs typeface="Lucida Sans Unicode"/>
              </a:rPr>
              <a:t> hotels around the world - the Chocolate Hour.</a:t>
            </a:r>
          </a:p>
          <a:p>
            <a:pPr marL="12700" marR="5080">
              <a:lnSpc>
                <a:spcPts val="1880"/>
              </a:lnSpc>
              <a:spcBef>
                <a:spcPts val="15"/>
              </a:spcBef>
            </a:pPr>
            <a:endParaRPr sz="1200" dirty="0">
              <a:latin typeface="Lucida Sans Unicode"/>
              <a:cs typeface="Lucida Sans Unicode"/>
            </a:endParaRPr>
          </a:p>
        </p:txBody>
      </p:sp>
      <p:pic>
        <p:nvPicPr>
          <p:cNvPr id="12" name="object 8">
            <a:extLst>
              <a:ext uri="{FF2B5EF4-FFF2-40B4-BE49-F238E27FC236}">
                <a16:creationId xmlns:a16="http://schemas.microsoft.com/office/drawing/2014/main" id="{98953915-1944-D78B-BDBF-382BAF68F37C}"/>
              </a:ext>
            </a:extLst>
          </p:cNvPr>
          <p:cNvPicPr/>
          <p:nvPr/>
        </p:nvPicPr>
        <p:blipFill>
          <a:blip r:embed="rId4" cstate="print"/>
          <a:stretch>
            <a:fillRect/>
          </a:stretch>
        </p:blipFill>
        <p:spPr>
          <a:xfrm>
            <a:off x="6091237" y="109537"/>
            <a:ext cx="6000750" cy="6657973"/>
          </a:xfrm>
          <a:prstGeom prst="rect">
            <a:avLst/>
          </a:prstGeom>
        </p:spPr>
      </p:pic>
    </p:spTree>
    <p:extLst>
      <p:ext uri="{BB962C8B-B14F-4D97-AF65-F5344CB8AC3E}">
        <p14:creationId xmlns:p14="http://schemas.microsoft.com/office/powerpoint/2010/main" val="3437144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09626"/>
            <a:ext cx="11120500" cy="6548898"/>
            <a:chOff x="0" y="309626"/>
            <a:chExt cx="11120500" cy="6548898"/>
          </a:xfrm>
        </p:grpSpPr>
        <p:sp>
          <p:nvSpPr>
            <p:cNvPr id="4" name="object 4"/>
            <p:cNvSpPr/>
            <p:nvPr/>
          </p:nvSpPr>
          <p:spPr>
            <a:xfrm>
              <a:off x="0" y="4514104"/>
              <a:ext cx="6091555" cy="2344420"/>
            </a:xfrm>
            <a:custGeom>
              <a:avLst/>
              <a:gdLst/>
              <a:ahLst/>
              <a:cxnLst/>
              <a:rect l="l" t="t" r="r" b="b"/>
              <a:pathLst>
                <a:path w="6091555" h="2344420">
                  <a:moveTo>
                    <a:pt x="0" y="0"/>
                  </a:moveTo>
                  <a:lnTo>
                    <a:pt x="0" y="1523715"/>
                  </a:lnTo>
                  <a:lnTo>
                    <a:pt x="46050" y="1579599"/>
                  </a:lnTo>
                  <a:lnTo>
                    <a:pt x="84966" y="1603433"/>
                  </a:lnTo>
                  <a:lnTo>
                    <a:pt x="123697" y="1651100"/>
                  </a:lnTo>
                  <a:lnTo>
                    <a:pt x="162244" y="1674934"/>
                  </a:lnTo>
                  <a:lnTo>
                    <a:pt x="200603" y="1722602"/>
                  </a:lnTo>
                  <a:lnTo>
                    <a:pt x="238775" y="1746436"/>
                  </a:lnTo>
                  <a:lnTo>
                    <a:pt x="276759" y="1794104"/>
                  </a:lnTo>
                  <a:lnTo>
                    <a:pt x="352156" y="1841771"/>
                  </a:lnTo>
                  <a:lnTo>
                    <a:pt x="389568" y="1889439"/>
                  </a:lnTo>
                  <a:lnTo>
                    <a:pt x="463811" y="1937107"/>
                  </a:lnTo>
                  <a:lnTo>
                    <a:pt x="500640" y="1984774"/>
                  </a:lnTo>
                  <a:lnTo>
                    <a:pt x="645986" y="2080110"/>
                  </a:lnTo>
                  <a:lnTo>
                    <a:pt x="823151" y="2199279"/>
                  </a:lnTo>
                  <a:lnTo>
                    <a:pt x="961184" y="2294614"/>
                  </a:lnTo>
                  <a:lnTo>
                    <a:pt x="979870" y="2294614"/>
                  </a:lnTo>
                  <a:lnTo>
                    <a:pt x="988570" y="2318448"/>
                  </a:lnTo>
                  <a:lnTo>
                    <a:pt x="997163" y="2318448"/>
                  </a:lnTo>
                  <a:lnTo>
                    <a:pt x="1059066" y="2342282"/>
                  </a:lnTo>
                  <a:lnTo>
                    <a:pt x="1061143" y="2343892"/>
                  </a:lnTo>
                  <a:lnTo>
                    <a:pt x="3418647" y="2343892"/>
                  </a:lnTo>
                  <a:lnTo>
                    <a:pt x="3420824" y="2342282"/>
                  </a:lnTo>
                  <a:lnTo>
                    <a:pt x="3452258" y="2342282"/>
                  </a:lnTo>
                  <a:lnTo>
                    <a:pt x="3482898" y="2318448"/>
                  </a:lnTo>
                  <a:lnTo>
                    <a:pt x="3512739" y="2294614"/>
                  </a:lnTo>
                  <a:lnTo>
                    <a:pt x="3541772" y="2270780"/>
                  </a:lnTo>
                  <a:lnTo>
                    <a:pt x="3569990" y="2246946"/>
                  </a:lnTo>
                  <a:lnTo>
                    <a:pt x="3597386" y="2246946"/>
                  </a:lnTo>
                  <a:lnTo>
                    <a:pt x="3623954" y="2223113"/>
                  </a:lnTo>
                  <a:lnTo>
                    <a:pt x="3649685" y="2199279"/>
                  </a:lnTo>
                  <a:lnTo>
                    <a:pt x="3674572" y="2175445"/>
                  </a:lnTo>
                  <a:lnTo>
                    <a:pt x="3698609" y="2151611"/>
                  </a:lnTo>
                  <a:lnTo>
                    <a:pt x="3721788" y="2151611"/>
                  </a:lnTo>
                  <a:lnTo>
                    <a:pt x="3744102" y="2127777"/>
                  </a:lnTo>
                  <a:lnTo>
                    <a:pt x="3765544" y="2103943"/>
                  </a:lnTo>
                  <a:lnTo>
                    <a:pt x="3786106" y="2080110"/>
                  </a:lnTo>
                  <a:lnTo>
                    <a:pt x="3805781" y="2080110"/>
                  </a:lnTo>
                  <a:lnTo>
                    <a:pt x="3824562" y="2056276"/>
                  </a:lnTo>
                  <a:lnTo>
                    <a:pt x="3842443" y="2032442"/>
                  </a:lnTo>
                  <a:lnTo>
                    <a:pt x="3859415" y="2032442"/>
                  </a:lnTo>
                  <a:lnTo>
                    <a:pt x="3875471" y="2008608"/>
                  </a:lnTo>
                  <a:lnTo>
                    <a:pt x="3890605" y="2008608"/>
                  </a:lnTo>
                  <a:lnTo>
                    <a:pt x="3914575" y="1984774"/>
                  </a:lnTo>
                  <a:lnTo>
                    <a:pt x="3916148" y="1984774"/>
                  </a:lnTo>
                  <a:lnTo>
                    <a:pt x="3932165" y="1960940"/>
                  </a:lnTo>
                  <a:lnTo>
                    <a:pt x="3955668" y="1937107"/>
                  </a:lnTo>
                  <a:lnTo>
                    <a:pt x="3980337" y="1913273"/>
                  </a:lnTo>
                  <a:lnTo>
                    <a:pt x="3337923" y="1913273"/>
                  </a:lnTo>
                  <a:lnTo>
                    <a:pt x="3289971" y="1889439"/>
                  </a:lnTo>
                  <a:lnTo>
                    <a:pt x="3145380" y="1889439"/>
                  </a:lnTo>
                  <a:lnTo>
                    <a:pt x="3096901" y="1865605"/>
                  </a:lnTo>
                  <a:lnTo>
                    <a:pt x="2999459" y="1865605"/>
                  </a:lnTo>
                  <a:lnTo>
                    <a:pt x="2950472" y="1841771"/>
                  </a:lnTo>
                  <a:lnTo>
                    <a:pt x="2901295" y="1841771"/>
                  </a:lnTo>
                  <a:lnTo>
                    <a:pt x="2851916" y="1817937"/>
                  </a:lnTo>
                  <a:lnTo>
                    <a:pt x="2802325" y="1817937"/>
                  </a:lnTo>
                  <a:lnTo>
                    <a:pt x="2702461" y="1770270"/>
                  </a:lnTo>
                  <a:lnTo>
                    <a:pt x="2652168" y="1770270"/>
                  </a:lnTo>
                  <a:lnTo>
                    <a:pt x="2550802" y="1722602"/>
                  </a:lnTo>
                  <a:lnTo>
                    <a:pt x="2499709" y="1722602"/>
                  </a:lnTo>
                  <a:lnTo>
                    <a:pt x="2448328" y="1698768"/>
                  </a:lnTo>
                  <a:lnTo>
                    <a:pt x="2411873" y="1674934"/>
                  </a:lnTo>
                  <a:lnTo>
                    <a:pt x="2375266" y="1674934"/>
                  </a:lnTo>
                  <a:lnTo>
                    <a:pt x="2301580" y="1627267"/>
                  </a:lnTo>
                  <a:lnTo>
                    <a:pt x="2264493" y="1627267"/>
                  </a:lnTo>
                  <a:lnTo>
                    <a:pt x="2152214" y="1555765"/>
                  </a:lnTo>
                  <a:lnTo>
                    <a:pt x="2114435" y="1555765"/>
                  </a:lnTo>
                  <a:lnTo>
                    <a:pt x="1883800" y="1412762"/>
                  </a:lnTo>
                  <a:lnTo>
                    <a:pt x="1844665" y="1412762"/>
                  </a:lnTo>
                  <a:lnTo>
                    <a:pt x="1645784" y="1293593"/>
                  </a:lnTo>
                  <a:lnTo>
                    <a:pt x="1605340" y="1245925"/>
                  </a:lnTo>
                  <a:lnTo>
                    <a:pt x="1399575" y="1126756"/>
                  </a:lnTo>
                  <a:lnTo>
                    <a:pt x="1357686" y="1102922"/>
                  </a:lnTo>
                  <a:lnTo>
                    <a:pt x="1315544" y="1055254"/>
                  </a:lnTo>
                  <a:lnTo>
                    <a:pt x="1187555" y="983753"/>
                  </a:lnTo>
                  <a:lnTo>
                    <a:pt x="1144359" y="936085"/>
                  </a:lnTo>
                  <a:lnTo>
                    <a:pt x="1100890" y="912251"/>
                  </a:lnTo>
                  <a:lnTo>
                    <a:pt x="1057145" y="864584"/>
                  </a:lnTo>
                  <a:lnTo>
                    <a:pt x="968810" y="816916"/>
                  </a:lnTo>
                  <a:lnTo>
                    <a:pt x="924212" y="769248"/>
                  </a:lnTo>
                  <a:lnTo>
                    <a:pt x="879323" y="745415"/>
                  </a:lnTo>
                  <a:lnTo>
                    <a:pt x="834139" y="697747"/>
                  </a:lnTo>
                  <a:lnTo>
                    <a:pt x="788655" y="673913"/>
                  </a:lnTo>
                  <a:lnTo>
                    <a:pt x="696776" y="578578"/>
                  </a:lnTo>
                  <a:lnTo>
                    <a:pt x="650373" y="554744"/>
                  </a:lnTo>
                  <a:lnTo>
                    <a:pt x="556620" y="459408"/>
                  </a:lnTo>
                  <a:lnTo>
                    <a:pt x="509263" y="435575"/>
                  </a:lnTo>
                  <a:lnTo>
                    <a:pt x="413568" y="340239"/>
                  </a:lnTo>
                  <a:lnTo>
                    <a:pt x="365223" y="292572"/>
                  </a:lnTo>
                  <a:lnTo>
                    <a:pt x="316542" y="268738"/>
                  </a:lnTo>
                  <a:lnTo>
                    <a:pt x="164795" y="125735"/>
                  </a:lnTo>
                  <a:lnTo>
                    <a:pt x="114373" y="101901"/>
                  </a:lnTo>
                  <a:lnTo>
                    <a:pt x="13809" y="6565"/>
                  </a:lnTo>
                  <a:lnTo>
                    <a:pt x="0" y="0"/>
                  </a:lnTo>
                  <a:close/>
                </a:path>
                <a:path w="6091555" h="2344420">
                  <a:moveTo>
                    <a:pt x="3999852" y="1889439"/>
                  </a:moveTo>
                  <a:lnTo>
                    <a:pt x="3908282" y="1889439"/>
                  </a:lnTo>
                  <a:lnTo>
                    <a:pt x="3860871" y="1913273"/>
                  </a:lnTo>
                  <a:lnTo>
                    <a:pt x="3980337" y="1913273"/>
                  </a:lnTo>
                  <a:lnTo>
                    <a:pt x="3999852" y="1889439"/>
                  </a:lnTo>
                  <a:close/>
                </a:path>
                <a:path w="6091555" h="2344420">
                  <a:moveTo>
                    <a:pt x="5575743" y="554744"/>
                  </a:moveTo>
                  <a:lnTo>
                    <a:pt x="4388256" y="554744"/>
                  </a:lnTo>
                  <a:lnTo>
                    <a:pt x="4191576" y="650079"/>
                  </a:lnTo>
                  <a:lnTo>
                    <a:pt x="4141182" y="650079"/>
                  </a:lnTo>
                  <a:lnTo>
                    <a:pt x="3934839" y="745415"/>
                  </a:lnTo>
                  <a:lnTo>
                    <a:pt x="3882082" y="793082"/>
                  </a:lnTo>
                  <a:lnTo>
                    <a:pt x="3666503" y="888418"/>
                  </a:lnTo>
                  <a:lnTo>
                    <a:pt x="3611491" y="936085"/>
                  </a:lnTo>
                  <a:lnTo>
                    <a:pt x="3556040" y="959919"/>
                  </a:lnTo>
                  <a:lnTo>
                    <a:pt x="3500156" y="1007587"/>
                  </a:lnTo>
                  <a:lnTo>
                    <a:pt x="3443842" y="1031421"/>
                  </a:lnTo>
                  <a:lnTo>
                    <a:pt x="3387102" y="1079088"/>
                  </a:lnTo>
                  <a:lnTo>
                    <a:pt x="3329941" y="1102922"/>
                  </a:lnTo>
                  <a:lnTo>
                    <a:pt x="3272364" y="1150590"/>
                  </a:lnTo>
                  <a:lnTo>
                    <a:pt x="3220139" y="1174424"/>
                  </a:lnTo>
                  <a:lnTo>
                    <a:pt x="3170706" y="1222091"/>
                  </a:lnTo>
                  <a:lnTo>
                    <a:pt x="3123816" y="1245925"/>
                  </a:lnTo>
                  <a:lnTo>
                    <a:pt x="3079222" y="1269759"/>
                  </a:lnTo>
                  <a:lnTo>
                    <a:pt x="3036678" y="1293593"/>
                  </a:lnTo>
                  <a:lnTo>
                    <a:pt x="2956750" y="1365094"/>
                  </a:lnTo>
                  <a:lnTo>
                    <a:pt x="2918872" y="1388928"/>
                  </a:lnTo>
                  <a:lnTo>
                    <a:pt x="2882056" y="1412762"/>
                  </a:lnTo>
                  <a:lnTo>
                    <a:pt x="2846053" y="1436596"/>
                  </a:lnTo>
                  <a:lnTo>
                    <a:pt x="2810618" y="1460430"/>
                  </a:lnTo>
                  <a:lnTo>
                    <a:pt x="2807283" y="1460430"/>
                  </a:lnTo>
                  <a:lnTo>
                    <a:pt x="2838272" y="1484264"/>
                  </a:lnTo>
                  <a:lnTo>
                    <a:pt x="2871144" y="1508097"/>
                  </a:lnTo>
                  <a:lnTo>
                    <a:pt x="2905817" y="1531931"/>
                  </a:lnTo>
                  <a:lnTo>
                    <a:pt x="2942208" y="1555765"/>
                  </a:lnTo>
                  <a:lnTo>
                    <a:pt x="2980234" y="1579599"/>
                  </a:lnTo>
                  <a:lnTo>
                    <a:pt x="3019812" y="1603433"/>
                  </a:lnTo>
                  <a:lnTo>
                    <a:pt x="3060859" y="1603433"/>
                  </a:lnTo>
                  <a:lnTo>
                    <a:pt x="3103292" y="1627267"/>
                  </a:lnTo>
                  <a:lnTo>
                    <a:pt x="3147028" y="1651100"/>
                  </a:lnTo>
                  <a:lnTo>
                    <a:pt x="3191985" y="1674934"/>
                  </a:lnTo>
                  <a:lnTo>
                    <a:pt x="3238078" y="1698768"/>
                  </a:lnTo>
                  <a:lnTo>
                    <a:pt x="3285226" y="1722602"/>
                  </a:lnTo>
                  <a:lnTo>
                    <a:pt x="3333346" y="1746436"/>
                  </a:lnTo>
                  <a:lnTo>
                    <a:pt x="3382354" y="1746436"/>
                  </a:lnTo>
                  <a:lnTo>
                    <a:pt x="3482704" y="1794104"/>
                  </a:lnTo>
                  <a:lnTo>
                    <a:pt x="3533881" y="1794104"/>
                  </a:lnTo>
                  <a:lnTo>
                    <a:pt x="3585614" y="1817937"/>
                  </a:lnTo>
                  <a:lnTo>
                    <a:pt x="3637821" y="1817937"/>
                  </a:lnTo>
                  <a:lnTo>
                    <a:pt x="3690419" y="1841771"/>
                  </a:lnTo>
                  <a:lnTo>
                    <a:pt x="3743325" y="1841771"/>
                  </a:lnTo>
                  <a:lnTo>
                    <a:pt x="3796456" y="1865605"/>
                  </a:lnTo>
                  <a:lnTo>
                    <a:pt x="4009574" y="1865605"/>
                  </a:lnTo>
                  <a:lnTo>
                    <a:pt x="4051786" y="1841771"/>
                  </a:lnTo>
                  <a:lnTo>
                    <a:pt x="4090347" y="1794104"/>
                  </a:lnTo>
                  <a:lnTo>
                    <a:pt x="4126012" y="1746436"/>
                  </a:lnTo>
                  <a:lnTo>
                    <a:pt x="4159539" y="1722602"/>
                  </a:lnTo>
                  <a:lnTo>
                    <a:pt x="4191684" y="1674934"/>
                  </a:lnTo>
                  <a:lnTo>
                    <a:pt x="4223203" y="1651100"/>
                  </a:lnTo>
                  <a:lnTo>
                    <a:pt x="4254851" y="1603433"/>
                  </a:lnTo>
                  <a:lnTo>
                    <a:pt x="4287386" y="1579599"/>
                  </a:lnTo>
                  <a:lnTo>
                    <a:pt x="4321564" y="1531931"/>
                  </a:lnTo>
                  <a:lnTo>
                    <a:pt x="4358140" y="1484264"/>
                  </a:lnTo>
                  <a:lnTo>
                    <a:pt x="4422009" y="1412762"/>
                  </a:lnTo>
                  <a:lnTo>
                    <a:pt x="4484695" y="1365094"/>
                  </a:lnTo>
                  <a:lnTo>
                    <a:pt x="4546202" y="1293593"/>
                  </a:lnTo>
                  <a:lnTo>
                    <a:pt x="4606537" y="1222091"/>
                  </a:lnTo>
                  <a:lnTo>
                    <a:pt x="4665704" y="1174424"/>
                  </a:lnTo>
                  <a:lnTo>
                    <a:pt x="4723711" y="1126756"/>
                  </a:lnTo>
                  <a:lnTo>
                    <a:pt x="4780562" y="1079088"/>
                  </a:lnTo>
                  <a:lnTo>
                    <a:pt x="4836264" y="1031421"/>
                  </a:lnTo>
                  <a:lnTo>
                    <a:pt x="4890821" y="983753"/>
                  </a:lnTo>
                  <a:lnTo>
                    <a:pt x="4944240" y="936085"/>
                  </a:lnTo>
                  <a:lnTo>
                    <a:pt x="4996525" y="888418"/>
                  </a:lnTo>
                  <a:lnTo>
                    <a:pt x="5047684" y="864584"/>
                  </a:lnTo>
                  <a:lnTo>
                    <a:pt x="5097722" y="816916"/>
                  </a:lnTo>
                  <a:lnTo>
                    <a:pt x="5146643" y="793082"/>
                  </a:lnTo>
                  <a:lnTo>
                    <a:pt x="5194455" y="745415"/>
                  </a:lnTo>
                  <a:lnTo>
                    <a:pt x="5241162" y="721581"/>
                  </a:lnTo>
                  <a:lnTo>
                    <a:pt x="5286771" y="697747"/>
                  </a:lnTo>
                  <a:lnTo>
                    <a:pt x="5331286" y="673913"/>
                  </a:lnTo>
                  <a:lnTo>
                    <a:pt x="5374714" y="650079"/>
                  </a:lnTo>
                  <a:lnTo>
                    <a:pt x="5417061" y="626245"/>
                  </a:lnTo>
                  <a:lnTo>
                    <a:pt x="5458331" y="602411"/>
                  </a:lnTo>
                  <a:lnTo>
                    <a:pt x="5498531" y="602411"/>
                  </a:lnTo>
                  <a:lnTo>
                    <a:pt x="5537667" y="578578"/>
                  </a:lnTo>
                  <a:lnTo>
                    <a:pt x="5575743" y="554744"/>
                  </a:lnTo>
                  <a:close/>
                </a:path>
                <a:path w="6091555" h="2344420">
                  <a:moveTo>
                    <a:pt x="5717573" y="507076"/>
                  </a:moveTo>
                  <a:lnTo>
                    <a:pt x="4530506" y="507076"/>
                  </a:lnTo>
                  <a:lnTo>
                    <a:pt x="4436181" y="554744"/>
                  </a:lnTo>
                  <a:lnTo>
                    <a:pt x="5612766" y="554744"/>
                  </a:lnTo>
                  <a:lnTo>
                    <a:pt x="5648742" y="530910"/>
                  </a:lnTo>
                  <a:lnTo>
                    <a:pt x="5683676" y="530910"/>
                  </a:lnTo>
                  <a:lnTo>
                    <a:pt x="5717573" y="507076"/>
                  </a:lnTo>
                  <a:close/>
                </a:path>
                <a:path w="6091555" h="2344420">
                  <a:moveTo>
                    <a:pt x="6045579" y="459408"/>
                  </a:moveTo>
                  <a:lnTo>
                    <a:pt x="4668119" y="459408"/>
                  </a:lnTo>
                  <a:lnTo>
                    <a:pt x="4576898" y="507076"/>
                  </a:lnTo>
                  <a:lnTo>
                    <a:pt x="5813104" y="507076"/>
                  </a:lnTo>
                  <a:lnTo>
                    <a:pt x="5842913" y="483242"/>
                  </a:lnTo>
                  <a:lnTo>
                    <a:pt x="6023674" y="483242"/>
                  </a:lnTo>
                  <a:lnTo>
                    <a:pt x="6045579" y="459408"/>
                  </a:lnTo>
                  <a:close/>
                </a:path>
                <a:path w="6091555" h="2344420">
                  <a:moveTo>
                    <a:pt x="6017407" y="411741"/>
                  </a:moveTo>
                  <a:lnTo>
                    <a:pt x="4844190" y="411741"/>
                  </a:lnTo>
                  <a:lnTo>
                    <a:pt x="4800979" y="435575"/>
                  </a:lnTo>
                  <a:lnTo>
                    <a:pt x="4757227" y="435575"/>
                  </a:lnTo>
                  <a:lnTo>
                    <a:pt x="4712939" y="459408"/>
                  </a:lnTo>
                  <a:lnTo>
                    <a:pt x="6091007" y="459408"/>
                  </a:lnTo>
                  <a:lnTo>
                    <a:pt x="6055588" y="435575"/>
                  </a:lnTo>
                  <a:lnTo>
                    <a:pt x="6017407" y="411741"/>
                  </a:lnTo>
                  <a:close/>
                </a:path>
                <a:path w="6091555" h="2344420">
                  <a:moveTo>
                    <a:pt x="5932892" y="387907"/>
                  </a:moveTo>
                  <a:lnTo>
                    <a:pt x="4970535" y="387907"/>
                  </a:lnTo>
                  <a:lnTo>
                    <a:pt x="4928972" y="411741"/>
                  </a:lnTo>
                  <a:lnTo>
                    <a:pt x="5976497" y="411741"/>
                  </a:lnTo>
                  <a:lnTo>
                    <a:pt x="5932892" y="387907"/>
                  </a:lnTo>
                  <a:close/>
                </a:path>
                <a:path w="6091555" h="2344420">
                  <a:moveTo>
                    <a:pt x="5837725" y="364073"/>
                  </a:moveTo>
                  <a:lnTo>
                    <a:pt x="5091858" y="364073"/>
                  </a:lnTo>
                  <a:lnTo>
                    <a:pt x="5051982" y="387907"/>
                  </a:lnTo>
                  <a:lnTo>
                    <a:pt x="5886623" y="387907"/>
                  </a:lnTo>
                  <a:lnTo>
                    <a:pt x="5837725" y="364073"/>
                  </a:lnTo>
                  <a:close/>
                </a:path>
                <a:path w="6091555" h="2344420">
                  <a:moveTo>
                    <a:pt x="5616484" y="340239"/>
                  </a:moveTo>
                  <a:lnTo>
                    <a:pt x="5318979" y="340239"/>
                  </a:lnTo>
                  <a:lnTo>
                    <a:pt x="5282591" y="364073"/>
                  </a:lnTo>
                  <a:lnTo>
                    <a:pt x="5675576" y="364073"/>
                  </a:lnTo>
                  <a:lnTo>
                    <a:pt x="5616484" y="340239"/>
                  </a:lnTo>
                  <a:close/>
                </a:path>
              </a:pathLst>
            </a:custGeom>
            <a:solidFill>
              <a:srgbClr val="DED5C7"/>
            </a:solidFill>
          </p:spPr>
          <p:txBody>
            <a:bodyPr wrap="square" lIns="0" tIns="0" rIns="0" bIns="0" rtlCol="0"/>
            <a:lstStyle/>
            <a:p>
              <a:endParaRPr/>
            </a:p>
          </p:txBody>
        </p:sp>
        <p:sp>
          <p:nvSpPr>
            <p:cNvPr id="5" name="object 5"/>
            <p:cNvSpPr/>
            <p:nvPr/>
          </p:nvSpPr>
          <p:spPr>
            <a:xfrm>
              <a:off x="11120500" y="309626"/>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grpSp>
      <p:sp>
        <p:nvSpPr>
          <p:cNvPr id="6" name="object 6"/>
          <p:cNvSpPr txBox="1"/>
          <p:nvPr/>
        </p:nvSpPr>
        <p:spPr>
          <a:xfrm>
            <a:off x="11207115" y="295021"/>
            <a:ext cx="83185" cy="151130"/>
          </a:xfrm>
          <a:prstGeom prst="rect">
            <a:avLst/>
          </a:prstGeom>
        </p:spPr>
        <p:txBody>
          <a:bodyPr vert="horz" wrap="square" lIns="0" tIns="15875" rIns="0" bIns="0" rtlCol="0">
            <a:spAutoFit/>
          </a:bodyPr>
          <a:lstStyle/>
          <a:p>
            <a:pPr marL="12700">
              <a:lnSpc>
                <a:spcPct val="100000"/>
              </a:lnSpc>
              <a:spcBef>
                <a:spcPts val="125"/>
              </a:spcBef>
            </a:pPr>
            <a:r>
              <a:rPr sz="800" spc="-50" dirty="0">
                <a:solidFill>
                  <a:srgbClr val="FFFFFF"/>
                </a:solidFill>
                <a:latin typeface="Lucida Sans Unicode"/>
                <a:cs typeface="Lucida Sans Unicode"/>
              </a:rPr>
              <a:t>7</a:t>
            </a:r>
            <a:endParaRPr sz="800">
              <a:latin typeface="Lucida Sans Unicode"/>
              <a:cs typeface="Lucida Sans Unicode"/>
            </a:endParaRPr>
          </a:p>
        </p:txBody>
      </p:sp>
      <p:grpSp>
        <p:nvGrpSpPr>
          <p:cNvPr id="7" name="object 7"/>
          <p:cNvGrpSpPr/>
          <p:nvPr/>
        </p:nvGrpSpPr>
        <p:grpSpPr>
          <a:xfrm>
            <a:off x="106362" y="0"/>
            <a:ext cx="12085955" cy="6858000"/>
            <a:chOff x="106362" y="0"/>
            <a:chExt cx="12085955" cy="6858000"/>
          </a:xfrm>
        </p:grpSpPr>
        <p:sp>
          <p:nvSpPr>
            <p:cNvPr id="8" name="object 8"/>
            <p:cNvSpPr/>
            <p:nvPr/>
          </p:nvSpPr>
          <p:spPr>
            <a:xfrm>
              <a:off x="12087225" y="0"/>
              <a:ext cx="104775" cy="6858000"/>
            </a:xfrm>
            <a:custGeom>
              <a:avLst/>
              <a:gdLst/>
              <a:ahLst/>
              <a:cxnLst/>
              <a:rect l="l" t="t" r="r" b="b"/>
              <a:pathLst>
                <a:path w="104775" h="6858000">
                  <a:moveTo>
                    <a:pt x="104775" y="0"/>
                  </a:moveTo>
                  <a:lnTo>
                    <a:pt x="0" y="0"/>
                  </a:lnTo>
                  <a:lnTo>
                    <a:pt x="0" y="6858000"/>
                  </a:lnTo>
                  <a:lnTo>
                    <a:pt x="104775" y="6858000"/>
                  </a:lnTo>
                  <a:lnTo>
                    <a:pt x="104775" y="0"/>
                  </a:lnTo>
                  <a:close/>
                </a:path>
              </a:pathLst>
            </a:custGeom>
            <a:solidFill>
              <a:srgbClr val="EDEBE3"/>
            </a:solidFill>
          </p:spPr>
          <p:txBody>
            <a:bodyPr wrap="square" lIns="0" tIns="0" rIns="0" bIns="0" rtlCol="0"/>
            <a:lstStyle/>
            <a:p>
              <a:endParaRPr/>
            </a:p>
          </p:txBody>
        </p:sp>
        <p:sp>
          <p:nvSpPr>
            <p:cNvPr id="9" name="object 9"/>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10" name="object 10"/>
          <p:cNvSpPr txBox="1"/>
          <p:nvPr/>
        </p:nvSpPr>
        <p:spPr>
          <a:xfrm>
            <a:off x="1036002" y="3304032"/>
            <a:ext cx="3366770" cy="491801"/>
          </a:xfrm>
          <a:prstGeom prst="rect">
            <a:avLst/>
          </a:prstGeom>
        </p:spPr>
        <p:txBody>
          <a:bodyPr vert="horz" wrap="square" lIns="0" tIns="60325" rIns="0" bIns="0" rtlCol="0">
            <a:spAutoFit/>
          </a:bodyPr>
          <a:lstStyle/>
          <a:p>
            <a:pPr marL="194310">
              <a:lnSpc>
                <a:spcPct val="100000"/>
              </a:lnSpc>
              <a:spcBef>
                <a:spcPts val="1485"/>
              </a:spcBef>
            </a:pPr>
            <a:r>
              <a:rPr lang="en-US" sz="2800" dirty="0">
                <a:solidFill>
                  <a:srgbClr val="AC9976"/>
                </a:solidFill>
                <a:latin typeface="Lucida Sans Unicode"/>
                <a:cs typeface="Lucida Sans Unicode"/>
              </a:rPr>
              <a:t>Fitness and Spa</a:t>
            </a:r>
            <a:endParaRPr lang="en-US" sz="2800" dirty="0">
              <a:latin typeface="Lucida Sans Unicode"/>
              <a:cs typeface="Lucida Sans Unicode"/>
            </a:endParaRPr>
          </a:p>
        </p:txBody>
      </p:sp>
      <p:sp>
        <p:nvSpPr>
          <p:cNvPr id="11" name="object 11"/>
          <p:cNvSpPr txBox="1"/>
          <p:nvPr/>
        </p:nvSpPr>
        <p:spPr>
          <a:xfrm>
            <a:off x="1047750" y="2705100"/>
            <a:ext cx="438150" cy="428625"/>
          </a:xfrm>
          <a:prstGeom prst="rect">
            <a:avLst/>
          </a:prstGeom>
          <a:solidFill>
            <a:srgbClr val="AC9976"/>
          </a:solidFill>
        </p:spPr>
        <p:txBody>
          <a:bodyPr vert="horz" wrap="square" lIns="0" tIns="136525" rIns="0" bIns="0" rtlCol="0">
            <a:spAutoFit/>
          </a:bodyPr>
          <a:lstStyle/>
          <a:p>
            <a:pPr marL="133350">
              <a:lnSpc>
                <a:spcPct val="100000"/>
              </a:lnSpc>
              <a:spcBef>
                <a:spcPts val="1075"/>
              </a:spcBef>
            </a:pPr>
            <a:r>
              <a:rPr sz="1200" spc="-25" dirty="0">
                <a:solidFill>
                  <a:srgbClr val="FFFFFF"/>
                </a:solidFill>
                <a:latin typeface="Lucida Sans Unicode"/>
                <a:cs typeface="Lucida Sans Unicode"/>
              </a:rPr>
              <a:t>01</a:t>
            </a:r>
            <a:endParaRPr sz="1200">
              <a:latin typeface="Lucida Sans Unicode"/>
              <a:cs typeface="Lucida Sans Unicode"/>
            </a:endParaRPr>
          </a:p>
        </p:txBody>
      </p:sp>
      <p:grpSp>
        <p:nvGrpSpPr>
          <p:cNvPr id="12" name="object 12"/>
          <p:cNvGrpSpPr/>
          <p:nvPr/>
        </p:nvGrpSpPr>
        <p:grpSpPr>
          <a:xfrm>
            <a:off x="11507372" y="286715"/>
            <a:ext cx="407034" cy="158115"/>
            <a:chOff x="11507372" y="286715"/>
            <a:chExt cx="407034" cy="158115"/>
          </a:xfrm>
        </p:grpSpPr>
        <p:pic>
          <p:nvPicPr>
            <p:cNvPr id="13" name="object 13"/>
            <p:cNvPicPr/>
            <p:nvPr/>
          </p:nvPicPr>
          <p:blipFill>
            <a:blip r:embed="rId2" cstate="print"/>
            <a:stretch>
              <a:fillRect/>
            </a:stretch>
          </p:blipFill>
          <p:spPr>
            <a:xfrm>
              <a:off x="11766807" y="339886"/>
              <a:ext cx="147284" cy="68676"/>
            </a:xfrm>
            <a:prstGeom prst="rect">
              <a:avLst/>
            </a:prstGeom>
          </p:spPr>
        </p:pic>
        <p:sp>
          <p:nvSpPr>
            <p:cNvPr id="14" name="object 14"/>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FFFFFF"/>
            </a:solidFill>
          </p:spPr>
          <p:txBody>
            <a:bodyPr wrap="square" lIns="0" tIns="0" rIns="0" bIns="0" rtlCol="0"/>
            <a:lstStyle/>
            <a:p>
              <a:endParaRPr/>
            </a:p>
          </p:txBody>
        </p:sp>
      </p:grpSp>
      <p:pic>
        <p:nvPicPr>
          <p:cNvPr id="15" name="object 8">
            <a:extLst>
              <a:ext uri="{FF2B5EF4-FFF2-40B4-BE49-F238E27FC236}">
                <a16:creationId xmlns:a16="http://schemas.microsoft.com/office/drawing/2014/main" id="{6B780FB3-CCE1-89AD-1904-D539DA2D680F}"/>
              </a:ext>
            </a:extLst>
          </p:cNvPr>
          <p:cNvPicPr/>
          <p:nvPr/>
        </p:nvPicPr>
        <p:blipFill>
          <a:blip r:embed="rId3" cstate="print"/>
          <a:stretch>
            <a:fillRect/>
          </a:stretch>
        </p:blipFill>
        <p:spPr>
          <a:xfrm>
            <a:off x="6229350" y="104775"/>
            <a:ext cx="5848350" cy="6643688"/>
          </a:xfrm>
          <a:prstGeom prst="rect">
            <a:avLst/>
          </a:prstGeom>
        </p:spPr>
      </p:pic>
    </p:spTree>
    <p:extLst>
      <p:ext uri="{BB962C8B-B14F-4D97-AF65-F5344CB8AC3E}">
        <p14:creationId xmlns:p14="http://schemas.microsoft.com/office/powerpoint/2010/main" val="1938813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6362" y="106362"/>
            <a:ext cx="11988800" cy="6654800"/>
            <a:chOff x="106362" y="106362"/>
            <a:chExt cx="11988800" cy="6654800"/>
          </a:xfrm>
        </p:grpSpPr>
        <p:pic>
          <p:nvPicPr>
            <p:cNvPr id="3" name="object 3"/>
            <p:cNvPicPr/>
            <p:nvPr/>
          </p:nvPicPr>
          <p:blipFill>
            <a:blip r:embed="rId2" cstate="print"/>
            <a:stretch>
              <a:fillRect/>
            </a:stretch>
          </p:blipFill>
          <p:spPr>
            <a:xfrm>
              <a:off x="5457825" y="190500"/>
              <a:ext cx="1276350" cy="6477000"/>
            </a:xfrm>
            <a:prstGeom prst="rect">
              <a:avLst/>
            </a:prstGeom>
          </p:spPr>
        </p:pic>
        <p:sp>
          <p:nvSpPr>
            <p:cNvPr id="4" name="object 4"/>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5" name="object 5"/>
          <p:cNvSpPr txBox="1"/>
          <p:nvPr/>
        </p:nvSpPr>
        <p:spPr>
          <a:xfrm>
            <a:off x="10319384" y="295021"/>
            <a:ext cx="994410" cy="151130"/>
          </a:xfrm>
          <a:prstGeom prst="rect">
            <a:avLst/>
          </a:prstGeom>
        </p:spPr>
        <p:txBody>
          <a:bodyPr vert="horz" wrap="square" lIns="0" tIns="15875" rIns="0" bIns="0" rtlCol="0">
            <a:spAutoFit/>
          </a:bodyPr>
          <a:lstStyle/>
          <a:p>
            <a:pPr marL="12700">
              <a:lnSpc>
                <a:spcPct val="100000"/>
              </a:lnSpc>
              <a:spcBef>
                <a:spcPts val="125"/>
              </a:spcBef>
              <a:tabLst>
                <a:tab pos="899794" algn="l"/>
              </a:tabLst>
            </a:pPr>
            <a:r>
              <a:rPr sz="800" dirty="0">
                <a:solidFill>
                  <a:srgbClr val="AC9976"/>
                </a:solidFill>
                <a:latin typeface="Lucida Sans Unicode"/>
                <a:cs typeface="Lucida Sans Unicode"/>
              </a:rPr>
              <a:t>Section</a:t>
            </a:r>
            <a:r>
              <a:rPr sz="800" spc="120" dirty="0">
                <a:solidFill>
                  <a:srgbClr val="AC9976"/>
                </a:solidFill>
                <a:latin typeface="Lucida Sans Unicode"/>
                <a:cs typeface="Lucida Sans Unicode"/>
              </a:rPr>
              <a:t> </a:t>
            </a:r>
            <a:r>
              <a:rPr sz="800" spc="-20" dirty="0">
                <a:solidFill>
                  <a:srgbClr val="AC9976"/>
                </a:solidFill>
                <a:latin typeface="Lucida Sans Unicode"/>
                <a:cs typeface="Lucida Sans Unicode"/>
              </a:rPr>
              <a:t>Name</a:t>
            </a:r>
            <a:r>
              <a:rPr sz="800" dirty="0">
                <a:solidFill>
                  <a:srgbClr val="AC9976"/>
                </a:solidFill>
                <a:latin typeface="Lucida Sans Unicode"/>
                <a:cs typeface="Lucida Sans Unicode"/>
              </a:rPr>
              <a:t>	</a:t>
            </a:r>
            <a:r>
              <a:rPr sz="800" spc="-160" dirty="0">
                <a:solidFill>
                  <a:srgbClr val="AC9976"/>
                </a:solidFill>
                <a:latin typeface="Lucida Sans Unicode"/>
                <a:cs typeface="Lucida Sans Unicode"/>
              </a:rPr>
              <a:t>17</a:t>
            </a:r>
            <a:endParaRPr sz="800">
              <a:latin typeface="Lucida Sans Unicode"/>
              <a:cs typeface="Lucida Sans Unicode"/>
            </a:endParaRPr>
          </a:p>
        </p:txBody>
      </p:sp>
      <p:sp>
        <p:nvSpPr>
          <p:cNvPr id="6" name="object 6"/>
          <p:cNvSpPr txBox="1"/>
          <p:nvPr/>
        </p:nvSpPr>
        <p:spPr>
          <a:xfrm>
            <a:off x="7115429" y="3566210"/>
            <a:ext cx="4556760" cy="2695481"/>
          </a:xfrm>
          <a:prstGeom prst="rect">
            <a:avLst/>
          </a:prstGeom>
        </p:spPr>
        <p:txBody>
          <a:bodyPr vert="horz" wrap="square" lIns="0" tIns="67945" rIns="0" bIns="0" rtlCol="0">
            <a:spAutoFit/>
          </a:bodyPr>
          <a:lstStyle/>
          <a:p>
            <a:pPr marL="12700" marR="5080">
              <a:lnSpc>
                <a:spcPct val="130400"/>
              </a:lnSpc>
            </a:pPr>
            <a:r>
              <a:rPr lang="en-US" sz="1200" b="1" dirty="0">
                <a:solidFill>
                  <a:srgbClr val="AC9976"/>
                </a:solidFill>
                <a:latin typeface="Lucida Sans Unicode"/>
                <a:cs typeface="Lucida Sans Unicode"/>
              </a:rPr>
              <a:t>Helvetia</a:t>
            </a:r>
            <a:r>
              <a:rPr lang="ru-RU" sz="1200" b="1" dirty="0">
                <a:solidFill>
                  <a:srgbClr val="AC9976"/>
                </a:solidFill>
                <a:latin typeface="Lucida Sans Unicode"/>
                <a:cs typeface="Lucida Sans Unicode"/>
              </a:rPr>
              <a:t> </a:t>
            </a:r>
            <a:r>
              <a:rPr lang="en-US" sz="1200" b="1" dirty="0">
                <a:solidFill>
                  <a:srgbClr val="AC9976"/>
                </a:solidFill>
                <a:latin typeface="Lucida Sans Unicode"/>
                <a:cs typeface="Lucida Sans Unicode"/>
              </a:rPr>
              <a:t>SPA</a:t>
            </a:r>
            <a:r>
              <a:rPr lang="ru-RU" sz="1200" b="1" dirty="0">
                <a:solidFill>
                  <a:srgbClr val="AC9976"/>
                </a:solidFill>
                <a:latin typeface="Lucida Sans Unicode"/>
                <a:cs typeface="Lucida Sans Unicode"/>
              </a:rPr>
              <a:t> с</a:t>
            </a:r>
            <a:r>
              <a:rPr lang="en-US" sz="1200" b="1" dirty="0">
                <a:solidFill>
                  <a:srgbClr val="AC9976"/>
                </a:solidFill>
                <a:latin typeface="Lucida Sans Unicode"/>
                <a:cs typeface="Lucida Sans Unicode"/>
              </a:rPr>
              <a:t>entre:</a:t>
            </a:r>
            <a:endParaRPr lang="ru-RU" sz="1200" b="1" dirty="0">
              <a:solidFill>
                <a:srgbClr val="AC9976"/>
              </a:solidFill>
              <a:latin typeface="Lucida Sans Unicode"/>
              <a:cs typeface="Lucida Sans Unicode"/>
            </a:endParaRPr>
          </a:p>
          <a:p>
            <a:pPr marL="12700" marR="5080">
              <a:lnSpc>
                <a:spcPct val="130400"/>
              </a:lnSpc>
            </a:pPr>
            <a:endParaRPr lang="en-US" sz="1200" b="1" dirty="0">
              <a:solidFill>
                <a:srgbClr val="AC9976"/>
              </a:solidFill>
              <a:latin typeface="Lucida Sans Unicode"/>
              <a:cs typeface="Lucida Sans Unicode"/>
            </a:endParaRPr>
          </a:p>
          <a:p>
            <a:pPr marL="12700" marR="5080">
              <a:lnSpc>
                <a:spcPct val="130400"/>
              </a:lnSpc>
            </a:pPr>
            <a:r>
              <a:rPr lang="en-US" sz="1200" dirty="0">
                <a:solidFill>
                  <a:srgbClr val="AC9976"/>
                </a:solidFill>
                <a:latin typeface="Lucida Sans Unicode"/>
                <a:cs typeface="Lucida Sans Unicode"/>
              </a:rPr>
              <a:t>For relaxation and wellbeing, guests are invited to Helvetia</a:t>
            </a:r>
            <a:r>
              <a:rPr lang="ru-RU" sz="1200" dirty="0">
                <a:solidFill>
                  <a:srgbClr val="AC9976"/>
                </a:solidFill>
                <a:latin typeface="Lucida Sans Unicode"/>
                <a:cs typeface="Lucida Sans Unicode"/>
              </a:rPr>
              <a:t> </a:t>
            </a:r>
            <a:r>
              <a:rPr lang="en-US" sz="1200" dirty="0">
                <a:solidFill>
                  <a:srgbClr val="AC9976"/>
                </a:solidFill>
                <a:latin typeface="Lucida Sans Unicode"/>
                <a:cs typeface="Lucida Sans Unicode"/>
              </a:rPr>
              <a:t>SPA</a:t>
            </a:r>
            <a:r>
              <a:rPr lang="ru-RU" sz="1200" dirty="0">
                <a:solidFill>
                  <a:srgbClr val="AC9976"/>
                </a:solidFill>
                <a:latin typeface="Lucida Sans Unicode"/>
                <a:cs typeface="Lucida Sans Unicode"/>
              </a:rPr>
              <a:t> с</a:t>
            </a:r>
            <a:r>
              <a:rPr lang="en-US" sz="1200" dirty="0">
                <a:solidFill>
                  <a:srgbClr val="AC9976"/>
                </a:solidFill>
                <a:latin typeface="Lucida Sans Unicode"/>
                <a:cs typeface="Lucida Sans Unicode"/>
              </a:rPr>
              <a:t>entre, offering </a:t>
            </a:r>
            <a:r>
              <a:rPr lang="ru-RU" sz="1200" dirty="0">
                <a:solidFill>
                  <a:srgbClr val="AC9976"/>
                </a:solidFill>
                <a:latin typeface="Lucida Sans Unicode"/>
                <a:cs typeface="Lucida Sans Unicode"/>
              </a:rPr>
              <a:t>8 </a:t>
            </a:r>
            <a:r>
              <a:rPr lang="en-US" sz="1200" dirty="0">
                <a:solidFill>
                  <a:srgbClr val="AC9976"/>
                </a:solidFill>
                <a:latin typeface="Lucida Sans Unicode"/>
                <a:cs typeface="Lucida Sans Unicode"/>
              </a:rPr>
              <a:t>massage treatment rooms and sauna facilities. </a:t>
            </a:r>
            <a:endParaRPr lang="ru-RU" sz="1200" dirty="0">
              <a:solidFill>
                <a:srgbClr val="AC9976"/>
              </a:solidFill>
              <a:latin typeface="Lucida Sans Unicode"/>
              <a:cs typeface="Lucida Sans Unicode"/>
            </a:endParaRPr>
          </a:p>
          <a:p>
            <a:pPr marL="12700" marR="5080">
              <a:lnSpc>
                <a:spcPct val="130400"/>
              </a:lnSpc>
            </a:pPr>
            <a:endParaRPr lang="ru-RU" sz="1200" dirty="0">
              <a:solidFill>
                <a:srgbClr val="AC9976"/>
              </a:solidFill>
              <a:latin typeface="Lucida Sans Unicode"/>
              <a:cs typeface="Lucida Sans Unicode"/>
            </a:endParaRPr>
          </a:p>
          <a:p>
            <a:pPr marL="12700" marR="5080">
              <a:lnSpc>
                <a:spcPct val="130400"/>
              </a:lnSpc>
            </a:pPr>
            <a:r>
              <a:rPr lang="en-US" sz="1200" b="1" dirty="0">
                <a:solidFill>
                  <a:srgbClr val="AC9976"/>
                </a:solidFill>
                <a:latin typeface="Lucida Sans Unicode"/>
                <a:cs typeface="Lucida Sans Unicode"/>
              </a:rPr>
              <a:t>Fitness center:</a:t>
            </a:r>
            <a:endParaRPr lang="ru-RU" sz="1200" b="1" dirty="0">
              <a:solidFill>
                <a:srgbClr val="AC9976"/>
              </a:solidFill>
              <a:latin typeface="Lucida Sans Unicode"/>
              <a:cs typeface="Lucida Sans Unicode"/>
            </a:endParaRPr>
          </a:p>
          <a:p>
            <a:pPr marL="12700" marR="5080">
              <a:lnSpc>
                <a:spcPct val="130400"/>
              </a:lnSpc>
            </a:pPr>
            <a:r>
              <a:rPr lang="en-US" sz="1200" dirty="0">
                <a:solidFill>
                  <a:srgbClr val="AC9976"/>
                </a:solidFill>
                <a:latin typeface="Lucida Sans Unicode"/>
                <a:cs typeface="Lucida Sans Unicode"/>
              </a:rPr>
              <a:t>A modern fitness center with an indoor swimming pool is also available, providing a balanced experience for both business and leisure travelers.</a:t>
            </a:r>
          </a:p>
          <a:p>
            <a:pPr marL="12700" marR="5080">
              <a:lnSpc>
                <a:spcPct val="130400"/>
              </a:lnSpc>
            </a:pPr>
            <a:endParaRPr sz="1200" dirty="0">
              <a:latin typeface="Lucida Sans Unicode"/>
              <a:cs typeface="Lucida Sans Unicode"/>
            </a:endParaRPr>
          </a:p>
        </p:txBody>
      </p:sp>
      <p:sp>
        <p:nvSpPr>
          <p:cNvPr id="7" name="object 7"/>
          <p:cNvSpPr txBox="1">
            <a:spLocks noGrp="1"/>
          </p:cNvSpPr>
          <p:nvPr>
            <p:ph type="title"/>
          </p:nvPr>
        </p:nvSpPr>
        <p:spPr>
          <a:xfrm>
            <a:off x="7115429" y="2388488"/>
            <a:ext cx="4343146" cy="878446"/>
          </a:xfrm>
          <a:prstGeom prst="rect">
            <a:avLst/>
          </a:prstGeom>
        </p:spPr>
        <p:txBody>
          <a:bodyPr vert="horz" wrap="square" lIns="0" tIns="16510" rIns="0" bIns="0" rtlCol="0">
            <a:spAutoFit/>
          </a:bodyPr>
          <a:lstStyle/>
          <a:p>
            <a:pPr marL="12700">
              <a:lnSpc>
                <a:spcPct val="100000"/>
              </a:lnSpc>
              <a:spcBef>
                <a:spcPts val="130"/>
              </a:spcBef>
            </a:pPr>
            <a:r>
              <a:rPr lang="en-US" sz="2800" b="1" dirty="0">
                <a:solidFill>
                  <a:srgbClr val="AC9976"/>
                </a:solidFill>
                <a:latin typeface="Lucida Sans Unicode"/>
                <a:cs typeface="Lucida Sans Unicode"/>
              </a:rPr>
              <a:t>Helvetia</a:t>
            </a:r>
            <a:r>
              <a:rPr lang="ru-RU" sz="2800" b="1" dirty="0">
                <a:solidFill>
                  <a:srgbClr val="AC9976"/>
                </a:solidFill>
                <a:latin typeface="Lucida Sans Unicode"/>
                <a:cs typeface="Lucida Sans Unicode"/>
              </a:rPr>
              <a:t> </a:t>
            </a:r>
            <a:r>
              <a:rPr lang="en-US" sz="2800" b="1" dirty="0">
                <a:solidFill>
                  <a:srgbClr val="AC9976"/>
                </a:solidFill>
                <a:latin typeface="Lucida Sans Unicode"/>
                <a:cs typeface="Lucida Sans Unicode"/>
              </a:rPr>
              <a:t>SPA</a:t>
            </a:r>
            <a:r>
              <a:rPr lang="ru-RU" sz="2800" b="1" dirty="0">
                <a:solidFill>
                  <a:srgbClr val="AC9976"/>
                </a:solidFill>
                <a:latin typeface="Lucida Sans Unicode"/>
                <a:cs typeface="Lucida Sans Unicode"/>
              </a:rPr>
              <a:t> </a:t>
            </a:r>
            <a:r>
              <a:rPr lang="en-US" sz="2800" b="1" dirty="0">
                <a:solidFill>
                  <a:srgbClr val="AC9976"/>
                </a:solidFill>
                <a:latin typeface="Lucida Sans Unicode"/>
                <a:cs typeface="Lucida Sans Unicode"/>
              </a:rPr>
              <a:t>&amp; Wellness Centre</a:t>
            </a:r>
            <a:endParaRPr sz="2750" b="1" dirty="0">
              <a:latin typeface="Arial Black"/>
              <a:cs typeface="Arial Black"/>
            </a:endParaRPr>
          </a:p>
        </p:txBody>
      </p:sp>
      <p:pic>
        <p:nvPicPr>
          <p:cNvPr id="8" name="object 8"/>
          <p:cNvPicPr/>
          <p:nvPr/>
        </p:nvPicPr>
        <p:blipFill>
          <a:blip r:embed="rId3">
            <a:extLst>
              <a:ext uri="{28A0092B-C50C-407E-A947-70E740481C1C}">
                <a14:useLocalDpi xmlns:a14="http://schemas.microsoft.com/office/drawing/2010/main" val="0"/>
              </a:ext>
            </a:extLst>
          </a:blip>
          <a:srcRect l="24651" r="24651"/>
          <a:stretch/>
        </p:blipFill>
        <p:spPr>
          <a:xfrm>
            <a:off x="104775" y="100013"/>
            <a:ext cx="6000750" cy="6657973"/>
          </a:xfrm>
          <a:prstGeom prst="rect">
            <a:avLst/>
          </a:prstGeom>
        </p:spPr>
      </p:pic>
      <p:pic>
        <p:nvPicPr>
          <p:cNvPr id="10" name="Рисунок 9" descr="Изображение выглядит как зарисовка, рисунок, дизайн&#10;&#10;Автоматически созданное описание">
            <a:extLst>
              <a:ext uri="{FF2B5EF4-FFF2-40B4-BE49-F238E27FC236}">
                <a16:creationId xmlns:a16="http://schemas.microsoft.com/office/drawing/2014/main" id="{8BB8A7EB-43B5-63D4-EF97-F94F92F10A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486" y="1426545"/>
            <a:ext cx="5523325" cy="3680778"/>
          </a:xfrm>
          <a:prstGeom prst="rect">
            <a:avLst/>
          </a:prstGeom>
        </p:spPr>
      </p:pic>
      <p:sp>
        <p:nvSpPr>
          <p:cNvPr id="12" name="TextBox 11">
            <a:extLst>
              <a:ext uri="{FF2B5EF4-FFF2-40B4-BE49-F238E27FC236}">
                <a16:creationId xmlns:a16="http://schemas.microsoft.com/office/drawing/2014/main" id="{9F51012D-346C-04C6-5A9B-341EE4F322B8}"/>
              </a:ext>
            </a:extLst>
          </p:cNvPr>
          <p:cNvSpPr txBox="1"/>
          <p:nvPr/>
        </p:nvSpPr>
        <p:spPr>
          <a:xfrm>
            <a:off x="3048886" y="3052948"/>
            <a:ext cx="6097772" cy="369332"/>
          </a:xfrm>
          <a:prstGeom prst="rect">
            <a:avLst/>
          </a:prstGeom>
          <a:noFill/>
        </p:spPr>
        <p:txBody>
          <a:bodyPr wrap="square">
            <a:spAutoFit/>
          </a:bodyPr>
          <a:lstStyle/>
          <a:p>
            <a:endParaRPr lang="ru-RU"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09626"/>
            <a:ext cx="11120500" cy="6548898"/>
            <a:chOff x="0" y="309626"/>
            <a:chExt cx="11120500" cy="6548898"/>
          </a:xfrm>
        </p:grpSpPr>
        <p:sp>
          <p:nvSpPr>
            <p:cNvPr id="4" name="object 4"/>
            <p:cNvSpPr/>
            <p:nvPr/>
          </p:nvSpPr>
          <p:spPr>
            <a:xfrm>
              <a:off x="0" y="4514104"/>
              <a:ext cx="6091555" cy="2344420"/>
            </a:xfrm>
            <a:custGeom>
              <a:avLst/>
              <a:gdLst/>
              <a:ahLst/>
              <a:cxnLst/>
              <a:rect l="l" t="t" r="r" b="b"/>
              <a:pathLst>
                <a:path w="6091555" h="2344420">
                  <a:moveTo>
                    <a:pt x="0" y="0"/>
                  </a:moveTo>
                  <a:lnTo>
                    <a:pt x="0" y="1523715"/>
                  </a:lnTo>
                  <a:lnTo>
                    <a:pt x="46050" y="1579599"/>
                  </a:lnTo>
                  <a:lnTo>
                    <a:pt x="84966" y="1603433"/>
                  </a:lnTo>
                  <a:lnTo>
                    <a:pt x="123697" y="1651100"/>
                  </a:lnTo>
                  <a:lnTo>
                    <a:pt x="162244" y="1674934"/>
                  </a:lnTo>
                  <a:lnTo>
                    <a:pt x="200603" y="1722602"/>
                  </a:lnTo>
                  <a:lnTo>
                    <a:pt x="238775" y="1746436"/>
                  </a:lnTo>
                  <a:lnTo>
                    <a:pt x="276759" y="1794104"/>
                  </a:lnTo>
                  <a:lnTo>
                    <a:pt x="352156" y="1841771"/>
                  </a:lnTo>
                  <a:lnTo>
                    <a:pt x="389568" y="1889439"/>
                  </a:lnTo>
                  <a:lnTo>
                    <a:pt x="463811" y="1937107"/>
                  </a:lnTo>
                  <a:lnTo>
                    <a:pt x="500640" y="1984774"/>
                  </a:lnTo>
                  <a:lnTo>
                    <a:pt x="645986" y="2080110"/>
                  </a:lnTo>
                  <a:lnTo>
                    <a:pt x="823151" y="2199279"/>
                  </a:lnTo>
                  <a:lnTo>
                    <a:pt x="961184" y="2294614"/>
                  </a:lnTo>
                  <a:lnTo>
                    <a:pt x="979870" y="2294614"/>
                  </a:lnTo>
                  <a:lnTo>
                    <a:pt x="988570" y="2318448"/>
                  </a:lnTo>
                  <a:lnTo>
                    <a:pt x="997163" y="2318448"/>
                  </a:lnTo>
                  <a:lnTo>
                    <a:pt x="1059066" y="2342282"/>
                  </a:lnTo>
                  <a:lnTo>
                    <a:pt x="1061143" y="2343892"/>
                  </a:lnTo>
                  <a:lnTo>
                    <a:pt x="3418647" y="2343892"/>
                  </a:lnTo>
                  <a:lnTo>
                    <a:pt x="3420824" y="2342282"/>
                  </a:lnTo>
                  <a:lnTo>
                    <a:pt x="3452258" y="2342282"/>
                  </a:lnTo>
                  <a:lnTo>
                    <a:pt x="3482898" y="2318448"/>
                  </a:lnTo>
                  <a:lnTo>
                    <a:pt x="3512739" y="2294614"/>
                  </a:lnTo>
                  <a:lnTo>
                    <a:pt x="3541772" y="2270780"/>
                  </a:lnTo>
                  <a:lnTo>
                    <a:pt x="3569990" y="2246946"/>
                  </a:lnTo>
                  <a:lnTo>
                    <a:pt x="3597386" y="2246946"/>
                  </a:lnTo>
                  <a:lnTo>
                    <a:pt x="3623954" y="2223113"/>
                  </a:lnTo>
                  <a:lnTo>
                    <a:pt x="3649685" y="2199279"/>
                  </a:lnTo>
                  <a:lnTo>
                    <a:pt x="3674572" y="2175445"/>
                  </a:lnTo>
                  <a:lnTo>
                    <a:pt x="3698609" y="2151611"/>
                  </a:lnTo>
                  <a:lnTo>
                    <a:pt x="3721788" y="2151611"/>
                  </a:lnTo>
                  <a:lnTo>
                    <a:pt x="3744102" y="2127777"/>
                  </a:lnTo>
                  <a:lnTo>
                    <a:pt x="3765544" y="2103943"/>
                  </a:lnTo>
                  <a:lnTo>
                    <a:pt x="3786106" y="2080110"/>
                  </a:lnTo>
                  <a:lnTo>
                    <a:pt x="3805781" y="2080110"/>
                  </a:lnTo>
                  <a:lnTo>
                    <a:pt x="3824562" y="2056276"/>
                  </a:lnTo>
                  <a:lnTo>
                    <a:pt x="3842443" y="2032442"/>
                  </a:lnTo>
                  <a:lnTo>
                    <a:pt x="3859415" y="2032442"/>
                  </a:lnTo>
                  <a:lnTo>
                    <a:pt x="3875471" y="2008608"/>
                  </a:lnTo>
                  <a:lnTo>
                    <a:pt x="3890605" y="2008608"/>
                  </a:lnTo>
                  <a:lnTo>
                    <a:pt x="3914575" y="1984774"/>
                  </a:lnTo>
                  <a:lnTo>
                    <a:pt x="3916148" y="1984774"/>
                  </a:lnTo>
                  <a:lnTo>
                    <a:pt x="3932165" y="1960940"/>
                  </a:lnTo>
                  <a:lnTo>
                    <a:pt x="3955668" y="1937107"/>
                  </a:lnTo>
                  <a:lnTo>
                    <a:pt x="3980337" y="1913273"/>
                  </a:lnTo>
                  <a:lnTo>
                    <a:pt x="3337923" y="1913273"/>
                  </a:lnTo>
                  <a:lnTo>
                    <a:pt x="3289971" y="1889439"/>
                  </a:lnTo>
                  <a:lnTo>
                    <a:pt x="3145380" y="1889439"/>
                  </a:lnTo>
                  <a:lnTo>
                    <a:pt x="3096901" y="1865605"/>
                  </a:lnTo>
                  <a:lnTo>
                    <a:pt x="2999459" y="1865605"/>
                  </a:lnTo>
                  <a:lnTo>
                    <a:pt x="2950472" y="1841771"/>
                  </a:lnTo>
                  <a:lnTo>
                    <a:pt x="2901295" y="1841771"/>
                  </a:lnTo>
                  <a:lnTo>
                    <a:pt x="2851916" y="1817937"/>
                  </a:lnTo>
                  <a:lnTo>
                    <a:pt x="2802325" y="1817937"/>
                  </a:lnTo>
                  <a:lnTo>
                    <a:pt x="2702461" y="1770270"/>
                  </a:lnTo>
                  <a:lnTo>
                    <a:pt x="2652168" y="1770270"/>
                  </a:lnTo>
                  <a:lnTo>
                    <a:pt x="2550802" y="1722602"/>
                  </a:lnTo>
                  <a:lnTo>
                    <a:pt x="2499709" y="1722602"/>
                  </a:lnTo>
                  <a:lnTo>
                    <a:pt x="2448328" y="1698768"/>
                  </a:lnTo>
                  <a:lnTo>
                    <a:pt x="2411873" y="1674934"/>
                  </a:lnTo>
                  <a:lnTo>
                    <a:pt x="2375266" y="1674934"/>
                  </a:lnTo>
                  <a:lnTo>
                    <a:pt x="2301580" y="1627267"/>
                  </a:lnTo>
                  <a:lnTo>
                    <a:pt x="2264493" y="1627267"/>
                  </a:lnTo>
                  <a:lnTo>
                    <a:pt x="2152214" y="1555765"/>
                  </a:lnTo>
                  <a:lnTo>
                    <a:pt x="2114435" y="1555765"/>
                  </a:lnTo>
                  <a:lnTo>
                    <a:pt x="1883800" y="1412762"/>
                  </a:lnTo>
                  <a:lnTo>
                    <a:pt x="1844665" y="1412762"/>
                  </a:lnTo>
                  <a:lnTo>
                    <a:pt x="1645784" y="1293593"/>
                  </a:lnTo>
                  <a:lnTo>
                    <a:pt x="1605340" y="1245925"/>
                  </a:lnTo>
                  <a:lnTo>
                    <a:pt x="1399575" y="1126756"/>
                  </a:lnTo>
                  <a:lnTo>
                    <a:pt x="1357686" y="1102922"/>
                  </a:lnTo>
                  <a:lnTo>
                    <a:pt x="1315544" y="1055254"/>
                  </a:lnTo>
                  <a:lnTo>
                    <a:pt x="1187555" y="983753"/>
                  </a:lnTo>
                  <a:lnTo>
                    <a:pt x="1144359" y="936085"/>
                  </a:lnTo>
                  <a:lnTo>
                    <a:pt x="1100890" y="912251"/>
                  </a:lnTo>
                  <a:lnTo>
                    <a:pt x="1057145" y="864584"/>
                  </a:lnTo>
                  <a:lnTo>
                    <a:pt x="968810" y="816916"/>
                  </a:lnTo>
                  <a:lnTo>
                    <a:pt x="924212" y="769248"/>
                  </a:lnTo>
                  <a:lnTo>
                    <a:pt x="879323" y="745415"/>
                  </a:lnTo>
                  <a:lnTo>
                    <a:pt x="834139" y="697747"/>
                  </a:lnTo>
                  <a:lnTo>
                    <a:pt x="788655" y="673913"/>
                  </a:lnTo>
                  <a:lnTo>
                    <a:pt x="696776" y="578578"/>
                  </a:lnTo>
                  <a:lnTo>
                    <a:pt x="650373" y="554744"/>
                  </a:lnTo>
                  <a:lnTo>
                    <a:pt x="556620" y="459408"/>
                  </a:lnTo>
                  <a:lnTo>
                    <a:pt x="509263" y="435575"/>
                  </a:lnTo>
                  <a:lnTo>
                    <a:pt x="413568" y="340239"/>
                  </a:lnTo>
                  <a:lnTo>
                    <a:pt x="365223" y="292572"/>
                  </a:lnTo>
                  <a:lnTo>
                    <a:pt x="316542" y="268738"/>
                  </a:lnTo>
                  <a:lnTo>
                    <a:pt x="164795" y="125735"/>
                  </a:lnTo>
                  <a:lnTo>
                    <a:pt x="114373" y="101901"/>
                  </a:lnTo>
                  <a:lnTo>
                    <a:pt x="13809" y="6565"/>
                  </a:lnTo>
                  <a:lnTo>
                    <a:pt x="0" y="0"/>
                  </a:lnTo>
                  <a:close/>
                </a:path>
                <a:path w="6091555" h="2344420">
                  <a:moveTo>
                    <a:pt x="3999852" y="1889439"/>
                  </a:moveTo>
                  <a:lnTo>
                    <a:pt x="3908282" y="1889439"/>
                  </a:lnTo>
                  <a:lnTo>
                    <a:pt x="3860871" y="1913273"/>
                  </a:lnTo>
                  <a:lnTo>
                    <a:pt x="3980337" y="1913273"/>
                  </a:lnTo>
                  <a:lnTo>
                    <a:pt x="3999852" y="1889439"/>
                  </a:lnTo>
                  <a:close/>
                </a:path>
                <a:path w="6091555" h="2344420">
                  <a:moveTo>
                    <a:pt x="5575743" y="554744"/>
                  </a:moveTo>
                  <a:lnTo>
                    <a:pt x="4388256" y="554744"/>
                  </a:lnTo>
                  <a:lnTo>
                    <a:pt x="4191576" y="650079"/>
                  </a:lnTo>
                  <a:lnTo>
                    <a:pt x="4141182" y="650079"/>
                  </a:lnTo>
                  <a:lnTo>
                    <a:pt x="3934839" y="745415"/>
                  </a:lnTo>
                  <a:lnTo>
                    <a:pt x="3882082" y="793082"/>
                  </a:lnTo>
                  <a:lnTo>
                    <a:pt x="3666503" y="888418"/>
                  </a:lnTo>
                  <a:lnTo>
                    <a:pt x="3611491" y="936085"/>
                  </a:lnTo>
                  <a:lnTo>
                    <a:pt x="3556040" y="959919"/>
                  </a:lnTo>
                  <a:lnTo>
                    <a:pt x="3500156" y="1007587"/>
                  </a:lnTo>
                  <a:lnTo>
                    <a:pt x="3443842" y="1031421"/>
                  </a:lnTo>
                  <a:lnTo>
                    <a:pt x="3387102" y="1079088"/>
                  </a:lnTo>
                  <a:lnTo>
                    <a:pt x="3329941" y="1102922"/>
                  </a:lnTo>
                  <a:lnTo>
                    <a:pt x="3272364" y="1150590"/>
                  </a:lnTo>
                  <a:lnTo>
                    <a:pt x="3220139" y="1174424"/>
                  </a:lnTo>
                  <a:lnTo>
                    <a:pt x="3170706" y="1222091"/>
                  </a:lnTo>
                  <a:lnTo>
                    <a:pt x="3123816" y="1245925"/>
                  </a:lnTo>
                  <a:lnTo>
                    <a:pt x="3079222" y="1269759"/>
                  </a:lnTo>
                  <a:lnTo>
                    <a:pt x="3036678" y="1293593"/>
                  </a:lnTo>
                  <a:lnTo>
                    <a:pt x="2956750" y="1365094"/>
                  </a:lnTo>
                  <a:lnTo>
                    <a:pt x="2918872" y="1388928"/>
                  </a:lnTo>
                  <a:lnTo>
                    <a:pt x="2882056" y="1412762"/>
                  </a:lnTo>
                  <a:lnTo>
                    <a:pt x="2846053" y="1436596"/>
                  </a:lnTo>
                  <a:lnTo>
                    <a:pt x="2810618" y="1460430"/>
                  </a:lnTo>
                  <a:lnTo>
                    <a:pt x="2807283" y="1460430"/>
                  </a:lnTo>
                  <a:lnTo>
                    <a:pt x="2838272" y="1484264"/>
                  </a:lnTo>
                  <a:lnTo>
                    <a:pt x="2871144" y="1508097"/>
                  </a:lnTo>
                  <a:lnTo>
                    <a:pt x="2905817" y="1531931"/>
                  </a:lnTo>
                  <a:lnTo>
                    <a:pt x="2942208" y="1555765"/>
                  </a:lnTo>
                  <a:lnTo>
                    <a:pt x="2980234" y="1579599"/>
                  </a:lnTo>
                  <a:lnTo>
                    <a:pt x="3019812" y="1603433"/>
                  </a:lnTo>
                  <a:lnTo>
                    <a:pt x="3060859" y="1603433"/>
                  </a:lnTo>
                  <a:lnTo>
                    <a:pt x="3103292" y="1627267"/>
                  </a:lnTo>
                  <a:lnTo>
                    <a:pt x="3147028" y="1651100"/>
                  </a:lnTo>
                  <a:lnTo>
                    <a:pt x="3191985" y="1674934"/>
                  </a:lnTo>
                  <a:lnTo>
                    <a:pt x="3238078" y="1698768"/>
                  </a:lnTo>
                  <a:lnTo>
                    <a:pt x="3285226" y="1722602"/>
                  </a:lnTo>
                  <a:lnTo>
                    <a:pt x="3333346" y="1746436"/>
                  </a:lnTo>
                  <a:lnTo>
                    <a:pt x="3382354" y="1746436"/>
                  </a:lnTo>
                  <a:lnTo>
                    <a:pt x="3482704" y="1794104"/>
                  </a:lnTo>
                  <a:lnTo>
                    <a:pt x="3533881" y="1794104"/>
                  </a:lnTo>
                  <a:lnTo>
                    <a:pt x="3585614" y="1817937"/>
                  </a:lnTo>
                  <a:lnTo>
                    <a:pt x="3637821" y="1817937"/>
                  </a:lnTo>
                  <a:lnTo>
                    <a:pt x="3690419" y="1841771"/>
                  </a:lnTo>
                  <a:lnTo>
                    <a:pt x="3743325" y="1841771"/>
                  </a:lnTo>
                  <a:lnTo>
                    <a:pt x="3796456" y="1865605"/>
                  </a:lnTo>
                  <a:lnTo>
                    <a:pt x="4009574" y="1865605"/>
                  </a:lnTo>
                  <a:lnTo>
                    <a:pt x="4051786" y="1841771"/>
                  </a:lnTo>
                  <a:lnTo>
                    <a:pt x="4090347" y="1794104"/>
                  </a:lnTo>
                  <a:lnTo>
                    <a:pt x="4126012" y="1746436"/>
                  </a:lnTo>
                  <a:lnTo>
                    <a:pt x="4159539" y="1722602"/>
                  </a:lnTo>
                  <a:lnTo>
                    <a:pt x="4191684" y="1674934"/>
                  </a:lnTo>
                  <a:lnTo>
                    <a:pt x="4223203" y="1651100"/>
                  </a:lnTo>
                  <a:lnTo>
                    <a:pt x="4254851" y="1603433"/>
                  </a:lnTo>
                  <a:lnTo>
                    <a:pt x="4287386" y="1579599"/>
                  </a:lnTo>
                  <a:lnTo>
                    <a:pt x="4321564" y="1531931"/>
                  </a:lnTo>
                  <a:lnTo>
                    <a:pt x="4358140" y="1484264"/>
                  </a:lnTo>
                  <a:lnTo>
                    <a:pt x="4422009" y="1412762"/>
                  </a:lnTo>
                  <a:lnTo>
                    <a:pt x="4484695" y="1365094"/>
                  </a:lnTo>
                  <a:lnTo>
                    <a:pt x="4546202" y="1293593"/>
                  </a:lnTo>
                  <a:lnTo>
                    <a:pt x="4606537" y="1222091"/>
                  </a:lnTo>
                  <a:lnTo>
                    <a:pt x="4665704" y="1174424"/>
                  </a:lnTo>
                  <a:lnTo>
                    <a:pt x="4723711" y="1126756"/>
                  </a:lnTo>
                  <a:lnTo>
                    <a:pt x="4780562" y="1079088"/>
                  </a:lnTo>
                  <a:lnTo>
                    <a:pt x="4836264" y="1031421"/>
                  </a:lnTo>
                  <a:lnTo>
                    <a:pt x="4890821" y="983753"/>
                  </a:lnTo>
                  <a:lnTo>
                    <a:pt x="4944240" y="936085"/>
                  </a:lnTo>
                  <a:lnTo>
                    <a:pt x="4996525" y="888418"/>
                  </a:lnTo>
                  <a:lnTo>
                    <a:pt x="5047684" y="864584"/>
                  </a:lnTo>
                  <a:lnTo>
                    <a:pt x="5097722" y="816916"/>
                  </a:lnTo>
                  <a:lnTo>
                    <a:pt x="5146643" y="793082"/>
                  </a:lnTo>
                  <a:lnTo>
                    <a:pt x="5194455" y="745415"/>
                  </a:lnTo>
                  <a:lnTo>
                    <a:pt x="5241162" y="721581"/>
                  </a:lnTo>
                  <a:lnTo>
                    <a:pt x="5286771" y="697747"/>
                  </a:lnTo>
                  <a:lnTo>
                    <a:pt x="5331286" y="673913"/>
                  </a:lnTo>
                  <a:lnTo>
                    <a:pt x="5374714" y="650079"/>
                  </a:lnTo>
                  <a:lnTo>
                    <a:pt x="5417061" y="626245"/>
                  </a:lnTo>
                  <a:lnTo>
                    <a:pt x="5458331" y="602411"/>
                  </a:lnTo>
                  <a:lnTo>
                    <a:pt x="5498531" y="602411"/>
                  </a:lnTo>
                  <a:lnTo>
                    <a:pt x="5537667" y="578578"/>
                  </a:lnTo>
                  <a:lnTo>
                    <a:pt x="5575743" y="554744"/>
                  </a:lnTo>
                  <a:close/>
                </a:path>
                <a:path w="6091555" h="2344420">
                  <a:moveTo>
                    <a:pt x="5717573" y="507076"/>
                  </a:moveTo>
                  <a:lnTo>
                    <a:pt x="4530506" y="507076"/>
                  </a:lnTo>
                  <a:lnTo>
                    <a:pt x="4436181" y="554744"/>
                  </a:lnTo>
                  <a:lnTo>
                    <a:pt x="5612766" y="554744"/>
                  </a:lnTo>
                  <a:lnTo>
                    <a:pt x="5648742" y="530910"/>
                  </a:lnTo>
                  <a:lnTo>
                    <a:pt x="5683676" y="530910"/>
                  </a:lnTo>
                  <a:lnTo>
                    <a:pt x="5717573" y="507076"/>
                  </a:lnTo>
                  <a:close/>
                </a:path>
                <a:path w="6091555" h="2344420">
                  <a:moveTo>
                    <a:pt x="6045579" y="459408"/>
                  </a:moveTo>
                  <a:lnTo>
                    <a:pt x="4668119" y="459408"/>
                  </a:lnTo>
                  <a:lnTo>
                    <a:pt x="4576898" y="507076"/>
                  </a:lnTo>
                  <a:lnTo>
                    <a:pt x="5813104" y="507076"/>
                  </a:lnTo>
                  <a:lnTo>
                    <a:pt x="5842913" y="483242"/>
                  </a:lnTo>
                  <a:lnTo>
                    <a:pt x="6023674" y="483242"/>
                  </a:lnTo>
                  <a:lnTo>
                    <a:pt x="6045579" y="459408"/>
                  </a:lnTo>
                  <a:close/>
                </a:path>
                <a:path w="6091555" h="2344420">
                  <a:moveTo>
                    <a:pt x="6017407" y="411741"/>
                  </a:moveTo>
                  <a:lnTo>
                    <a:pt x="4844190" y="411741"/>
                  </a:lnTo>
                  <a:lnTo>
                    <a:pt x="4800979" y="435575"/>
                  </a:lnTo>
                  <a:lnTo>
                    <a:pt x="4757227" y="435575"/>
                  </a:lnTo>
                  <a:lnTo>
                    <a:pt x="4712939" y="459408"/>
                  </a:lnTo>
                  <a:lnTo>
                    <a:pt x="6091007" y="459408"/>
                  </a:lnTo>
                  <a:lnTo>
                    <a:pt x="6055588" y="435575"/>
                  </a:lnTo>
                  <a:lnTo>
                    <a:pt x="6017407" y="411741"/>
                  </a:lnTo>
                  <a:close/>
                </a:path>
                <a:path w="6091555" h="2344420">
                  <a:moveTo>
                    <a:pt x="5932892" y="387907"/>
                  </a:moveTo>
                  <a:lnTo>
                    <a:pt x="4970535" y="387907"/>
                  </a:lnTo>
                  <a:lnTo>
                    <a:pt x="4928972" y="411741"/>
                  </a:lnTo>
                  <a:lnTo>
                    <a:pt x="5976497" y="411741"/>
                  </a:lnTo>
                  <a:lnTo>
                    <a:pt x="5932892" y="387907"/>
                  </a:lnTo>
                  <a:close/>
                </a:path>
                <a:path w="6091555" h="2344420">
                  <a:moveTo>
                    <a:pt x="5837725" y="364073"/>
                  </a:moveTo>
                  <a:lnTo>
                    <a:pt x="5091858" y="364073"/>
                  </a:lnTo>
                  <a:lnTo>
                    <a:pt x="5051982" y="387907"/>
                  </a:lnTo>
                  <a:lnTo>
                    <a:pt x="5886623" y="387907"/>
                  </a:lnTo>
                  <a:lnTo>
                    <a:pt x="5837725" y="364073"/>
                  </a:lnTo>
                  <a:close/>
                </a:path>
                <a:path w="6091555" h="2344420">
                  <a:moveTo>
                    <a:pt x="5616484" y="340239"/>
                  </a:moveTo>
                  <a:lnTo>
                    <a:pt x="5318979" y="340239"/>
                  </a:lnTo>
                  <a:lnTo>
                    <a:pt x="5282591" y="364073"/>
                  </a:lnTo>
                  <a:lnTo>
                    <a:pt x="5675576" y="364073"/>
                  </a:lnTo>
                  <a:lnTo>
                    <a:pt x="5616484" y="340239"/>
                  </a:lnTo>
                  <a:close/>
                </a:path>
              </a:pathLst>
            </a:custGeom>
            <a:solidFill>
              <a:srgbClr val="DED5C7"/>
            </a:solidFill>
          </p:spPr>
          <p:txBody>
            <a:bodyPr wrap="square" lIns="0" tIns="0" rIns="0" bIns="0" rtlCol="0"/>
            <a:lstStyle/>
            <a:p>
              <a:endParaRPr/>
            </a:p>
          </p:txBody>
        </p:sp>
        <p:sp>
          <p:nvSpPr>
            <p:cNvPr id="5" name="object 5"/>
            <p:cNvSpPr/>
            <p:nvPr/>
          </p:nvSpPr>
          <p:spPr>
            <a:xfrm>
              <a:off x="11120500" y="309626"/>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grpSp>
      <p:sp>
        <p:nvSpPr>
          <p:cNvPr id="6" name="object 6"/>
          <p:cNvSpPr txBox="1"/>
          <p:nvPr/>
        </p:nvSpPr>
        <p:spPr>
          <a:xfrm>
            <a:off x="11207115" y="295021"/>
            <a:ext cx="83185" cy="151130"/>
          </a:xfrm>
          <a:prstGeom prst="rect">
            <a:avLst/>
          </a:prstGeom>
        </p:spPr>
        <p:txBody>
          <a:bodyPr vert="horz" wrap="square" lIns="0" tIns="15875" rIns="0" bIns="0" rtlCol="0">
            <a:spAutoFit/>
          </a:bodyPr>
          <a:lstStyle/>
          <a:p>
            <a:pPr marL="12700">
              <a:lnSpc>
                <a:spcPct val="100000"/>
              </a:lnSpc>
              <a:spcBef>
                <a:spcPts val="125"/>
              </a:spcBef>
            </a:pPr>
            <a:r>
              <a:rPr sz="800" spc="-50" dirty="0">
                <a:solidFill>
                  <a:srgbClr val="FFFFFF"/>
                </a:solidFill>
                <a:latin typeface="Lucida Sans Unicode"/>
                <a:cs typeface="Lucida Sans Unicode"/>
              </a:rPr>
              <a:t>7</a:t>
            </a:r>
            <a:endParaRPr sz="800">
              <a:latin typeface="Lucida Sans Unicode"/>
              <a:cs typeface="Lucida Sans Unicode"/>
            </a:endParaRPr>
          </a:p>
        </p:txBody>
      </p:sp>
      <p:grpSp>
        <p:nvGrpSpPr>
          <p:cNvPr id="7" name="object 7"/>
          <p:cNvGrpSpPr/>
          <p:nvPr/>
        </p:nvGrpSpPr>
        <p:grpSpPr>
          <a:xfrm>
            <a:off x="106362" y="0"/>
            <a:ext cx="12085955" cy="6858000"/>
            <a:chOff x="106362" y="0"/>
            <a:chExt cx="12085955" cy="6858000"/>
          </a:xfrm>
        </p:grpSpPr>
        <p:sp>
          <p:nvSpPr>
            <p:cNvPr id="8" name="object 8"/>
            <p:cNvSpPr/>
            <p:nvPr/>
          </p:nvSpPr>
          <p:spPr>
            <a:xfrm>
              <a:off x="12087225" y="0"/>
              <a:ext cx="104775" cy="6858000"/>
            </a:xfrm>
            <a:custGeom>
              <a:avLst/>
              <a:gdLst/>
              <a:ahLst/>
              <a:cxnLst/>
              <a:rect l="l" t="t" r="r" b="b"/>
              <a:pathLst>
                <a:path w="104775" h="6858000">
                  <a:moveTo>
                    <a:pt x="104775" y="0"/>
                  </a:moveTo>
                  <a:lnTo>
                    <a:pt x="0" y="0"/>
                  </a:lnTo>
                  <a:lnTo>
                    <a:pt x="0" y="6858000"/>
                  </a:lnTo>
                  <a:lnTo>
                    <a:pt x="104775" y="6858000"/>
                  </a:lnTo>
                  <a:lnTo>
                    <a:pt x="104775" y="0"/>
                  </a:lnTo>
                  <a:close/>
                </a:path>
              </a:pathLst>
            </a:custGeom>
            <a:solidFill>
              <a:srgbClr val="EDEBE3"/>
            </a:solidFill>
          </p:spPr>
          <p:txBody>
            <a:bodyPr wrap="square" lIns="0" tIns="0" rIns="0" bIns="0" rtlCol="0"/>
            <a:lstStyle/>
            <a:p>
              <a:endParaRPr/>
            </a:p>
          </p:txBody>
        </p:sp>
        <p:sp>
          <p:nvSpPr>
            <p:cNvPr id="9" name="object 9"/>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10" name="object 10"/>
          <p:cNvSpPr txBox="1"/>
          <p:nvPr/>
        </p:nvSpPr>
        <p:spPr>
          <a:xfrm>
            <a:off x="1036002" y="3304032"/>
            <a:ext cx="3366770" cy="1115049"/>
          </a:xfrm>
          <a:prstGeom prst="rect">
            <a:avLst/>
          </a:prstGeom>
        </p:spPr>
        <p:txBody>
          <a:bodyPr vert="horz" wrap="square" lIns="0" tIns="60325" rIns="0" bIns="0" rtlCol="0">
            <a:spAutoFit/>
          </a:bodyPr>
          <a:lstStyle/>
          <a:p>
            <a:pPr marL="194310">
              <a:spcBef>
                <a:spcPts val="1485"/>
              </a:spcBef>
            </a:pPr>
            <a:r>
              <a:rPr lang="en-US" sz="2800" dirty="0">
                <a:solidFill>
                  <a:srgbClr val="AC9976"/>
                </a:solidFill>
                <a:latin typeface="Lucida Sans Unicode"/>
                <a:cs typeface="Lucida Sans Unicode"/>
              </a:rPr>
              <a:t>Conferences</a:t>
            </a:r>
          </a:p>
          <a:p>
            <a:pPr marL="194310">
              <a:lnSpc>
                <a:spcPct val="100000"/>
              </a:lnSpc>
              <a:spcBef>
                <a:spcPts val="1485"/>
              </a:spcBef>
            </a:pPr>
            <a:endParaRPr lang="en-US" sz="2800" dirty="0">
              <a:latin typeface="Lucida Sans Unicode"/>
              <a:cs typeface="Lucida Sans Unicode"/>
            </a:endParaRPr>
          </a:p>
        </p:txBody>
      </p:sp>
      <p:sp>
        <p:nvSpPr>
          <p:cNvPr id="11" name="object 11"/>
          <p:cNvSpPr txBox="1"/>
          <p:nvPr/>
        </p:nvSpPr>
        <p:spPr>
          <a:xfrm>
            <a:off x="1047750" y="2705100"/>
            <a:ext cx="438150" cy="428625"/>
          </a:xfrm>
          <a:prstGeom prst="rect">
            <a:avLst/>
          </a:prstGeom>
          <a:solidFill>
            <a:srgbClr val="AC9976"/>
          </a:solidFill>
        </p:spPr>
        <p:txBody>
          <a:bodyPr vert="horz" wrap="square" lIns="0" tIns="136525" rIns="0" bIns="0" rtlCol="0">
            <a:spAutoFit/>
          </a:bodyPr>
          <a:lstStyle/>
          <a:p>
            <a:pPr marL="133350">
              <a:lnSpc>
                <a:spcPct val="100000"/>
              </a:lnSpc>
              <a:spcBef>
                <a:spcPts val="1075"/>
              </a:spcBef>
            </a:pPr>
            <a:r>
              <a:rPr sz="1200" spc="-25" dirty="0">
                <a:solidFill>
                  <a:srgbClr val="FFFFFF"/>
                </a:solidFill>
                <a:latin typeface="Lucida Sans Unicode"/>
                <a:cs typeface="Lucida Sans Unicode"/>
              </a:rPr>
              <a:t>01</a:t>
            </a:r>
            <a:endParaRPr sz="1200">
              <a:latin typeface="Lucida Sans Unicode"/>
              <a:cs typeface="Lucida Sans Unicode"/>
            </a:endParaRPr>
          </a:p>
        </p:txBody>
      </p:sp>
      <p:grpSp>
        <p:nvGrpSpPr>
          <p:cNvPr id="12" name="object 12"/>
          <p:cNvGrpSpPr/>
          <p:nvPr/>
        </p:nvGrpSpPr>
        <p:grpSpPr>
          <a:xfrm>
            <a:off x="11507372" y="286715"/>
            <a:ext cx="407034" cy="158115"/>
            <a:chOff x="11507372" y="286715"/>
            <a:chExt cx="407034" cy="158115"/>
          </a:xfrm>
        </p:grpSpPr>
        <p:pic>
          <p:nvPicPr>
            <p:cNvPr id="13" name="object 13"/>
            <p:cNvPicPr/>
            <p:nvPr/>
          </p:nvPicPr>
          <p:blipFill>
            <a:blip r:embed="rId2" cstate="print"/>
            <a:stretch>
              <a:fillRect/>
            </a:stretch>
          </p:blipFill>
          <p:spPr>
            <a:xfrm>
              <a:off x="11766807" y="339886"/>
              <a:ext cx="147284" cy="68676"/>
            </a:xfrm>
            <a:prstGeom prst="rect">
              <a:avLst/>
            </a:prstGeom>
          </p:spPr>
        </p:pic>
        <p:sp>
          <p:nvSpPr>
            <p:cNvPr id="14" name="object 14"/>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FFFFFF"/>
            </a:solidFill>
          </p:spPr>
          <p:txBody>
            <a:bodyPr wrap="square" lIns="0" tIns="0" rIns="0" bIns="0" rtlCol="0"/>
            <a:lstStyle/>
            <a:p>
              <a:endParaRPr/>
            </a:p>
          </p:txBody>
        </p:sp>
      </p:grpSp>
      <p:pic>
        <p:nvPicPr>
          <p:cNvPr id="15" name="object 8">
            <a:extLst>
              <a:ext uri="{FF2B5EF4-FFF2-40B4-BE49-F238E27FC236}">
                <a16:creationId xmlns:a16="http://schemas.microsoft.com/office/drawing/2014/main" id="{6B780FB3-CCE1-89AD-1904-D539DA2D680F}"/>
              </a:ext>
            </a:extLst>
          </p:cNvPr>
          <p:cNvPicPr/>
          <p:nvPr/>
        </p:nvPicPr>
        <p:blipFill>
          <a:blip r:embed="rId3" cstate="print"/>
          <a:stretch>
            <a:fillRect/>
          </a:stretch>
        </p:blipFill>
        <p:spPr>
          <a:xfrm>
            <a:off x="6229350" y="104775"/>
            <a:ext cx="5848350" cy="6643688"/>
          </a:xfrm>
          <a:prstGeom prst="rect">
            <a:avLst/>
          </a:prstGeom>
        </p:spPr>
      </p:pic>
    </p:spTree>
    <p:extLst>
      <p:ext uri="{BB962C8B-B14F-4D97-AF65-F5344CB8AC3E}">
        <p14:creationId xmlns:p14="http://schemas.microsoft.com/office/powerpoint/2010/main" val="30293350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6362" y="106362"/>
            <a:ext cx="11988800" cy="6654800"/>
            <a:chOff x="106362" y="106362"/>
            <a:chExt cx="11988800" cy="6654800"/>
          </a:xfrm>
        </p:grpSpPr>
        <p:pic>
          <p:nvPicPr>
            <p:cNvPr id="3" name="object 3"/>
            <p:cNvPicPr/>
            <p:nvPr/>
          </p:nvPicPr>
          <p:blipFill>
            <a:blip r:embed="rId2" cstate="print"/>
            <a:stretch>
              <a:fillRect/>
            </a:stretch>
          </p:blipFill>
          <p:spPr>
            <a:xfrm>
              <a:off x="5457825" y="190500"/>
              <a:ext cx="1276350" cy="6477000"/>
            </a:xfrm>
            <a:prstGeom prst="rect">
              <a:avLst/>
            </a:prstGeom>
          </p:spPr>
        </p:pic>
        <p:sp>
          <p:nvSpPr>
            <p:cNvPr id="4" name="object 4"/>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5" name="object 5"/>
          <p:cNvSpPr txBox="1"/>
          <p:nvPr/>
        </p:nvSpPr>
        <p:spPr>
          <a:xfrm>
            <a:off x="10319384" y="295021"/>
            <a:ext cx="994410" cy="151130"/>
          </a:xfrm>
          <a:prstGeom prst="rect">
            <a:avLst/>
          </a:prstGeom>
        </p:spPr>
        <p:txBody>
          <a:bodyPr vert="horz" wrap="square" lIns="0" tIns="15875" rIns="0" bIns="0" rtlCol="0">
            <a:spAutoFit/>
          </a:bodyPr>
          <a:lstStyle/>
          <a:p>
            <a:pPr marL="12700">
              <a:lnSpc>
                <a:spcPct val="100000"/>
              </a:lnSpc>
              <a:spcBef>
                <a:spcPts val="125"/>
              </a:spcBef>
              <a:tabLst>
                <a:tab pos="899794" algn="l"/>
              </a:tabLst>
            </a:pPr>
            <a:r>
              <a:rPr sz="800" dirty="0">
                <a:solidFill>
                  <a:srgbClr val="AC9976"/>
                </a:solidFill>
                <a:latin typeface="Lucida Sans Unicode"/>
                <a:cs typeface="Lucida Sans Unicode"/>
              </a:rPr>
              <a:t>Section</a:t>
            </a:r>
            <a:r>
              <a:rPr sz="800" spc="120" dirty="0">
                <a:solidFill>
                  <a:srgbClr val="AC9976"/>
                </a:solidFill>
                <a:latin typeface="Lucida Sans Unicode"/>
                <a:cs typeface="Lucida Sans Unicode"/>
              </a:rPr>
              <a:t> </a:t>
            </a:r>
            <a:r>
              <a:rPr sz="800" spc="-20" dirty="0">
                <a:solidFill>
                  <a:srgbClr val="AC9976"/>
                </a:solidFill>
                <a:latin typeface="Lucida Sans Unicode"/>
                <a:cs typeface="Lucida Sans Unicode"/>
              </a:rPr>
              <a:t>Name</a:t>
            </a:r>
            <a:r>
              <a:rPr sz="800" dirty="0">
                <a:solidFill>
                  <a:srgbClr val="AC9976"/>
                </a:solidFill>
                <a:latin typeface="Lucida Sans Unicode"/>
                <a:cs typeface="Lucida Sans Unicode"/>
              </a:rPr>
              <a:t>	</a:t>
            </a:r>
            <a:r>
              <a:rPr sz="800" spc="-160" dirty="0">
                <a:solidFill>
                  <a:srgbClr val="AC9976"/>
                </a:solidFill>
                <a:latin typeface="Lucida Sans Unicode"/>
                <a:cs typeface="Lucida Sans Unicode"/>
              </a:rPr>
              <a:t>17</a:t>
            </a:r>
            <a:endParaRPr sz="800">
              <a:latin typeface="Lucida Sans Unicode"/>
              <a:cs typeface="Lucida Sans Unicode"/>
            </a:endParaRPr>
          </a:p>
        </p:txBody>
      </p:sp>
      <p:sp>
        <p:nvSpPr>
          <p:cNvPr id="6" name="object 6"/>
          <p:cNvSpPr txBox="1"/>
          <p:nvPr/>
        </p:nvSpPr>
        <p:spPr>
          <a:xfrm>
            <a:off x="7049452" y="1681211"/>
            <a:ext cx="4556760" cy="4885312"/>
          </a:xfrm>
          <a:prstGeom prst="rect">
            <a:avLst/>
          </a:prstGeom>
        </p:spPr>
        <p:txBody>
          <a:bodyPr vert="horz" wrap="square" lIns="0" tIns="67945" rIns="0" bIns="0" rtlCol="0">
            <a:spAutoFit/>
          </a:bodyPr>
          <a:lstStyle/>
          <a:p>
            <a:pPr marL="12700" marR="5080" algn="just">
              <a:lnSpc>
                <a:spcPct val="130400"/>
              </a:lnSpc>
              <a:spcBef>
                <a:spcPts val="690"/>
              </a:spcBef>
            </a:pPr>
            <a:r>
              <a:rPr lang="en-US" sz="1200" dirty="0">
                <a:solidFill>
                  <a:srgbClr val="AC9976"/>
                </a:solidFill>
                <a:latin typeface="Lucida Sans Unicode"/>
                <a:cs typeface="Lucida Sans Unicode"/>
              </a:rPr>
              <a:t>Ideally located between the historic and modern districts, </a:t>
            </a:r>
            <a:r>
              <a:rPr lang="en-US" sz="1200" dirty="0" err="1">
                <a:solidFill>
                  <a:srgbClr val="AC9976"/>
                </a:solidFill>
                <a:latin typeface="Lucida Sans Unicode"/>
                <a:cs typeface="Lucida Sans Unicode"/>
              </a:rPr>
              <a:t>Mövenpick</a:t>
            </a:r>
            <a:r>
              <a:rPr lang="en-US" sz="1200" dirty="0">
                <a:solidFill>
                  <a:srgbClr val="AC9976"/>
                </a:solidFill>
                <a:latin typeface="Lucida Sans Unicode"/>
                <a:cs typeface="Lucida Sans Unicode"/>
              </a:rPr>
              <a:t> Tashkent Old City offers a refined setting for meetings, conferences, and executive events. </a:t>
            </a:r>
            <a:endParaRPr lang="ru-RU" sz="1200" dirty="0">
              <a:solidFill>
                <a:srgbClr val="AC9976"/>
              </a:solidFill>
              <a:latin typeface="Lucida Sans Unicode"/>
              <a:cs typeface="Lucida Sans Unicode"/>
            </a:endParaRPr>
          </a:p>
          <a:p>
            <a:pPr marL="12700" marR="5080" algn="just">
              <a:lnSpc>
                <a:spcPct val="130400"/>
              </a:lnSpc>
              <a:spcBef>
                <a:spcPts val="690"/>
              </a:spcBef>
            </a:pPr>
            <a:r>
              <a:rPr lang="en-US" sz="1200" dirty="0">
                <a:solidFill>
                  <a:srgbClr val="AC9976"/>
                </a:solidFill>
                <a:latin typeface="Lucida Sans Unicode"/>
                <a:cs typeface="Lucida Sans Unicode"/>
              </a:rPr>
              <a:t>The Zurich Conference Room, our largest venue, features floor-to-ceiling windows and a dedicated coffee-break area, creating a bright and productive atmosphere for impactful gatherings. The Geneva Meeting Room blends contemporary design with views of the landscaped park, making it perfect for workshops and mid-sized sessions.</a:t>
            </a:r>
          </a:p>
          <a:p>
            <a:pPr marL="12700" marR="5080" algn="just">
              <a:lnSpc>
                <a:spcPct val="130400"/>
              </a:lnSpc>
              <a:spcBef>
                <a:spcPts val="690"/>
              </a:spcBef>
            </a:pPr>
            <a:r>
              <a:rPr lang="en-US" sz="1200" dirty="0">
                <a:solidFill>
                  <a:srgbClr val="AC9976"/>
                </a:solidFill>
                <a:latin typeface="Lucida Sans Unicode"/>
                <a:cs typeface="Lucida Sans Unicode"/>
              </a:rPr>
              <a:t>For smaller meetings, the Basel Boardroom and Bern Meeting Room provide elegant, private spaces ideal for executive discussions and strategic planning. </a:t>
            </a:r>
          </a:p>
          <a:p>
            <a:pPr marL="12700" marR="5080" algn="just">
              <a:lnSpc>
                <a:spcPct val="130400"/>
              </a:lnSpc>
              <a:spcBef>
                <a:spcPts val="690"/>
              </a:spcBef>
            </a:pPr>
            <a:r>
              <a:rPr lang="en-US" sz="1200" dirty="0">
                <a:solidFill>
                  <a:srgbClr val="AC9976"/>
                </a:solidFill>
                <a:latin typeface="Lucida Sans Unicode"/>
                <a:cs typeface="Lucida Sans Unicode"/>
              </a:rPr>
              <a:t>All rooms are equipped with high-speed Wi-Fi, modern audio-visual technology, LCD projectors and screens. Our dedicated team supports every stage of your event, offering thoughtfully curated coffee breaks, business lunches, and elegant banquets to ensure a seamless and memorable experience.</a:t>
            </a:r>
          </a:p>
          <a:p>
            <a:pPr marL="12700" marR="5080">
              <a:lnSpc>
                <a:spcPct val="130400"/>
              </a:lnSpc>
            </a:pPr>
            <a:endParaRPr sz="1200" dirty="0">
              <a:latin typeface="Lucida Sans Unicode"/>
              <a:cs typeface="Lucida Sans Unicode"/>
            </a:endParaRPr>
          </a:p>
        </p:txBody>
      </p:sp>
      <p:sp>
        <p:nvSpPr>
          <p:cNvPr id="7" name="object 7"/>
          <p:cNvSpPr txBox="1">
            <a:spLocks noGrp="1"/>
          </p:cNvSpPr>
          <p:nvPr>
            <p:ph type="title"/>
          </p:nvPr>
        </p:nvSpPr>
        <p:spPr>
          <a:xfrm>
            <a:off x="7090194" y="959609"/>
            <a:ext cx="4343146" cy="878446"/>
          </a:xfrm>
          <a:prstGeom prst="rect">
            <a:avLst/>
          </a:prstGeom>
        </p:spPr>
        <p:txBody>
          <a:bodyPr vert="horz" wrap="square" lIns="0" tIns="16510" rIns="0" bIns="0" rtlCol="0">
            <a:spAutoFit/>
          </a:bodyPr>
          <a:lstStyle/>
          <a:p>
            <a:pPr marL="194310">
              <a:spcBef>
                <a:spcPts val="1490"/>
              </a:spcBef>
            </a:pPr>
            <a:r>
              <a:rPr lang="en-US" sz="2800" dirty="0"/>
              <a:t>Conferences</a:t>
            </a:r>
            <a:br>
              <a:rPr lang="en-US" sz="2800" dirty="0">
                <a:solidFill>
                  <a:schemeClr val="bg2">
                    <a:lumMod val="50000"/>
                  </a:schemeClr>
                </a:solidFill>
                <a:latin typeface="Tahoma"/>
                <a:cs typeface="Tahoma"/>
              </a:rPr>
            </a:br>
            <a:endParaRPr lang="en-US" sz="2800" dirty="0">
              <a:latin typeface="Lucida Sans Unicode"/>
              <a:cs typeface="Lucida Sans Unicode"/>
            </a:endParaRPr>
          </a:p>
        </p:txBody>
      </p:sp>
      <p:pic>
        <p:nvPicPr>
          <p:cNvPr id="8" name="object 8"/>
          <p:cNvPicPr/>
          <p:nvPr/>
        </p:nvPicPr>
        <p:blipFill>
          <a:blip r:embed="rId3">
            <a:extLst>
              <a:ext uri="{28A0092B-C50C-407E-A947-70E740481C1C}">
                <a14:useLocalDpi xmlns:a14="http://schemas.microsoft.com/office/drawing/2010/main" val="0"/>
              </a:ext>
            </a:extLst>
          </a:blip>
          <a:srcRect l="19957" r="19957"/>
          <a:stretch/>
        </p:blipFill>
        <p:spPr>
          <a:xfrm>
            <a:off x="104775" y="100013"/>
            <a:ext cx="6000750" cy="6657973"/>
          </a:xfrm>
          <a:prstGeom prst="rect">
            <a:avLst/>
          </a:prstGeom>
        </p:spPr>
      </p:pic>
    </p:spTree>
    <p:extLst>
      <p:ext uri="{BB962C8B-B14F-4D97-AF65-F5344CB8AC3E}">
        <p14:creationId xmlns:p14="http://schemas.microsoft.com/office/powerpoint/2010/main" val="65513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09626"/>
            <a:ext cx="11120500" cy="6548898"/>
            <a:chOff x="0" y="309626"/>
            <a:chExt cx="11120500" cy="6548898"/>
          </a:xfrm>
        </p:grpSpPr>
        <p:sp>
          <p:nvSpPr>
            <p:cNvPr id="4" name="object 4"/>
            <p:cNvSpPr/>
            <p:nvPr/>
          </p:nvSpPr>
          <p:spPr>
            <a:xfrm>
              <a:off x="0" y="4514104"/>
              <a:ext cx="6091555" cy="2344420"/>
            </a:xfrm>
            <a:custGeom>
              <a:avLst/>
              <a:gdLst/>
              <a:ahLst/>
              <a:cxnLst/>
              <a:rect l="l" t="t" r="r" b="b"/>
              <a:pathLst>
                <a:path w="6091555" h="2344420">
                  <a:moveTo>
                    <a:pt x="0" y="0"/>
                  </a:moveTo>
                  <a:lnTo>
                    <a:pt x="0" y="1523715"/>
                  </a:lnTo>
                  <a:lnTo>
                    <a:pt x="46050" y="1579599"/>
                  </a:lnTo>
                  <a:lnTo>
                    <a:pt x="84966" y="1603433"/>
                  </a:lnTo>
                  <a:lnTo>
                    <a:pt x="123697" y="1651100"/>
                  </a:lnTo>
                  <a:lnTo>
                    <a:pt x="162244" y="1674934"/>
                  </a:lnTo>
                  <a:lnTo>
                    <a:pt x="200603" y="1722602"/>
                  </a:lnTo>
                  <a:lnTo>
                    <a:pt x="238775" y="1746436"/>
                  </a:lnTo>
                  <a:lnTo>
                    <a:pt x="276759" y="1794104"/>
                  </a:lnTo>
                  <a:lnTo>
                    <a:pt x="352156" y="1841771"/>
                  </a:lnTo>
                  <a:lnTo>
                    <a:pt x="389568" y="1889439"/>
                  </a:lnTo>
                  <a:lnTo>
                    <a:pt x="463811" y="1937107"/>
                  </a:lnTo>
                  <a:lnTo>
                    <a:pt x="500640" y="1984774"/>
                  </a:lnTo>
                  <a:lnTo>
                    <a:pt x="645986" y="2080110"/>
                  </a:lnTo>
                  <a:lnTo>
                    <a:pt x="823151" y="2199279"/>
                  </a:lnTo>
                  <a:lnTo>
                    <a:pt x="961184" y="2294614"/>
                  </a:lnTo>
                  <a:lnTo>
                    <a:pt x="979870" y="2294614"/>
                  </a:lnTo>
                  <a:lnTo>
                    <a:pt x="988570" y="2318448"/>
                  </a:lnTo>
                  <a:lnTo>
                    <a:pt x="997163" y="2318448"/>
                  </a:lnTo>
                  <a:lnTo>
                    <a:pt x="1059066" y="2342282"/>
                  </a:lnTo>
                  <a:lnTo>
                    <a:pt x="1061143" y="2343892"/>
                  </a:lnTo>
                  <a:lnTo>
                    <a:pt x="3418647" y="2343892"/>
                  </a:lnTo>
                  <a:lnTo>
                    <a:pt x="3420824" y="2342282"/>
                  </a:lnTo>
                  <a:lnTo>
                    <a:pt x="3452258" y="2342282"/>
                  </a:lnTo>
                  <a:lnTo>
                    <a:pt x="3482898" y="2318448"/>
                  </a:lnTo>
                  <a:lnTo>
                    <a:pt x="3512739" y="2294614"/>
                  </a:lnTo>
                  <a:lnTo>
                    <a:pt x="3541772" y="2270780"/>
                  </a:lnTo>
                  <a:lnTo>
                    <a:pt x="3569990" y="2246946"/>
                  </a:lnTo>
                  <a:lnTo>
                    <a:pt x="3597386" y="2246946"/>
                  </a:lnTo>
                  <a:lnTo>
                    <a:pt x="3623954" y="2223113"/>
                  </a:lnTo>
                  <a:lnTo>
                    <a:pt x="3649685" y="2199279"/>
                  </a:lnTo>
                  <a:lnTo>
                    <a:pt x="3674572" y="2175445"/>
                  </a:lnTo>
                  <a:lnTo>
                    <a:pt x="3698609" y="2151611"/>
                  </a:lnTo>
                  <a:lnTo>
                    <a:pt x="3721788" y="2151611"/>
                  </a:lnTo>
                  <a:lnTo>
                    <a:pt x="3744102" y="2127777"/>
                  </a:lnTo>
                  <a:lnTo>
                    <a:pt x="3765544" y="2103943"/>
                  </a:lnTo>
                  <a:lnTo>
                    <a:pt x="3786106" y="2080110"/>
                  </a:lnTo>
                  <a:lnTo>
                    <a:pt x="3805781" y="2080110"/>
                  </a:lnTo>
                  <a:lnTo>
                    <a:pt x="3824562" y="2056276"/>
                  </a:lnTo>
                  <a:lnTo>
                    <a:pt x="3842443" y="2032442"/>
                  </a:lnTo>
                  <a:lnTo>
                    <a:pt x="3859415" y="2032442"/>
                  </a:lnTo>
                  <a:lnTo>
                    <a:pt x="3875471" y="2008608"/>
                  </a:lnTo>
                  <a:lnTo>
                    <a:pt x="3890605" y="2008608"/>
                  </a:lnTo>
                  <a:lnTo>
                    <a:pt x="3914575" y="1984774"/>
                  </a:lnTo>
                  <a:lnTo>
                    <a:pt x="3916148" y="1984774"/>
                  </a:lnTo>
                  <a:lnTo>
                    <a:pt x="3932165" y="1960940"/>
                  </a:lnTo>
                  <a:lnTo>
                    <a:pt x="3955668" y="1937107"/>
                  </a:lnTo>
                  <a:lnTo>
                    <a:pt x="3980337" y="1913273"/>
                  </a:lnTo>
                  <a:lnTo>
                    <a:pt x="3337923" y="1913273"/>
                  </a:lnTo>
                  <a:lnTo>
                    <a:pt x="3289971" y="1889439"/>
                  </a:lnTo>
                  <a:lnTo>
                    <a:pt x="3145380" y="1889439"/>
                  </a:lnTo>
                  <a:lnTo>
                    <a:pt x="3096901" y="1865605"/>
                  </a:lnTo>
                  <a:lnTo>
                    <a:pt x="2999459" y="1865605"/>
                  </a:lnTo>
                  <a:lnTo>
                    <a:pt x="2950472" y="1841771"/>
                  </a:lnTo>
                  <a:lnTo>
                    <a:pt x="2901295" y="1841771"/>
                  </a:lnTo>
                  <a:lnTo>
                    <a:pt x="2851916" y="1817937"/>
                  </a:lnTo>
                  <a:lnTo>
                    <a:pt x="2802325" y="1817937"/>
                  </a:lnTo>
                  <a:lnTo>
                    <a:pt x="2702461" y="1770270"/>
                  </a:lnTo>
                  <a:lnTo>
                    <a:pt x="2652168" y="1770270"/>
                  </a:lnTo>
                  <a:lnTo>
                    <a:pt x="2550802" y="1722602"/>
                  </a:lnTo>
                  <a:lnTo>
                    <a:pt x="2499709" y="1722602"/>
                  </a:lnTo>
                  <a:lnTo>
                    <a:pt x="2448328" y="1698768"/>
                  </a:lnTo>
                  <a:lnTo>
                    <a:pt x="2411873" y="1674934"/>
                  </a:lnTo>
                  <a:lnTo>
                    <a:pt x="2375266" y="1674934"/>
                  </a:lnTo>
                  <a:lnTo>
                    <a:pt x="2301580" y="1627267"/>
                  </a:lnTo>
                  <a:lnTo>
                    <a:pt x="2264493" y="1627267"/>
                  </a:lnTo>
                  <a:lnTo>
                    <a:pt x="2152214" y="1555765"/>
                  </a:lnTo>
                  <a:lnTo>
                    <a:pt x="2114435" y="1555765"/>
                  </a:lnTo>
                  <a:lnTo>
                    <a:pt x="1883800" y="1412762"/>
                  </a:lnTo>
                  <a:lnTo>
                    <a:pt x="1844665" y="1412762"/>
                  </a:lnTo>
                  <a:lnTo>
                    <a:pt x="1645784" y="1293593"/>
                  </a:lnTo>
                  <a:lnTo>
                    <a:pt x="1605340" y="1245925"/>
                  </a:lnTo>
                  <a:lnTo>
                    <a:pt x="1399575" y="1126756"/>
                  </a:lnTo>
                  <a:lnTo>
                    <a:pt x="1357686" y="1102922"/>
                  </a:lnTo>
                  <a:lnTo>
                    <a:pt x="1315544" y="1055254"/>
                  </a:lnTo>
                  <a:lnTo>
                    <a:pt x="1187555" y="983753"/>
                  </a:lnTo>
                  <a:lnTo>
                    <a:pt x="1144359" y="936085"/>
                  </a:lnTo>
                  <a:lnTo>
                    <a:pt x="1100890" y="912251"/>
                  </a:lnTo>
                  <a:lnTo>
                    <a:pt x="1057145" y="864584"/>
                  </a:lnTo>
                  <a:lnTo>
                    <a:pt x="968810" y="816916"/>
                  </a:lnTo>
                  <a:lnTo>
                    <a:pt x="924212" y="769248"/>
                  </a:lnTo>
                  <a:lnTo>
                    <a:pt x="879323" y="745415"/>
                  </a:lnTo>
                  <a:lnTo>
                    <a:pt x="834139" y="697747"/>
                  </a:lnTo>
                  <a:lnTo>
                    <a:pt x="788655" y="673913"/>
                  </a:lnTo>
                  <a:lnTo>
                    <a:pt x="696776" y="578578"/>
                  </a:lnTo>
                  <a:lnTo>
                    <a:pt x="650373" y="554744"/>
                  </a:lnTo>
                  <a:lnTo>
                    <a:pt x="556620" y="459408"/>
                  </a:lnTo>
                  <a:lnTo>
                    <a:pt x="509263" y="435575"/>
                  </a:lnTo>
                  <a:lnTo>
                    <a:pt x="413568" y="340239"/>
                  </a:lnTo>
                  <a:lnTo>
                    <a:pt x="365223" y="292572"/>
                  </a:lnTo>
                  <a:lnTo>
                    <a:pt x="316542" y="268738"/>
                  </a:lnTo>
                  <a:lnTo>
                    <a:pt x="164795" y="125735"/>
                  </a:lnTo>
                  <a:lnTo>
                    <a:pt x="114373" y="101901"/>
                  </a:lnTo>
                  <a:lnTo>
                    <a:pt x="13809" y="6565"/>
                  </a:lnTo>
                  <a:lnTo>
                    <a:pt x="0" y="0"/>
                  </a:lnTo>
                  <a:close/>
                </a:path>
                <a:path w="6091555" h="2344420">
                  <a:moveTo>
                    <a:pt x="3999852" y="1889439"/>
                  </a:moveTo>
                  <a:lnTo>
                    <a:pt x="3908282" y="1889439"/>
                  </a:lnTo>
                  <a:lnTo>
                    <a:pt x="3860871" y="1913273"/>
                  </a:lnTo>
                  <a:lnTo>
                    <a:pt x="3980337" y="1913273"/>
                  </a:lnTo>
                  <a:lnTo>
                    <a:pt x="3999852" y="1889439"/>
                  </a:lnTo>
                  <a:close/>
                </a:path>
                <a:path w="6091555" h="2344420">
                  <a:moveTo>
                    <a:pt x="5575743" y="554744"/>
                  </a:moveTo>
                  <a:lnTo>
                    <a:pt x="4388256" y="554744"/>
                  </a:lnTo>
                  <a:lnTo>
                    <a:pt x="4191576" y="650079"/>
                  </a:lnTo>
                  <a:lnTo>
                    <a:pt x="4141182" y="650079"/>
                  </a:lnTo>
                  <a:lnTo>
                    <a:pt x="3934839" y="745415"/>
                  </a:lnTo>
                  <a:lnTo>
                    <a:pt x="3882082" y="793082"/>
                  </a:lnTo>
                  <a:lnTo>
                    <a:pt x="3666503" y="888418"/>
                  </a:lnTo>
                  <a:lnTo>
                    <a:pt x="3611491" y="936085"/>
                  </a:lnTo>
                  <a:lnTo>
                    <a:pt x="3556040" y="959919"/>
                  </a:lnTo>
                  <a:lnTo>
                    <a:pt x="3500156" y="1007587"/>
                  </a:lnTo>
                  <a:lnTo>
                    <a:pt x="3443842" y="1031421"/>
                  </a:lnTo>
                  <a:lnTo>
                    <a:pt x="3387102" y="1079088"/>
                  </a:lnTo>
                  <a:lnTo>
                    <a:pt x="3329941" y="1102922"/>
                  </a:lnTo>
                  <a:lnTo>
                    <a:pt x="3272364" y="1150590"/>
                  </a:lnTo>
                  <a:lnTo>
                    <a:pt x="3220139" y="1174424"/>
                  </a:lnTo>
                  <a:lnTo>
                    <a:pt x="3170706" y="1222091"/>
                  </a:lnTo>
                  <a:lnTo>
                    <a:pt x="3123816" y="1245925"/>
                  </a:lnTo>
                  <a:lnTo>
                    <a:pt x="3079222" y="1269759"/>
                  </a:lnTo>
                  <a:lnTo>
                    <a:pt x="3036678" y="1293593"/>
                  </a:lnTo>
                  <a:lnTo>
                    <a:pt x="2956750" y="1365094"/>
                  </a:lnTo>
                  <a:lnTo>
                    <a:pt x="2918872" y="1388928"/>
                  </a:lnTo>
                  <a:lnTo>
                    <a:pt x="2882056" y="1412762"/>
                  </a:lnTo>
                  <a:lnTo>
                    <a:pt x="2846053" y="1436596"/>
                  </a:lnTo>
                  <a:lnTo>
                    <a:pt x="2810618" y="1460430"/>
                  </a:lnTo>
                  <a:lnTo>
                    <a:pt x="2807283" y="1460430"/>
                  </a:lnTo>
                  <a:lnTo>
                    <a:pt x="2838272" y="1484264"/>
                  </a:lnTo>
                  <a:lnTo>
                    <a:pt x="2871144" y="1508097"/>
                  </a:lnTo>
                  <a:lnTo>
                    <a:pt x="2905817" y="1531931"/>
                  </a:lnTo>
                  <a:lnTo>
                    <a:pt x="2942208" y="1555765"/>
                  </a:lnTo>
                  <a:lnTo>
                    <a:pt x="2980234" y="1579599"/>
                  </a:lnTo>
                  <a:lnTo>
                    <a:pt x="3019812" y="1603433"/>
                  </a:lnTo>
                  <a:lnTo>
                    <a:pt x="3060859" y="1603433"/>
                  </a:lnTo>
                  <a:lnTo>
                    <a:pt x="3103292" y="1627267"/>
                  </a:lnTo>
                  <a:lnTo>
                    <a:pt x="3147028" y="1651100"/>
                  </a:lnTo>
                  <a:lnTo>
                    <a:pt x="3191985" y="1674934"/>
                  </a:lnTo>
                  <a:lnTo>
                    <a:pt x="3238078" y="1698768"/>
                  </a:lnTo>
                  <a:lnTo>
                    <a:pt x="3285226" y="1722602"/>
                  </a:lnTo>
                  <a:lnTo>
                    <a:pt x="3333346" y="1746436"/>
                  </a:lnTo>
                  <a:lnTo>
                    <a:pt x="3382354" y="1746436"/>
                  </a:lnTo>
                  <a:lnTo>
                    <a:pt x="3482704" y="1794104"/>
                  </a:lnTo>
                  <a:lnTo>
                    <a:pt x="3533881" y="1794104"/>
                  </a:lnTo>
                  <a:lnTo>
                    <a:pt x="3585614" y="1817937"/>
                  </a:lnTo>
                  <a:lnTo>
                    <a:pt x="3637821" y="1817937"/>
                  </a:lnTo>
                  <a:lnTo>
                    <a:pt x="3690419" y="1841771"/>
                  </a:lnTo>
                  <a:lnTo>
                    <a:pt x="3743325" y="1841771"/>
                  </a:lnTo>
                  <a:lnTo>
                    <a:pt x="3796456" y="1865605"/>
                  </a:lnTo>
                  <a:lnTo>
                    <a:pt x="4009574" y="1865605"/>
                  </a:lnTo>
                  <a:lnTo>
                    <a:pt x="4051786" y="1841771"/>
                  </a:lnTo>
                  <a:lnTo>
                    <a:pt x="4090347" y="1794104"/>
                  </a:lnTo>
                  <a:lnTo>
                    <a:pt x="4126012" y="1746436"/>
                  </a:lnTo>
                  <a:lnTo>
                    <a:pt x="4159539" y="1722602"/>
                  </a:lnTo>
                  <a:lnTo>
                    <a:pt x="4191684" y="1674934"/>
                  </a:lnTo>
                  <a:lnTo>
                    <a:pt x="4223203" y="1651100"/>
                  </a:lnTo>
                  <a:lnTo>
                    <a:pt x="4254851" y="1603433"/>
                  </a:lnTo>
                  <a:lnTo>
                    <a:pt x="4287386" y="1579599"/>
                  </a:lnTo>
                  <a:lnTo>
                    <a:pt x="4321564" y="1531931"/>
                  </a:lnTo>
                  <a:lnTo>
                    <a:pt x="4358140" y="1484264"/>
                  </a:lnTo>
                  <a:lnTo>
                    <a:pt x="4422009" y="1412762"/>
                  </a:lnTo>
                  <a:lnTo>
                    <a:pt x="4484695" y="1365094"/>
                  </a:lnTo>
                  <a:lnTo>
                    <a:pt x="4546202" y="1293593"/>
                  </a:lnTo>
                  <a:lnTo>
                    <a:pt x="4606537" y="1222091"/>
                  </a:lnTo>
                  <a:lnTo>
                    <a:pt x="4665704" y="1174424"/>
                  </a:lnTo>
                  <a:lnTo>
                    <a:pt x="4723711" y="1126756"/>
                  </a:lnTo>
                  <a:lnTo>
                    <a:pt x="4780562" y="1079088"/>
                  </a:lnTo>
                  <a:lnTo>
                    <a:pt x="4836264" y="1031421"/>
                  </a:lnTo>
                  <a:lnTo>
                    <a:pt x="4890821" y="983753"/>
                  </a:lnTo>
                  <a:lnTo>
                    <a:pt x="4944240" y="936085"/>
                  </a:lnTo>
                  <a:lnTo>
                    <a:pt x="4996525" y="888418"/>
                  </a:lnTo>
                  <a:lnTo>
                    <a:pt x="5047684" y="864584"/>
                  </a:lnTo>
                  <a:lnTo>
                    <a:pt x="5097722" y="816916"/>
                  </a:lnTo>
                  <a:lnTo>
                    <a:pt x="5146643" y="793082"/>
                  </a:lnTo>
                  <a:lnTo>
                    <a:pt x="5194455" y="745415"/>
                  </a:lnTo>
                  <a:lnTo>
                    <a:pt x="5241162" y="721581"/>
                  </a:lnTo>
                  <a:lnTo>
                    <a:pt x="5286771" y="697747"/>
                  </a:lnTo>
                  <a:lnTo>
                    <a:pt x="5331286" y="673913"/>
                  </a:lnTo>
                  <a:lnTo>
                    <a:pt x="5374714" y="650079"/>
                  </a:lnTo>
                  <a:lnTo>
                    <a:pt x="5417061" y="626245"/>
                  </a:lnTo>
                  <a:lnTo>
                    <a:pt x="5458331" y="602411"/>
                  </a:lnTo>
                  <a:lnTo>
                    <a:pt x="5498531" y="602411"/>
                  </a:lnTo>
                  <a:lnTo>
                    <a:pt x="5537667" y="578578"/>
                  </a:lnTo>
                  <a:lnTo>
                    <a:pt x="5575743" y="554744"/>
                  </a:lnTo>
                  <a:close/>
                </a:path>
                <a:path w="6091555" h="2344420">
                  <a:moveTo>
                    <a:pt x="5717573" y="507076"/>
                  </a:moveTo>
                  <a:lnTo>
                    <a:pt x="4530506" y="507076"/>
                  </a:lnTo>
                  <a:lnTo>
                    <a:pt x="4436181" y="554744"/>
                  </a:lnTo>
                  <a:lnTo>
                    <a:pt x="5612766" y="554744"/>
                  </a:lnTo>
                  <a:lnTo>
                    <a:pt x="5648742" y="530910"/>
                  </a:lnTo>
                  <a:lnTo>
                    <a:pt x="5683676" y="530910"/>
                  </a:lnTo>
                  <a:lnTo>
                    <a:pt x="5717573" y="507076"/>
                  </a:lnTo>
                  <a:close/>
                </a:path>
                <a:path w="6091555" h="2344420">
                  <a:moveTo>
                    <a:pt x="6045579" y="459408"/>
                  </a:moveTo>
                  <a:lnTo>
                    <a:pt x="4668119" y="459408"/>
                  </a:lnTo>
                  <a:lnTo>
                    <a:pt x="4576898" y="507076"/>
                  </a:lnTo>
                  <a:lnTo>
                    <a:pt x="5813104" y="507076"/>
                  </a:lnTo>
                  <a:lnTo>
                    <a:pt x="5842913" y="483242"/>
                  </a:lnTo>
                  <a:lnTo>
                    <a:pt x="6023674" y="483242"/>
                  </a:lnTo>
                  <a:lnTo>
                    <a:pt x="6045579" y="459408"/>
                  </a:lnTo>
                  <a:close/>
                </a:path>
                <a:path w="6091555" h="2344420">
                  <a:moveTo>
                    <a:pt x="6017407" y="411741"/>
                  </a:moveTo>
                  <a:lnTo>
                    <a:pt x="4844190" y="411741"/>
                  </a:lnTo>
                  <a:lnTo>
                    <a:pt x="4800979" y="435575"/>
                  </a:lnTo>
                  <a:lnTo>
                    <a:pt x="4757227" y="435575"/>
                  </a:lnTo>
                  <a:lnTo>
                    <a:pt x="4712939" y="459408"/>
                  </a:lnTo>
                  <a:lnTo>
                    <a:pt x="6091007" y="459408"/>
                  </a:lnTo>
                  <a:lnTo>
                    <a:pt x="6055588" y="435575"/>
                  </a:lnTo>
                  <a:lnTo>
                    <a:pt x="6017407" y="411741"/>
                  </a:lnTo>
                  <a:close/>
                </a:path>
                <a:path w="6091555" h="2344420">
                  <a:moveTo>
                    <a:pt x="5932892" y="387907"/>
                  </a:moveTo>
                  <a:lnTo>
                    <a:pt x="4970535" y="387907"/>
                  </a:lnTo>
                  <a:lnTo>
                    <a:pt x="4928972" y="411741"/>
                  </a:lnTo>
                  <a:lnTo>
                    <a:pt x="5976497" y="411741"/>
                  </a:lnTo>
                  <a:lnTo>
                    <a:pt x="5932892" y="387907"/>
                  </a:lnTo>
                  <a:close/>
                </a:path>
                <a:path w="6091555" h="2344420">
                  <a:moveTo>
                    <a:pt x="5837725" y="364073"/>
                  </a:moveTo>
                  <a:lnTo>
                    <a:pt x="5091858" y="364073"/>
                  </a:lnTo>
                  <a:lnTo>
                    <a:pt x="5051982" y="387907"/>
                  </a:lnTo>
                  <a:lnTo>
                    <a:pt x="5886623" y="387907"/>
                  </a:lnTo>
                  <a:lnTo>
                    <a:pt x="5837725" y="364073"/>
                  </a:lnTo>
                  <a:close/>
                </a:path>
                <a:path w="6091555" h="2344420">
                  <a:moveTo>
                    <a:pt x="5616484" y="340239"/>
                  </a:moveTo>
                  <a:lnTo>
                    <a:pt x="5318979" y="340239"/>
                  </a:lnTo>
                  <a:lnTo>
                    <a:pt x="5282591" y="364073"/>
                  </a:lnTo>
                  <a:lnTo>
                    <a:pt x="5675576" y="364073"/>
                  </a:lnTo>
                  <a:lnTo>
                    <a:pt x="5616484" y="340239"/>
                  </a:lnTo>
                  <a:close/>
                </a:path>
              </a:pathLst>
            </a:custGeom>
            <a:solidFill>
              <a:srgbClr val="DED5C7"/>
            </a:solidFill>
          </p:spPr>
          <p:txBody>
            <a:bodyPr wrap="square" lIns="0" tIns="0" rIns="0" bIns="0" rtlCol="0"/>
            <a:lstStyle/>
            <a:p>
              <a:endParaRPr/>
            </a:p>
          </p:txBody>
        </p:sp>
        <p:sp>
          <p:nvSpPr>
            <p:cNvPr id="5" name="object 5"/>
            <p:cNvSpPr/>
            <p:nvPr/>
          </p:nvSpPr>
          <p:spPr>
            <a:xfrm>
              <a:off x="11120500" y="309626"/>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grpSp>
      <p:sp>
        <p:nvSpPr>
          <p:cNvPr id="6" name="object 6"/>
          <p:cNvSpPr txBox="1"/>
          <p:nvPr/>
        </p:nvSpPr>
        <p:spPr>
          <a:xfrm>
            <a:off x="11207115" y="295021"/>
            <a:ext cx="83185" cy="151130"/>
          </a:xfrm>
          <a:prstGeom prst="rect">
            <a:avLst/>
          </a:prstGeom>
        </p:spPr>
        <p:txBody>
          <a:bodyPr vert="horz" wrap="square" lIns="0" tIns="15875" rIns="0" bIns="0" rtlCol="0">
            <a:spAutoFit/>
          </a:bodyPr>
          <a:lstStyle/>
          <a:p>
            <a:pPr marL="12700">
              <a:lnSpc>
                <a:spcPct val="100000"/>
              </a:lnSpc>
              <a:spcBef>
                <a:spcPts val="125"/>
              </a:spcBef>
            </a:pPr>
            <a:r>
              <a:rPr sz="800" spc="-50" dirty="0">
                <a:solidFill>
                  <a:srgbClr val="FFFFFF"/>
                </a:solidFill>
                <a:latin typeface="Lucida Sans Unicode"/>
                <a:cs typeface="Lucida Sans Unicode"/>
              </a:rPr>
              <a:t>7</a:t>
            </a:r>
            <a:endParaRPr sz="800">
              <a:latin typeface="Lucida Sans Unicode"/>
              <a:cs typeface="Lucida Sans Unicode"/>
            </a:endParaRPr>
          </a:p>
        </p:txBody>
      </p:sp>
      <p:grpSp>
        <p:nvGrpSpPr>
          <p:cNvPr id="7" name="object 7"/>
          <p:cNvGrpSpPr/>
          <p:nvPr/>
        </p:nvGrpSpPr>
        <p:grpSpPr>
          <a:xfrm>
            <a:off x="106362" y="0"/>
            <a:ext cx="12085955" cy="6858000"/>
            <a:chOff x="106362" y="0"/>
            <a:chExt cx="12085955" cy="6858000"/>
          </a:xfrm>
        </p:grpSpPr>
        <p:sp>
          <p:nvSpPr>
            <p:cNvPr id="8" name="object 8"/>
            <p:cNvSpPr/>
            <p:nvPr/>
          </p:nvSpPr>
          <p:spPr>
            <a:xfrm>
              <a:off x="12087225" y="0"/>
              <a:ext cx="104775" cy="6858000"/>
            </a:xfrm>
            <a:custGeom>
              <a:avLst/>
              <a:gdLst/>
              <a:ahLst/>
              <a:cxnLst/>
              <a:rect l="l" t="t" r="r" b="b"/>
              <a:pathLst>
                <a:path w="104775" h="6858000">
                  <a:moveTo>
                    <a:pt x="104775" y="0"/>
                  </a:moveTo>
                  <a:lnTo>
                    <a:pt x="0" y="0"/>
                  </a:lnTo>
                  <a:lnTo>
                    <a:pt x="0" y="6858000"/>
                  </a:lnTo>
                  <a:lnTo>
                    <a:pt x="104775" y="6858000"/>
                  </a:lnTo>
                  <a:lnTo>
                    <a:pt x="104775" y="0"/>
                  </a:lnTo>
                  <a:close/>
                </a:path>
              </a:pathLst>
            </a:custGeom>
            <a:solidFill>
              <a:srgbClr val="EDEBE3"/>
            </a:solidFill>
          </p:spPr>
          <p:txBody>
            <a:bodyPr wrap="square" lIns="0" tIns="0" rIns="0" bIns="0" rtlCol="0"/>
            <a:lstStyle/>
            <a:p>
              <a:endParaRPr/>
            </a:p>
          </p:txBody>
        </p:sp>
        <p:sp>
          <p:nvSpPr>
            <p:cNvPr id="9" name="object 9"/>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sp>
        <p:nvSpPr>
          <p:cNvPr id="10" name="object 10"/>
          <p:cNvSpPr txBox="1"/>
          <p:nvPr/>
        </p:nvSpPr>
        <p:spPr>
          <a:xfrm>
            <a:off x="1036002" y="3304032"/>
            <a:ext cx="3366770" cy="491801"/>
          </a:xfrm>
          <a:prstGeom prst="rect">
            <a:avLst/>
          </a:prstGeom>
        </p:spPr>
        <p:txBody>
          <a:bodyPr vert="horz" wrap="square" lIns="0" tIns="60325" rIns="0" bIns="0" rtlCol="0">
            <a:spAutoFit/>
          </a:bodyPr>
          <a:lstStyle/>
          <a:p>
            <a:pPr marL="194310">
              <a:spcBef>
                <a:spcPts val="1485"/>
              </a:spcBef>
            </a:pPr>
            <a:r>
              <a:rPr lang="en-US" sz="2800" dirty="0">
                <a:solidFill>
                  <a:srgbClr val="AC9976"/>
                </a:solidFill>
                <a:latin typeface="Lucida Sans Unicode"/>
                <a:cs typeface="Lucida Sans Unicode"/>
              </a:rPr>
              <a:t>Contacts</a:t>
            </a:r>
            <a:endParaRPr lang="en-US" sz="2800" dirty="0">
              <a:latin typeface="Lucida Sans Unicode"/>
              <a:cs typeface="Lucida Sans Unicode"/>
            </a:endParaRPr>
          </a:p>
        </p:txBody>
      </p:sp>
      <p:sp>
        <p:nvSpPr>
          <p:cNvPr id="11" name="object 11"/>
          <p:cNvSpPr txBox="1"/>
          <p:nvPr/>
        </p:nvSpPr>
        <p:spPr>
          <a:xfrm>
            <a:off x="1047750" y="2705100"/>
            <a:ext cx="438150" cy="428625"/>
          </a:xfrm>
          <a:prstGeom prst="rect">
            <a:avLst/>
          </a:prstGeom>
          <a:solidFill>
            <a:srgbClr val="AC9976"/>
          </a:solidFill>
        </p:spPr>
        <p:txBody>
          <a:bodyPr vert="horz" wrap="square" lIns="0" tIns="136525" rIns="0" bIns="0" rtlCol="0">
            <a:spAutoFit/>
          </a:bodyPr>
          <a:lstStyle/>
          <a:p>
            <a:pPr marL="133350">
              <a:lnSpc>
                <a:spcPct val="100000"/>
              </a:lnSpc>
              <a:spcBef>
                <a:spcPts val="1075"/>
              </a:spcBef>
            </a:pPr>
            <a:r>
              <a:rPr sz="1200" spc="-25" dirty="0">
                <a:solidFill>
                  <a:srgbClr val="FFFFFF"/>
                </a:solidFill>
                <a:latin typeface="Lucida Sans Unicode"/>
                <a:cs typeface="Lucida Sans Unicode"/>
              </a:rPr>
              <a:t>01</a:t>
            </a:r>
            <a:endParaRPr sz="1200">
              <a:latin typeface="Lucida Sans Unicode"/>
              <a:cs typeface="Lucida Sans Unicode"/>
            </a:endParaRPr>
          </a:p>
        </p:txBody>
      </p:sp>
      <p:grpSp>
        <p:nvGrpSpPr>
          <p:cNvPr id="12" name="object 12"/>
          <p:cNvGrpSpPr/>
          <p:nvPr/>
        </p:nvGrpSpPr>
        <p:grpSpPr>
          <a:xfrm>
            <a:off x="11507372" y="286715"/>
            <a:ext cx="407034" cy="158115"/>
            <a:chOff x="11507372" y="286715"/>
            <a:chExt cx="407034" cy="158115"/>
          </a:xfrm>
        </p:grpSpPr>
        <p:pic>
          <p:nvPicPr>
            <p:cNvPr id="13" name="object 13"/>
            <p:cNvPicPr/>
            <p:nvPr/>
          </p:nvPicPr>
          <p:blipFill>
            <a:blip r:embed="rId2" cstate="print"/>
            <a:stretch>
              <a:fillRect/>
            </a:stretch>
          </p:blipFill>
          <p:spPr>
            <a:xfrm>
              <a:off x="11766807" y="339886"/>
              <a:ext cx="147284" cy="68676"/>
            </a:xfrm>
            <a:prstGeom prst="rect">
              <a:avLst/>
            </a:prstGeom>
          </p:spPr>
        </p:pic>
        <p:sp>
          <p:nvSpPr>
            <p:cNvPr id="14" name="object 14"/>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FFFFFF"/>
            </a:solidFill>
          </p:spPr>
          <p:txBody>
            <a:bodyPr wrap="square" lIns="0" tIns="0" rIns="0" bIns="0" rtlCol="0"/>
            <a:lstStyle/>
            <a:p>
              <a:endParaRPr/>
            </a:p>
          </p:txBody>
        </p:sp>
      </p:grpSp>
      <p:pic>
        <p:nvPicPr>
          <p:cNvPr id="15" name="object 8">
            <a:extLst>
              <a:ext uri="{FF2B5EF4-FFF2-40B4-BE49-F238E27FC236}">
                <a16:creationId xmlns:a16="http://schemas.microsoft.com/office/drawing/2014/main" id="{6B780FB3-CCE1-89AD-1904-D539DA2D680F}"/>
              </a:ext>
            </a:extLst>
          </p:cNvPr>
          <p:cNvPicPr/>
          <p:nvPr/>
        </p:nvPicPr>
        <p:blipFill>
          <a:blip r:embed="rId3" cstate="print"/>
          <a:stretch>
            <a:fillRect/>
          </a:stretch>
        </p:blipFill>
        <p:spPr>
          <a:xfrm>
            <a:off x="6229350" y="104775"/>
            <a:ext cx="5848350" cy="6643688"/>
          </a:xfrm>
          <a:prstGeom prst="rect">
            <a:avLst/>
          </a:prstGeom>
        </p:spPr>
      </p:pic>
    </p:spTree>
    <p:extLst>
      <p:ext uri="{BB962C8B-B14F-4D97-AF65-F5344CB8AC3E}">
        <p14:creationId xmlns:p14="http://schemas.microsoft.com/office/powerpoint/2010/main" val="3074776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9537" y="109537"/>
            <a:ext cx="11982450" cy="6648450"/>
            <a:chOff x="109537" y="109537"/>
            <a:chExt cx="11982450" cy="6648450"/>
          </a:xfrm>
        </p:grpSpPr>
        <p:pic>
          <p:nvPicPr>
            <p:cNvPr id="3" name="object 3"/>
            <p:cNvPicPr/>
            <p:nvPr/>
          </p:nvPicPr>
          <p:blipFill>
            <a:blip r:embed="rId2" cstate="print"/>
            <a:stretch>
              <a:fillRect/>
            </a:stretch>
          </p:blipFill>
          <p:spPr>
            <a:xfrm>
              <a:off x="5457825" y="190499"/>
              <a:ext cx="1276350" cy="6477000"/>
            </a:xfrm>
            <a:prstGeom prst="rect">
              <a:avLst/>
            </a:prstGeom>
          </p:spPr>
        </p:pic>
        <p:sp>
          <p:nvSpPr>
            <p:cNvPr id="5" name="object 5"/>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sp>
          <p:nvSpPr>
            <p:cNvPr id="6" name="object 6"/>
            <p:cNvSpPr/>
            <p:nvPr/>
          </p:nvSpPr>
          <p:spPr>
            <a:xfrm>
              <a:off x="11120501" y="309625"/>
              <a:ext cx="0" cy="109220"/>
            </a:xfrm>
            <a:custGeom>
              <a:avLst/>
              <a:gdLst/>
              <a:ahLst/>
              <a:cxnLst/>
              <a:rect l="l" t="t" r="r" b="b"/>
              <a:pathLst>
                <a:path h="109220">
                  <a:moveTo>
                    <a:pt x="0" y="0"/>
                  </a:moveTo>
                  <a:lnTo>
                    <a:pt x="0" y="109093"/>
                  </a:lnTo>
                </a:path>
              </a:pathLst>
            </a:custGeom>
            <a:ln w="6350">
              <a:solidFill>
                <a:srgbClr val="896F39"/>
              </a:solidFill>
            </a:ln>
          </p:spPr>
          <p:txBody>
            <a:bodyPr wrap="square" lIns="0" tIns="0" rIns="0" bIns="0" rtlCol="0"/>
            <a:lstStyle/>
            <a:p>
              <a:endParaRPr/>
            </a:p>
          </p:txBody>
        </p:sp>
        <p:pic>
          <p:nvPicPr>
            <p:cNvPr id="7" name="object 7"/>
            <p:cNvPicPr/>
            <p:nvPr/>
          </p:nvPicPr>
          <p:blipFill>
            <a:blip r:embed="rId3" cstate="print"/>
            <a:stretch>
              <a:fillRect/>
            </a:stretch>
          </p:blipFill>
          <p:spPr>
            <a:xfrm>
              <a:off x="11766807" y="339886"/>
              <a:ext cx="147284" cy="68676"/>
            </a:xfrm>
            <a:prstGeom prst="rect">
              <a:avLst/>
            </a:prstGeom>
          </p:spPr>
        </p:pic>
        <p:sp>
          <p:nvSpPr>
            <p:cNvPr id="8" name="object 8"/>
            <p:cNvSpPr/>
            <p:nvPr/>
          </p:nvSpPr>
          <p:spPr>
            <a:xfrm>
              <a:off x="11507372" y="286715"/>
              <a:ext cx="313055" cy="158115"/>
            </a:xfrm>
            <a:custGeom>
              <a:avLst/>
              <a:gdLst/>
              <a:ahLst/>
              <a:cxnLst/>
              <a:rect l="l" t="t" r="r" b="b"/>
              <a:pathLst>
                <a:path w="313054" h="158115">
                  <a:moveTo>
                    <a:pt x="26363" y="0"/>
                  </a:moveTo>
                  <a:lnTo>
                    <a:pt x="0" y="3737"/>
                  </a:lnTo>
                  <a:lnTo>
                    <a:pt x="7224" y="5424"/>
                  </a:lnTo>
                  <a:lnTo>
                    <a:pt x="12263" y="6962"/>
                  </a:lnTo>
                  <a:lnTo>
                    <a:pt x="55817" y="28129"/>
                  </a:lnTo>
                  <a:lnTo>
                    <a:pt x="115473" y="84016"/>
                  </a:lnTo>
                  <a:lnTo>
                    <a:pt x="132036" y="102959"/>
                  </a:lnTo>
                  <a:lnTo>
                    <a:pt x="147921" y="118548"/>
                  </a:lnTo>
                  <a:lnTo>
                    <a:pt x="163078" y="131076"/>
                  </a:lnTo>
                  <a:lnTo>
                    <a:pt x="177462" y="140836"/>
                  </a:lnTo>
                  <a:lnTo>
                    <a:pt x="179007" y="141753"/>
                  </a:lnTo>
                  <a:lnTo>
                    <a:pt x="224106" y="157925"/>
                  </a:lnTo>
                  <a:lnTo>
                    <a:pt x="261695" y="154594"/>
                  </a:lnTo>
                  <a:lnTo>
                    <a:pt x="290063" y="141241"/>
                  </a:lnTo>
                  <a:lnTo>
                    <a:pt x="307503" y="127348"/>
                  </a:lnTo>
                  <a:lnTo>
                    <a:pt x="309251" y="125691"/>
                  </a:lnTo>
                  <a:lnTo>
                    <a:pt x="311306" y="123547"/>
                  </a:lnTo>
                  <a:lnTo>
                    <a:pt x="295688" y="123547"/>
                  </a:lnTo>
                  <a:lnTo>
                    <a:pt x="278740" y="122685"/>
                  </a:lnTo>
                  <a:lnTo>
                    <a:pt x="222323" y="103606"/>
                  </a:lnTo>
                  <a:lnTo>
                    <a:pt x="175331" y="71574"/>
                  </a:lnTo>
                  <a:lnTo>
                    <a:pt x="148826" y="48875"/>
                  </a:lnTo>
                  <a:lnTo>
                    <a:pt x="103341" y="17138"/>
                  </a:lnTo>
                  <a:lnTo>
                    <a:pt x="61665" y="2657"/>
                  </a:lnTo>
                  <a:lnTo>
                    <a:pt x="26363" y="0"/>
                  </a:lnTo>
                  <a:close/>
                </a:path>
                <a:path w="313054" h="158115">
                  <a:moveTo>
                    <a:pt x="312512" y="122260"/>
                  </a:moveTo>
                  <a:lnTo>
                    <a:pt x="295688" y="123547"/>
                  </a:lnTo>
                  <a:lnTo>
                    <a:pt x="311306" y="123547"/>
                  </a:lnTo>
                  <a:lnTo>
                    <a:pt x="312512" y="122260"/>
                  </a:lnTo>
                  <a:close/>
                </a:path>
              </a:pathLst>
            </a:custGeom>
            <a:solidFill>
              <a:srgbClr val="FFFFFF"/>
            </a:solidFill>
          </p:spPr>
          <p:txBody>
            <a:bodyPr wrap="square" lIns="0" tIns="0" rIns="0" bIns="0" rtlCol="0"/>
            <a:lstStyle/>
            <a:p>
              <a:endParaRPr/>
            </a:p>
          </p:txBody>
        </p:sp>
      </p:grpSp>
      <p:sp>
        <p:nvSpPr>
          <p:cNvPr id="9" name="object 9"/>
          <p:cNvSpPr txBox="1"/>
          <p:nvPr/>
        </p:nvSpPr>
        <p:spPr>
          <a:xfrm>
            <a:off x="10319384" y="295021"/>
            <a:ext cx="1002665" cy="151130"/>
          </a:xfrm>
          <a:prstGeom prst="rect">
            <a:avLst/>
          </a:prstGeom>
        </p:spPr>
        <p:txBody>
          <a:bodyPr vert="horz" wrap="square" lIns="0" tIns="15875" rIns="0" bIns="0" rtlCol="0">
            <a:spAutoFit/>
          </a:bodyPr>
          <a:lstStyle/>
          <a:p>
            <a:pPr marL="12700">
              <a:lnSpc>
                <a:spcPct val="100000"/>
              </a:lnSpc>
              <a:spcBef>
                <a:spcPts val="125"/>
              </a:spcBef>
              <a:tabLst>
                <a:tab pos="899794" algn="l"/>
              </a:tabLst>
            </a:pPr>
            <a:r>
              <a:rPr sz="800" dirty="0">
                <a:solidFill>
                  <a:srgbClr val="FFFFFF"/>
                </a:solidFill>
                <a:latin typeface="Lucida Sans Unicode"/>
                <a:cs typeface="Lucida Sans Unicode"/>
              </a:rPr>
              <a:t>Section</a:t>
            </a:r>
            <a:r>
              <a:rPr sz="800" spc="120" dirty="0">
                <a:solidFill>
                  <a:srgbClr val="FFFFFF"/>
                </a:solidFill>
                <a:latin typeface="Lucida Sans Unicode"/>
                <a:cs typeface="Lucida Sans Unicode"/>
              </a:rPr>
              <a:t> </a:t>
            </a:r>
            <a:r>
              <a:rPr sz="800" spc="-20" dirty="0">
                <a:solidFill>
                  <a:srgbClr val="FFFFFF"/>
                </a:solidFill>
                <a:latin typeface="Lucida Sans Unicode"/>
                <a:cs typeface="Lucida Sans Unicode"/>
              </a:rPr>
              <a:t>Name</a:t>
            </a:r>
            <a:r>
              <a:rPr sz="800" dirty="0">
                <a:solidFill>
                  <a:srgbClr val="FFFFFF"/>
                </a:solidFill>
                <a:latin typeface="Lucida Sans Unicode"/>
                <a:cs typeface="Lucida Sans Unicode"/>
              </a:rPr>
              <a:t>	</a:t>
            </a:r>
            <a:r>
              <a:rPr sz="800" spc="-120" dirty="0">
                <a:solidFill>
                  <a:srgbClr val="FFFFFF"/>
                </a:solidFill>
                <a:latin typeface="Lucida Sans Unicode"/>
                <a:cs typeface="Lucida Sans Unicode"/>
              </a:rPr>
              <a:t>15</a:t>
            </a:r>
            <a:endParaRPr sz="800">
              <a:latin typeface="Lucida Sans Unicode"/>
              <a:cs typeface="Lucida Sans Unicode"/>
            </a:endParaRPr>
          </a:p>
        </p:txBody>
      </p:sp>
      <p:sp>
        <p:nvSpPr>
          <p:cNvPr id="11" name="object 11"/>
          <p:cNvSpPr txBox="1"/>
          <p:nvPr/>
        </p:nvSpPr>
        <p:spPr>
          <a:xfrm>
            <a:off x="747787" y="3733800"/>
            <a:ext cx="4556125" cy="1083758"/>
          </a:xfrm>
          <a:prstGeom prst="rect">
            <a:avLst/>
          </a:prstGeom>
        </p:spPr>
        <p:txBody>
          <a:bodyPr vert="horz" wrap="square" lIns="0" tIns="67945" rIns="0" bIns="0" rtlCol="0">
            <a:spAutoFit/>
          </a:bodyPr>
          <a:lstStyle/>
          <a:p>
            <a:pPr>
              <a:lnSpc>
                <a:spcPct val="100000"/>
              </a:lnSpc>
              <a:spcBef>
                <a:spcPts val="470"/>
              </a:spcBef>
            </a:pPr>
            <a:endParaRPr sz="1200" dirty="0">
              <a:latin typeface="Lucida Sans Unicode"/>
              <a:cs typeface="Lucida Sans Unicode"/>
            </a:endParaRPr>
          </a:p>
          <a:p>
            <a:pPr marL="12700">
              <a:lnSpc>
                <a:spcPct val="100000"/>
              </a:lnSpc>
            </a:pPr>
            <a:r>
              <a:rPr lang="en-US" sz="1200" spc="-80" dirty="0">
                <a:solidFill>
                  <a:srgbClr val="AC9976"/>
                </a:solidFill>
                <a:latin typeface="Arial Black"/>
                <a:cs typeface="Arial Black"/>
              </a:rPr>
              <a:t>Our contacts</a:t>
            </a:r>
            <a:r>
              <a:rPr sz="1200" spc="-10" dirty="0">
                <a:solidFill>
                  <a:srgbClr val="AC9976"/>
                </a:solidFill>
                <a:latin typeface="Arial Black"/>
                <a:cs typeface="Arial Black"/>
              </a:rPr>
              <a:t>:</a:t>
            </a:r>
            <a:endParaRPr sz="1200" dirty="0">
              <a:latin typeface="Arial Black"/>
              <a:cs typeface="Arial Black"/>
            </a:endParaRPr>
          </a:p>
          <a:p>
            <a:pPr marL="12700" marR="5080" algn="just">
              <a:lnSpc>
                <a:spcPct val="130400"/>
              </a:lnSpc>
              <a:spcBef>
                <a:spcPts val="690"/>
              </a:spcBef>
            </a:pPr>
            <a:r>
              <a:rPr lang="en-US" sz="1200" dirty="0">
                <a:solidFill>
                  <a:srgbClr val="AC9976"/>
                </a:solidFill>
                <a:latin typeface="Lucida Sans Unicode"/>
                <a:cs typeface="Lucida Sans Unicode"/>
              </a:rPr>
              <a:t>Kristina.CHEBANOVA@movenpick.com</a:t>
            </a:r>
          </a:p>
          <a:p>
            <a:pPr marL="12700" marR="5080" algn="just">
              <a:lnSpc>
                <a:spcPct val="130400"/>
              </a:lnSpc>
              <a:spcBef>
                <a:spcPts val="690"/>
              </a:spcBef>
            </a:pPr>
            <a:r>
              <a:rPr lang="en-US" sz="1200" dirty="0">
                <a:solidFill>
                  <a:srgbClr val="AC9976"/>
                </a:solidFill>
                <a:latin typeface="Lucida Sans Unicode"/>
                <a:cs typeface="Lucida Sans Unicode"/>
              </a:rPr>
              <a:t>Monika.KHALIKOVA@movenpick.com</a:t>
            </a:r>
            <a:endParaRPr sz="1200" dirty="0">
              <a:solidFill>
                <a:srgbClr val="AC9976"/>
              </a:solidFill>
              <a:latin typeface="Lucida Sans Unicode"/>
              <a:cs typeface="Lucida Sans Unicode"/>
            </a:endParaRPr>
          </a:p>
        </p:txBody>
      </p:sp>
      <p:pic>
        <p:nvPicPr>
          <p:cNvPr id="12" name="object 8">
            <a:extLst>
              <a:ext uri="{FF2B5EF4-FFF2-40B4-BE49-F238E27FC236}">
                <a16:creationId xmlns:a16="http://schemas.microsoft.com/office/drawing/2014/main" id="{98953915-1944-D78B-BDBF-382BAF68F37C}"/>
              </a:ext>
            </a:extLst>
          </p:cNvPr>
          <p:cNvPicPr/>
          <p:nvPr/>
        </p:nvPicPr>
        <p:blipFill>
          <a:blip r:embed="rId4" cstate="print"/>
          <a:stretch>
            <a:fillRect/>
          </a:stretch>
        </p:blipFill>
        <p:spPr>
          <a:xfrm>
            <a:off x="6091237" y="109537"/>
            <a:ext cx="6000750" cy="6657973"/>
          </a:xfrm>
          <a:prstGeom prst="rect">
            <a:avLst/>
          </a:prstGeom>
        </p:spPr>
      </p:pic>
      <p:pic>
        <p:nvPicPr>
          <p:cNvPr id="15" name="Рисунок 14" descr="Изображение выглядит как мебель, дизайн интерьера, пол, стена&#10;&#10;Автоматически созданное описание">
            <a:extLst>
              <a:ext uri="{FF2B5EF4-FFF2-40B4-BE49-F238E27FC236}">
                <a16:creationId xmlns:a16="http://schemas.microsoft.com/office/drawing/2014/main" id="{9A9A8D93-4CC8-8D39-5BD3-4EBA3585C6A0}"/>
              </a:ext>
            </a:extLst>
          </p:cNvPr>
          <p:cNvPicPr>
            <a:picLocks noChangeAspect="1"/>
          </p:cNvPicPr>
          <p:nvPr/>
        </p:nvPicPr>
        <p:blipFill>
          <a:blip r:embed="rId5" cstate="print">
            <a:extLst>
              <a:ext uri="{28A0092B-C50C-407E-A947-70E740481C1C}">
                <a14:useLocalDpi xmlns:a14="http://schemas.microsoft.com/office/drawing/2010/main" val="0"/>
              </a:ext>
            </a:extLst>
          </a:blip>
          <a:srcRect l="13897" r="28762" b="3195"/>
          <a:stretch/>
        </p:blipFill>
        <p:spPr>
          <a:xfrm>
            <a:off x="6081713" y="119061"/>
            <a:ext cx="6000750" cy="6638926"/>
          </a:xfrm>
          <a:prstGeom prst="rect">
            <a:avLst/>
          </a:prstGeom>
        </p:spPr>
      </p:pic>
      <p:sp>
        <p:nvSpPr>
          <p:cNvPr id="17" name="TextBox 16">
            <a:extLst>
              <a:ext uri="{FF2B5EF4-FFF2-40B4-BE49-F238E27FC236}">
                <a16:creationId xmlns:a16="http://schemas.microsoft.com/office/drawing/2014/main" id="{F2E258E8-1757-B9D6-BC57-988F49F5D8D5}"/>
              </a:ext>
            </a:extLst>
          </p:cNvPr>
          <p:cNvSpPr txBox="1"/>
          <p:nvPr/>
        </p:nvSpPr>
        <p:spPr>
          <a:xfrm>
            <a:off x="636403" y="5141441"/>
            <a:ext cx="6097772" cy="646331"/>
          </a:xfrm>
          <a:prstGeom prst="rect">
            <a:avLst/>
          </a:prstGeom>
          <a:noFill/>
        </p:spPr>
        <p:txBody>
          <a:bodyPr wrap="square">
            <a:spAutoFit/>
          </a:bodyPr>
          <a:lstStyle/>
          <a:p>
            <a:pPr marL="12700">
              <a:lnSpc>
                <a:spcPct val="100000"/>
              </a:lnSpc>
              <a:spcBef>
                <a:spcPts val="100"/>
              </a:spcBef>
            </a:pPr>
            <a:r>
              <a:rPr lang="en-US" sz="1200" dirty="0" err="1">
                <a:solidFill>
                  <a:schemeClr val="tx1"/>
                </a:solidFill>
                <a:latin typeface="Lucida Sans Unicode"/>
                <a:cs typeface="Lucida Sans Unicode"/>
              </a:rPr>
              <a:t>Mövenpick</a:t>
            </a:r>
            <a:r>
              <a:rPr lang="en-US" sz="1200" dirty="0">
                <a:solidFill>
                  <a:schemeClr val="tx1"/>
                </a:solidFill>
                <a:latin typeface="Lucida Sans Unicode"/>
                <a:cs typeface="Lucida Sans Unicode"/>
              </a:rPr>
              <a:t> Tashkent Old City</a:t>
            </a:r>
          </a:p>
          <a:p>
            <a:pPr marL="12700" marR="5080">
              <a:lnSpc>
                <a:spcPct val="100000"/>
              </a:lnSpc>
            </a:pPr>
            <a:r>
              <a:rPr lang="en-US" sz="1200" dirty="0">
                <a:solidFill>
                  <a:schemeClr val="tx1"/>
                </a:solidFill>
                <a:latin typeface="Lucida Sans Unicode"/>
                <a:cs typeface="Lucida Sans Unicode"/>
              </a:rPr>
              <a:t>Abdulla </a:t>
            </a:r>
            <a:r>
              <a:rPr lang="en-US" sz="1200" dirty="0" err="1">
                <a:solidFill>
                  <a:schemeClr val="tx1"/>
                </a:solidFill>
                <a:latin typeface="Lucida Sans Unicode"/>
                <a:cs typeface="Lucida Sans Unicode"/>
              </a:rPr>
              <a:t>Qodiriy</a:t>
            </a:r>
            <a:r>
              <a:rPr lang="en-US" sz="1200" dirty="0">
                <a:solidFill>
                  <a:schemeClr val="tx1"/>
                </a:solidFill>
                <a:latin typeface="Lucida Sans Unicode"/>
                <a:cs typeface="Lucida Sans Unicode"/>
              </a:rPr>
              <a:t> str., 35 </a:t>
            </a:r>
            <a:r>
              <a:rPr lang="en-US" sz="1200" dirty="0">
                <a:solidFill>
                  <a:srgbClr val="AC9976"/>
                </a:solidFill>
                <a:latin typeface="Lucida Sans Unicode"/>
                <a:cs typeface="Lucida Sans Unicode"/>
              </a:rPr>
              <a:t>| </a:t>
            </a:r>
            <a:r>
              <a:rPr lang="en-US" sz="1200" dirty="0">
                <a:solidFill>
                  <a:schemeClr val="tx1"/>
                </a:solidFill>
                <a:latin typeface="Lucida Sans Unicode"/>
                <a:cs typeface="Lucida Sans Unicode"/>
              </a:rPr>
              <a:t>100057</a:t>
            </a:r>
            <a:r>
              <a:rPr lang="en-US" sz="1200" dirty="0">
                <a:solidFill>
                  <a:srgbClr val="AC9976"/>
                </a:solidFill>
                <a:latin typeface="Lucida Sans Unicode"/>
                <a:cs typeface="Lucida Sans Unicode"/>
              </a:rPr>
              <a:t> | </a:t>
            </a:r>
            <a:r>
              <a:rPr lang="en-US" sz="1200" dirty="0">
                <a:solidFill>
                  <a:schemeClr val="tx1"/>
                </a:solidFill>
                <a:latin typeface="Lucida Sans Unicode"/>
                <a:cs typeface="Lucida Sans Unicode"/>
              </a:rPr>
              <a:t>Tashkent, Uzbekistan </a:t>
            </a:r>
          </a:p>
          <a:p>
            <a:pPr marL="12700" marR="5080">
              <a:lnSpc>
                <a:spcPct val="100000"/>
              </a:lnSpc>
            </a:pPr>
            <a:r>
              <a:rPr lang="en-US" sz="1200" dirty="0">
                <a:solidFill>
                  <a:schemeClr val="tx1"/>
                </a:solidFill>
                <a:latin typeface="Lucida Sans Unicode"/>
                <a:cs typeface="Lucida Sans Unicode"/>
              </a:rPr>
              <a:t>Phone +998 55 516 31 31</a:t>
            </a:r>
          </a:p>
        </p:txBody>
      </p:sp>
      <p:pic>
        <p:nvPicPr>
          <p:cNvPr id="18" name="object 17">
            <a:extLst>
              <a:ext uri="{FF2B5EF4-FFF2-40B4-BE49-F238E27FC236}">
                <a16:creationId xmlns:a16="http://schemas.microsoft.com/office/drawing/2014/main" id="{8B035546-0A7D-5BF6-CB4D-E836B59266B8}"/>
              </a:ext>
            </a:extLst>
          </p:cNvPr>
          <p:cNvPicPr/>
          <p:nvPr/>
        </p:nvPicPr>
        <p:blipFill>
          <a:blip r:embed="rId6" cstate="print">
            <a:extLst>
              <a:ext uri="{28A0092B-C50C-407E-A947-70E740481C1C}">
                <a14:useLocalDpi xmlns:a14="http://schemas.microsoft.com/office/drawing/2010/main" val="0"/>
              </a:ext>
            </a:extLst>
          </a:blip>
          <a:srcRect/>
          <a:stretch/>
        </p:blipFill>
        <p:spPr>
          <a:xfrm>
            <a:off x="773476" y="898908"/>
            <a:ext cx="3348012" cy="2511009"/>
          </a:xfrm>
          <a:prstGeom prst="rect">
            <a:avLst/>
          </a:prstGeom>
        </p:spPr>
      </p:pic>
    </p:spTree>
    <p:extLst>
      <p:ext uri="{BB962C8B-B14F-4D97-AF65-F5344CB8AC3E}">
        <p14:creationId xmlns:p14="http://schemas.microsoft.com/office/powerpoint/2010/main" val="2649613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7"/>
            </a:xfrm>
            <a:prstGeom prst="rect">
              <a:avLst/>
            </a:prstGeom>
          </p:spPr>
        </p:pic>
        <p:pic>
          <p:nvPicPr>
            <p:cNvPr id="4" name="object 4"/>
            <p:cNvPicPr/>
            <p:nvPr/>
          </p:nvPicPr>
          <p:blipFill>
            <a:blip r:embed="rId3" cstate="print"/>
            <a:stretch>
              <a:fillRect/>
            </a:stretch>
          </p:blipFill>
          <p:spPr>
            <a:xfrm>
              <a:off x="0" y="0"/>
              <a:ext cx="12192000" cy="6858000"/>
            </a:xfrm>
            <a:prstGeom prst="rect">
              <a:avLst/>
            </a:prstGeom>
          </p:spPr>
        </p:pic>
        <p:sp>
          <p:nvSpPr>
            <p:cNvPr id="5" name="object 5"/>
            <p:cNvSpPr/>
            <p:nvPr/>
          </p:nvSpPr>
          <p:spPr>
            <a:xfrm>
              <a:off x="0" y="2247897"/>
              <a:ext cx="11673205" cy="4610100"/>
            </a:xfrm>
            <a:custGeom>
              <a:avLst/>
              <a:gdLst/>
              <a:ahLst/>
              <a:cxnLst/>
              <a:rect l="l" t="t" r="r" b="b"/>
              <a:pathLst>
                <a:path w="11673205" h="4610100">
                  <a:moveTo>
                    <a:pt x="7756077" y="4572000"/>
                  </a:moveTo>
                  <a:lnTo>
                    <a:pt x="3411057" y="4572000"/>
                  </a:lnTo>
                  <a:lnTo>
                    <a:pt x="3445281" y="4610100"/>
                  </a:lnTo>
                  <a:lnTo>
                    <a:pt x="7729320" y="4610100"/>
                  </a:lnTo>
                  <a:lnTo>
                    <a:pt x="7756077" y="4572000"/>
                  </a:lnTo>
                  <a:close/>
                </a:path>
                <a:path w="11673205" h="4610100">
                  <a:moveTo>
                    <a:pt x="7857759" y="4495800"/>
                  </a:moveTo>
                  <a:lnTo>
                    <a:pt x="3307618" y="4495800"/>
                  </a:lnTo>
                  <a:lnTo>
                    <a:pt x="3376705" y="4572000"/>
                  </a:lnTo>
                  <a:lnTo>
                    <a:pt x="7782301" y="4572000"/>
                  </a:lnTo>
                  <a:lnTo>
                    <a:pt x="7807992" y="4533900"/>
                  </a:lnTo>
                  <a:lnTo>
                    <a:pt x="7833146" y="4533900"/>
                  </a:lnTo>
                  <a:lnTo>
                    <a:pt x="7857759" y="4495800"/>
                  </a:lnTo>
                  <a:close/>
                </a:path>
                <a:path w="11673205" h="4610100">
                  <a:moveTo>
                    <a:pt x="7905354" y="4457700"/>
                  </a:moveTo>
                  <a:lnTo>
                    <a:pt x="3238025" y="4457700"/>
                  </a:lnTo>
                  <a:lnTo>
                    <a:pt x="3272885" y="4495800"/>
                  </a:lnTo>
                  <a:lnTo>
                    <a:pt x="7881830" y="4495800"/>
                  </a:lnTo>
                  <a:lnTo>
                    <a:pt x="7905354" y="4457700"/>
                  </a:lnTo>
                  <a:close/>
                </a:path>
                <a:path w="11673205" h="4610100">
                  <a:moveTo>
                    <a:pt x="7993935" y="4381500"/>
                  </a:moveTo>
                  <a:lnTo>
                    <a:pt x="3132691" y="4381500"/>
                  </a:lnTo>
                  <a:lnTo>
                    <a:pt x="3203039" y="4457700"/>
                  </a:lnTo>
                  <a:lnTo>
                    <a:pt x="7928330" y="4457700"/>
                  </a:lnTo>
                  <a:lnTo>
                    <a:pt x="7950754" y="4419600"/>
                  </a:lnTo>
                  <a:lnTo>
                    <a:pt x="7972624" y="4419600"/>
                  </a:lnTo>
                  <a:lnTo>
                    <a:pt x="7993935" y="4381500"/>
                  </a:lnTo>
                  <a:close/>
                </a:path>
                <a:path w="11673205" h="4610100">
                  <a:moveTo>
                    <a:pt x="8127260" y="4267200"/>
                  </a:moveTo>
                  <a:lnTo>
                    <a:pt x="2990504" y="4267200"/>
                  </a:lnTo>
                  <a:lnTo>
                    <a:pt x="3097331" y="4381500"/>
                  </a:lnTo>
                  <a:lnTo>
                    <a:pt x="8014687" y="4381500"/>
                  </a:lnTo>
                  <a:lnTo>
                    <a:pt x="8034874" y="4343400"/>
                  </a:lnTo>
                  <a:lnTo>
                    <a:pt x="8054496" y="4343400"/>
                  </a:lnTo>
                  <a:lnTo>
                    <a:pt x="8073548" y="4305300"/>
                  </a:lnTo>
                  <a:lnTo>
                    <a:pt x="8109933" y="4305300"/>
                  </a:lnTo>
                  <a:lnTo>
                    <a:pt x="8127260" y="4267200"/>
                  </a:lnTo>
                  <a:close/>
                </a:path>
                <a:path w="11673205" h="4610100">
                  <a:moveTo>
                    <a:pt x="6975331" y="4013200"/>
                  </a:moveTo>
                  <a:lnTo>
                    <a:pt x="2663432" y="4013200"/>
                  </a:lnTo>
                  <a:lnTo>
                    <a:pt x="2810007" y="4165600"/>
                  </a:lnTo>
                  <a:lnTo>
                    <a:pt x="2846350" y="4165600"/>
                  </a:lnTo>
                  <a:lnTo>
                    <a:pt x="2954649" y="4267200"/>
                  </a:lnTo>
                  <a:lnTo>
                    <a:pt x="8144006" y="4267200"/>
                  </a:lnTo>
                  <a:lnTo>
                    <a:pt x="8160168" y="4241800"/>
                  </a:lnTo>
                  <a:lnTo>
                    <a:pt x="8190729" y="4241800"/>
                  </a:lnTo>
                  <a:lnTo>
                    <a:pt x="8228487" y="4203700"/>
                  </a:lnTo>
                  <a:lnTo>
                    <a:pt x="8230961" y="4203700"/>
                  </a:lnTo>
                  <a:lnTo>
                    <a:pt x="8256146" y="4165600"/>
                  </a:lnTo>
                  <a:lnTo>
                    <a:pt x="8293120" y="4127500"/>
                  </a:lnTo>
                  <a:lnTo>
                    <a:pt x="8331936" y="4089400"/>
                  </a:lnTo>
                  <a:lnTo>
                    <a:pt x="7314984" y="4089400"/>
                  </a:lnTo>
                  <a:lnTo>
                    <a:pt x="7266702" y="4051300"/>
                  </a:lnTo>
                  <a:lnTo>
                    <a:pt x="7024115" y="4051300"/>
                  </a:lnTo>
                  <a:lnTo>
                    <a:pt x="6975331" y="4013200"/>
                  </a:lnTo>
                  <a:close/>
                </a:path>
                <a:path w="11673205" h="4610100">
                  <a:moveTo>
                    <a:pt x="8362645" y="4051300"/>
                  </a:moveTo>
                  <a:lnTo>
                    <a:pt x="8176763" y="4051300"/>
                  </a:lnTo>
                  <a:lnTo>
                    <a:pt x="8129022" y="4089400"/>
                  </a:lnTo>
                  <a:lnTo>
                    <a:pt x="8331936" y="4089400"/>
                  </a:lnTo>
                  <a:lnTo>
                    <a:pt x="8362645" y="4051300"/>
                  </a:lnTo>
                  <a:close/>
                </a:path>
                <a:path w="11673205" h="4610100">
                  <a:moveTo>
                    <a:pt x="34708" y="0"/>
                  </a:moveTo>
                  <a:lnTo>
                    <a:pt x="0" y="0"/>
                  </a:lnTo>
                  <a:lnTo>
                    <a:pt x="0" y="1308100"/>
                  </a:lnTo>
                  <a:lnTo>
                    <a:pt x="321810" y="1574800"/>
                  </a:lnTo>
                  <a:lnTo>
                    <a:pt x="368337" y="1651000"/>
                  </a:lnTo>
                  <a:lnTo>
                    <a:pt x="556298" y="1803400"/>
                  </a:lnTo>
                  <a:lnTo>
                    <a:pt x="603734" y="1879600"/>
                  </a:lnTo>
                  <a:lnTo>
                    <a:pt x="747064" y="1981200"/>
                  </a:lnTo>
                  <a:lnTo>
                    <a:pt x="795170" y="2057400"/>
                  </a:lnTo>
                  <a:lnTo>
                    <a:pt x="891855" y="2133600"/>
                  </a:lnTo>
                  <a:lnTo>
                    <a:pt x="940428" y="2209800"/>
                  </a:lnTo>
                  <a:lnTo>
                    <a:pt x="989151" y="2247900"/>
                  </a:lnTo>
                  <a:lnTo>
                    <a:pt x="1038019" y="2324100"/>
                  </a:lnTo>
                  <a:lnTo>
                    <a:pt x="1087031" y="2362200"/>
                  </a:lnTo>
                  <a:lnTo>
                    <a:pt x="1136182" y="2438400"/>
                  </a:lnTo>
                  <a:lnTo>
                    <a:pt x="1185470" y="2476500"/>
                  </a:lnTo>
                  <a:lnTo>
                    <a:pt x="1234890" y="2552700"/>
                  </a:lnTo>
                  <a:lnTo>
                    <a:pt x="1284441" y="2590800"/>
                  </a:lnTo>
                  <a:lnTo>
                    <a:pt x="1334118" y="2667000"/>
                  </a:lnTo>
                  <a:lnTo>
                    <a:pt x="1383918" y="2692400"/>
                  </a:lnTo>
                  <a:lnTo>
                    <a:pt x="1424452" y="2768600"/>
                  </a:lnTo>
                  <a:lnTo>
                    <a:pt x="1545418" y="2882900"/>
                  </a:lnTo>
                  <a:lnTo>
                    <a:pt x="1585527" y="2959100"/>
                  </a:lnTo>
                  <a:lnTo>
                    <a:pt x="1744883" y="3111500"/>
                  </a:lnTo>
                  <a:lnTo>
                    <a:pt x="1784450" y="3187700"/>
                  </a:lnTo>
                  <a:lnTo>
                    <a:pt x="1902494" y="3302000"/>
                  </a:lnTo>
                  <a:lnTo>
                    <a:pt x="2174033" y="3556000"/>
                  </a:lnTo>
                  <a:lnTo>
                    <a:pt x="2402353" y="3784600"/>
                  </a:lnTo>
                  <a:lnTo>
                    <a:pt x="2626489" y="4013200"/>
                  </a:lnTo>
                  <a:lnTo>
                    <a:pt x="6779160" y="4013200"/>
                  </a:lnTo>
                  <a:lnTo>
                    <a:pt x="6729835" y="3975100"/>
                  </a:lnTo>
                  <a:lnTo>
                    <a:pt x="6630818" y="3975100"/>
                  </a:lnTo>
                  <a:lnTo>
                    <a:pt x="6581116" y="3937000"/>
                  </a:lnTo>
                  <a:lnTo>
                    <a:pt x="6481303" y="3937000"/>
                  </a:lnTo>
                  <a:lnTo>
                    <a:pt x="6431183" y="3898900"/>
                  </a:lnTo>
                  <a:lnTo>
                    <a:pt x="6330493" y="3898900"/>
                  </a:lnTo>
                  <a:lnTo>
                    <a:pt x="6279915" y="3860800"/>
                  </a:lnTo>
                  <a:lnTo>
                    <a:pt x="6229175" y="3860800"/>
                  </a:lnTo>
                  <a:lnTo>
                    <a:pt x="6178269" y="3822700"/>
                  </a:lnTo>
                  <a:lnTo>
                    <a:pt x="6127193" y="3822700"/>
                  </a:lnTo>
                  <a:lnTo>
                    <a:pt x="6075941" y="3784600"/>
                  </a:lnTo>
                  <a:lnTo>
                    <a:pt x="6024510" y="3784600"/>
                  </a:lnTo>
                  <a:lnTo>
                    <a:pt x="5972895" y="3746500"/>
                  </a:lnTo>
                  <a:lnTo>
                    <a:pt x="5921092" y="3746500"/>
                  </a:lnTo>
                  <a:lnTo>
                    <a:pt x="5884548" y="3708400"/>
                  </a:lnTo>
                  <a:lnTo>
                    <a:pt x="5811169" y="3708400"/>
                  </a:lnTo>
                  <a:lnTo>
                    <a:pt x="5774331" y="3670300"/>
                  </a:lnTo>
                  <a:lnTo>
                    <a:pt x="5737392" y="3670300"/>
                  </a:lnTo>
                  <a:lnTo>
                    <a:pt x="5700349" y="3632200"/>
                  </a:lnTo>
                  <a:lnTo>
                    <a:pt x="5663203" y="3632200"/>
                  </a:lnTo>
                  <a:lnTo>
                    <a:pt x="5625951" y="3594100"/>
                  </a:lnTo>
                  <a:lnTo>
                    <a:pt x="5551124" y="3594100"/>
                  </a:lnTo>
                  <a:lnTo>
                    <a:pt x="5513545" y="3556000"/>
                  </a:lnTo>
                  <a:lnTo>
                    <a:pt x="5475855" y="3556000"/>
                  </a:lnTo>
                  <a:lnTo>
                    <a:pt x="5438051" y="3517900"/>
                  </a:lnTo>
                  <a:lnTo>
                    <a:pt x="5400132" y="3517900"/>
                  </a:lnTo>
                  <a:lnTo>
                    <a:pt x="5362097" y="3479800"/>
                  </a:lnTo>
                  <a:lnTo>
                    <a:pt x="5323944" y="3479800"/>
                  </a:lnTo>
                  <a:lnTo>
                    <a:pt x="5285671" y="3454400"/>
                  </a:lnTo>
                  <a:lnTo>
                    <a:pt x="5247277" y="3454400"/>
                  </a:lnTo>
                  <a:lnTo>
                    <a:pt x="5170119" y="3378200"/>
                  </a:lnTo>
                  <a:lnTo>
                    <a:pt x="5131353" y="3378200"/>
                  </a:lnTo>
                  <a:lnTo>
                    <a:pt x="5092459" y="3340100"/>
                  </a:lnTo>
                  <a:lnTo>
                    <a:pt x="5053437" y="3340100"/>
                  </a:lnTo>
                  <a:lnTo>
                    <a:pt x="5014284" y="3302000"/>
                  </a:lnTo>
                  <a:lnTo>
                    <a:pt x="4974999" y="3302000"/>
                  </a:lnTo>
                  <a:lnTo>
                    <a:pt x="4896028" y="3225800"/>
                  </a:lnTo>
                  <a:lnTo>
                    <a:pt x="4856339" y="3225800"/>
                  </a:lnTo>
                  <a:lnTo>
                    <a:pt x="4776545" y="3149600"/>
                  </a:lnTo>
                  <a:lnTo>
                    <a:pt x="4736437" y="3149600"/>
                  </a:lnTo>
                  <a:lnTo>
                    <a:pt x="4696186" y="3111500"/>
                  </a:lnTo>
                  <a:lnTo>
                    <a:pt x="4655792" y="3111500"/>
                  </a:lnTo>
                  <a:lnTo>
                    <a:pt x="4533728" y="2997200"/>
                  </a:lnTo>
                  <a:lnTo>
                    <a:pt x="4492741" y="2997200"/>
                  </a:lnTo>
                  <a:lnTo>
                    <a:pt x="4410312" y="2921000"/>
                  </a:lnTo>
                  <a:lnTo>
                    <a:pt x="4368865" y="2921000"/>
                  </a:lnTo>
                  <a:lnTo>
                    <a:pt x="4243581" y="2806700"/>
                  </a:lnTo>
                  <a:lnTo>
                    <a:pt x="4201500" y="2806700"/>
                  </a:lnTo>
                  <a:lnTo>
                    <a:pt x="4031535" y="2667000"/>
                  </a:lnTo>
                  <a:lnTo>
                    <a:pt x="3988626" y="2667000"/>
                  </a:lnTo>
                  <a:lnTo>
                    <a:pt x="3771496" y="2476500"/>
                  </a:lnTo>
                  <a:lnTo>
                    <a:pt x="3683410" y="2400300"/>
                  </a:lnTo>
                  <a:lnTo>
                    <a:pt x="3639097" y="2400300"/>
                  </a:lnTo>
                  <a:lnTo>
                    <a:pt x="3414760" y="2209800"/>
                  </a:lnTo>
                  <a:lnTo>
                    <a:pt x="3185670" y="2019300"/>
                  </a:lnTo>
                  <a:lnTo>
                    <a:pt x="2951635" y="1841500"/>
                  </a:lnTo>
                  <a:lnTo>
                    <a:pt x="2904217" y="1803400"/>
                  </a:lnTo>
                  <a:lnTo>
                    <a:pt x="2856593" y="1727200"/>
                  </a:lnTo>
                  <a:lnTo>
                    <a:pt x="2615311" y="1536700"/>
                  </a:lnTo>
                  <a:lnTo>
                    <a:pt x="2566412" y="1498600"/>
                  </a:lnTo>
                  <a:lnTo>
                    <a:pt x="2515448" y="1422400"/>
                  </a:lnTo>
                  <a:lnTo>
                    <a:pt x="1658054" y="787400"/>
                  </a:lnTo>
                  <a:lnTo>
                    <a:pt x="1509078" y="673100"/>
                  </a:lnTo>
                  <a:lnTo>
                    <a:pt x="1459613" y="673100"/>
                  </a:lnTo>
                  <a:lnTo>
                    <a:pt x="1311833" y="558800"/>
                  </a:lnTo>
                  <a:lnTo>
                    <a:pt x="1262787" y="558800"/>
                  </a:lnTo>
                  <a:lnTo>
                    <a:pt x="1116332" y="444500"/>
                  </a:lnTo>
                  <a:lnTo>
                    <a:pt x="1067750" y="444500"/>
                  </a:lnTo>
                  <a:lnTo>
                    <a:pt x="970955" y="368300"/>
                  </a:lnTo>
                  <a:lnTo>
                    <a:pt x="922749" y="368300"/>
                  </a:lnTo>
                  <a:lnTo>
                    <a:pt x="874672" y="342900"/>
                  </a:lnTo>
                  <a:lnTo>
                    <a:pt x="826730" y="342900"/>
                  </a:lnTo>
                  <a:lnTo>
                    <a:pt x="731255" y="266700"/>
                  </a:lnTo>
                  <a:lnTo>
                    <a:pt x="683728" y="266700"/>
                  </a:lnTo>
                  <a:lnTo>
                    <a:pt x="636346" y="228600"/>
                  </a:lnTo>
                  <a:lnTo>
                    <a:pt x="589110" y="228600"/>
                  </a:lnTo>
                  <a:lnTo>
                    <a:pt x="542023" y="190500"/>
                  </a:lnTo>
                  <a:lnTo>
                    <a:pt x="495089" y="190500"/>
                  </a:lnTo>
                  <a:lnTo>
                    <a:pt x="448310" y="152400"/>
                  </a:lnTo>
                  <a:lnTo>
                    <a:pt x="401688" y="152400"/>
                  </a:lnTo>
                  <a:lnTo>
                    <a:pt x="355226" y="114300"/>
                  </a:lnTo>
                  <a:lnTo>
                    <a:pt x="308928" y="114300"/>
                  </a:lnTo>
                  <a:lnTo>
                    <a:pt x="262795" y="76200"/>
                  </a:lnTo>
                  <a:lnTo>
                    <a:pt x="171036" y="76200"/>
                  </a:lnTo>
                  <a:lnTo>
                    <a:pt x="125416" y="38100"/>
                  </a:lnTo>
                  <a:lnTo>
                    <a:pt x="79973" y="38100"/>
                  </a:lnTo>
                  <a:lnTo>
                    <a:pt x="34708" y="0"/>
                  </a:lnTo>
                  <a:close/>
                </a:path>
                <a:path w="11673205" h="4610100">
                  <a:moveTo>
                    <a:pt x="10071093" y="2362200"/>
                  </a:moveTo>
                  <a:lnTo>
                    <a:pt x="8047383" y="2362200"/>
                  </a:lnTo>
                  <a:lnTo>
                    <a:pt x="7832163" y="2514600"/>
                  </a:lnTo>
                  <a:lnTo>
                    <a:pt x="7777663" y="2514600"/>
                  </a:lnTo>
                  <a:lnTo>
                    <a:pt x="7556934" y="2667000"/>
                  </a:lnTo>
                  <a:lnTo>
                    <a:pt x="7217835" y="2882900"/>
                  </a:lnTo>
                  <a:lnTo>
                    <a:pt x="7164136" y="2921000"/>
                  </a:lnTo>
                  <a:lnTo>
                    <a:pt x="7112334" y="2959100"/>
                  </a:lnTo>
                  <a:lnTo>
                    <a:pt x="7062322" y="2959100"/>
                  </a:lnTo>
                  <a:lnTo>
                    <a:pt x="7013996" y="2997200"/>
                  </a:lnTo>
                  <a:lnTo>
                    <a:pt x="6967250" y="3035300"/>
                  </a:lnTo>
                  <a:lnTo>
                    <a:pt x="6921979" y="3073400"/>
                  </a:lnTo>
                  <a:lnTo>
                    <a:pt x="6878077" y="3111500"/>
                  </a:lnTo>
                  <a:lnTo>
                    <a:pt x="6753535" y="3187700"/>
                  </a:lnTo>
                  <a:lnTo>
                    <a:pt x="6675424" y="3225800"/>
                  </a:lnTo>
                  <a:lnTo>
                    <a:pt x="6637528" y="3263900"/>
                  </a:lnTo>
                  <a:lnTo>
                    <a:pt x="6600263" y="3302000"/>
                  </a:lnTo>
                  <a:lnTo>
                    <a:pt x="6563526" y="3302000"/>
                  </a:lnTo>
                  <a:lnTo>
                    <a:pt x="6491210" y="3378200"/>
                  </a:lnTo>
                  <a:lnTo>
                    <a:pt x="6516537" y="3378200"/>
                  </a:lnTo>
                  <a:lnTo>
                    <a:pt x="6548325" y="3416300"/>
                  </a:lnTo>
                  <a:lnTo>
                    <a:pt x="6581290" y="3454400"/>
                  </a:lnTo>
                  <a:lnTo>
                    <a:pt x="6615399" y="3454400"/>
                  </a:lnTo>
                  <a:lnTo>
                    <a:pt x="6650620" y="3479800"/>
                  </a:lnTo>
                  <a:lnTo>
                    <a:pt x="6686918" y="3479800"/>
                  </a:lnTo>
                  <a:lnTo>
                    <a:pt x="6724262" y="3517900"/>
                  </a:lnTo>
                  <a:lnTo>
                    <a:pt x="6762616" y="3556000"/>
                  </a:lnTo>
                  <a:lnTo>
                    <a:pt x="6801949" y="3556000"/>
                  </a:lnTo>
                  <a:lnTo>
                    <a:pt x="6842227" y="3594100"/>
                  </a:lnTo>
                  <a:lnTo>
                    <a:pt x="6883416" y="3594100"/>
                  </a:lnTo>
                  <a:lnTo>
                    <a:pt x="6925483" y="3632200"/>
                  </a:lnTo>
                  <a:lnTo>
                    <a:pt x="6968396" y="3670300"/>
                  </a:lnTo>
                  <a:lnTo>
                    <a:pt x="7012120" y="3670300"/>
                  </a:lnTo>
                  <a:lnTo>
                    <a:pt x="7056623" y="3708400"/>
                  </a:lnTo>
                  <a:lnTo>
                    <a:pt x="7101871" y="3708400"/>
                  </a:lnTo>
                  <a:lnTo>
                    <a:pt x="7147831" y="3746500"/>
                  </a:lnTo>
                  <a:lnTo>
                    <a:pt x="7194470" y="3746500"/>
                  </a:lnTo>
                  <a:lnTo>
                    <a:pt x="7241754" y="3784600"/>
                  </a:lnTo>
                  <a:lnTo>
                    <a:pt x="7289651" y="3784600"/>
                  </a:lnTo>
                  <a:lnTo>
                    <a:pt x="7338126" y="3822700"/>
                  </a:lnTo>
                  <a:lnTo>
                    <a:pt x="7387147" y="3822700"/>
                  </a:lnTo>
                  <a:lnTo>
                    <a:pt x="7436681" y="3860800"/>
                  </a:lnTo>
                  <a:lnTo>
                    <a:pt x="7486693" y="3860800"/>
                  </a:lnTo>
                  <a:lnTo>
                    <a:pt x="7537152" y="3898900"/>
                  </a:lnTo>
                  <a:lnTo>
                    <a:pt x="7639273" y="3898900"/>
                  </a:lnTo>
                  <a:lnTo>
                    <a:pt x="7690870" y="3937000"/>
                  </a:lnTo>
                  <a:lnTo>
                    <a:pt x="7794968" y="3937000"/>
                  </a:lnTo>
                  <a:lnTo>
                    <a:pt x="7847403" y="3975100"/>
                  </a:lnTo>
                  <a:lnTo>
                    <a:pt x="7952879" y="3975100"/>
                  </a:lnTo>
                  <a:lnTo>
                    <a:pt x="8005854" y="4013200"/>
                  </a:lnTo>
                  <a:lnTo>
                    <a:pt x="8377981" y="4013200"/>
                  </a:lnTo>
                  <a:lnTo>
                    <a:pt x="8420229" y="3975100"/>
                  </a:lnTo>
                  <a:lnTo>
                    <a:pt x="8460058" y="3937000"/>
                  </a:lnTo>
                  <a:lnTo>
                    <a:pt x="8497760" y="3898900"/>
                  </a:lnTo>
                  <a:lnTo>
                    <a:pt x="8533625" y="3860800"/>
                  </a:lnTo>
                  <a:lnTo>
                    <a:pt x="8567944" y="3822700"/>
                  </a:lnTo>
                  <a:lnTo>
                    <a:pt x="8601007" y="3784600"/>
                  </a:lnTo>
                  <a:lnTo>
                    <a:pt x="8633104" y="3746500"/>
                  </a:lnTo>
                  <a:lnTo>
                    <a:pt x="8664526" y="3708400"/>
                  </a:lnTo>
                  <a:lnTo>
                    <a:pt x="8757648" y="3594100"/>
                  </a:lnTo>
                  <a:lnTo>
                    <a:pt x="8821680" y="3517900"/>
                  </a:lnTo>
                  <a:lnTo>
                    <a:pt x="8855153" y="3479800"/>
                  </a:lnTo>
                  <a:lnTo>
                    <a:pt x="8889984" y="3454400"/>
                  </a:lnTo>
                  <a:lnTo>
                    <a:pt x="8926464" y="3416300"/>
                  </a:lnTo>
                  <a:lnTo>
                    <a:pt x="8990774" y="3340100"/>
                  </a:lnTo>
                  <a:lnTo>
                    <a:pt x="9054324" y="3302000"/>
                  </a:lnTo>
                  <a:lnTo>
                    <a:pt x="9117118" y="3225800"/>
                  </a:lnTo>
                  <a:lnTo>
                    <a:pt x="9179157" y="3149600"/>
                  </a:lnTo>
                  <a:lnTo>
                    <a:pt x="9240444" y="3073400"/>
                  </a:lnTo>
                  <a:lnTo>
                    <a:pt x="9300982" y="3035300"/>
                  </a:lnTo>
                  <a:lnTo>
                    <a:pt x="9360772" y="2959100"/>
                  </a:lnTo>
                  <a:lnTo>
                    <a:pt x="9419818" y="2921000"/>
                  </a:lnTo>
                  <a:lnTo>
                    <a:pt x="9478120" y="2844800"/>
                  </a:lnTo>
                  <a:lnTo>
                    <a:pt x="9592507" y="2768600"/>
                  </a:lnTo>
                  <a:lnTo>
                    <a:pt x="9648595" y="2692400"/>
                  </a:lnTo>
                  <a:lnTo>
                    <a:pt x="9758574" y="2628900"/>
                  </a:lnTo>
                  <a:lnTo>
                    <a:pt x="9812469" y="2590800"/>
                  </a:lnTo>
                  <a:lnTo>
                    <a:pt x="9865637" y="2514600"/>
                  </a:lnTo>
                  <a:lnTo>
                    <a:pt x="9969804" y="2438400"/>
                  </a:lnTo>
                  <a:lnTo>
                    <a:pt x="10020807" y="2400300"/>
                  </a:lnTo>
                  <a:lnTo>
                    <a:pt x="10071093" y="2362200"/>
                  </a:lnTo>
                  <a:close/>
                </a:path>
                <a:path w="11673205" h="4610100">
                  <a:moveTo>
                    <a:pt x="10447837" y="2133600"/>
                  </a:moveTo>
                  <a:lnTo>
                    <a:pt x="8514901" y="2133600"/>
                  </a:lnTo>
                  <a:lnTo>
                    <a:pt x="8413052" y="2209800"/>
                  </a:lnTo>
                  <a:lnTo>
                    <a:pt x="8361685" y="2209800"/>
                  </a:lnTo>
                  <a:lnTo>
                    <a:pt x="8258072" y="2286000"/>
                  </a:lnTo>
                  <a:lnTo>
                    <a:pt x="8205830" y="2286000"/>
                  </a:lnTo>
                  <a:lnTo>
                    <a:pt x="8100484" y="2362200"/>
                  </a:lnTo>
                  <a:lnTo>
                    <a:pt x="10120664" y="2362200"/>
                  </a:lnTo>
                  <a:lnTo>
                    <a:pt x="10169522" y="2324100"/>
                  </a:lnTo>
                  <a:lnTo>
                    <a:pt x="10217670" y="2286000"/>
                  </a:lnTo>
                  <a:lnTo>
                    <a:pt x="10265110" y="2247900"/>
                  </a:lnTo>
                  <a:lnTo>
                    <a:pt x="10311845" y="2209800"/>
                  </a:lnTo>
                  <a:lnTo>
                    <a:pt x="10357876" y="2171700"/>
                  </a:lnTo>
                  <a:lnTo>
                    <a:pt x="10403206" y="2171700"/>
                  </a:lnTo>
                  <a:lnTo>
                    <a:pt x="10447837" y="2133600"/>
                  </a:lnTo>
                  <a:close/>
                </a:path>
                <a:path w="11673205" h="4610100">
                  <a:moveTo>
                    <a:pt x="10660595" y="2019300"/>
                  </a:moveTo>
                  <a:lnTo>
                    <a:pt x="8764273" y="2019300"/>
                  </a:lnTo>
                  <a:lnTo>
                    <a:pt x="8665432" y="2095500"/>
                  </a:lnTo>
                  <a:lnTo>
                    <a:pt x="8615556" y="2095500"/>
                  </a:lnTo>
                  <a:lnTo>
                    <a:pt x="8565378" y="2133600"/>
                  </a:lnTo>
                  <a:lnTo>
                    <a:pt x="10491772" y="2133600"/>
                  </a:lnTo>
                  <a:lnTo>
                    <a:pt x="10535013" y="2095500"/>
                  </a:lnTo>
                  <a:lnTo>
                    <a:pt x="10577563" y="2057400"/>
                  </a:lnTo>
                  <a:lnTo>
                    <a:pt x="10619423" y="2057400"/>
                  </a:lnTo>
                  <a:lnTo>
                    <a:pt x="10660595" y="2019300"/>
                  </a:lnTo>
                  <a:close/>
                </a:path>
                <a:path w="11673205" h="4610100">
                  <a:moveTo>
                    <a:pt x="10740889" y="1981200"/>
                  </a:moveTo>
                  <a:lnTo>
                    <a:pt x="8861887" y="1981200"/>
                  </a:lnTo>
                  <a:lnTo>
                    <a:pt x="8813234" y="2019300"/>
                  </a:lnTo>
                  <a:lnTo>
                    <a:pt x="10701083" y="2019300"/>
                  </a:lnTo>
                  <a:lnTo>
                    <a:pt x="10740889" y="1981200"/>
                  </a:lnTo>
                  <a:close/>
                </a:path>
                <a:path w="11673205" h="4610100">
                  <a:moveTo>
                    <a:pt x="10856234" y="1943100"/>
                  </a:moveTo>
                  <a:lnTo>
                    <a:pt x="8958261" y="1943100"/>
                  </a:lnTo>
                  <a:lnTo>
                    <a:pt x="8910230" y="1981200"/>
                  </a:lnTo>
                  <a:lnTo>
                    <a:pt x="10818462" y="1981200"/>
                  </a:lnTo>
                  <a:lnTo>
                    <a:pt x="10856234" y="1943100"/>
                  </a:lnTo>
                  <a:close/>
                </a:path>
                <a:path w="11673205" h="4610100">
                  <a:moveTo>
                    <a:pt x="10965521" y="1905000"/>
                  </a:moveTo>
                  <a:lnTo>
                    <a:pt x="9053382" y="1905000"/>
                  </a:lnTo>
                  <a:lnTo>
                    <a:pt x="9005979" y="1943100"/>
                  </a:lnTo>
                  <a:lnTo>
                    <a:pt x="10929761" y="1943100"/>
                  </a:lnTo>
                  <a:lnTo>
                    <a:pt x="10965521" y="1905000"/>
                  </a:lnTo>
                  <a:close/>
                </a:path>
                <a:path w="11673205" h="4610100">
                  <a:moveTo>
                    <a:pt x="11068811" y="1879600"/>
                  </a:moveTo>
                  <a:lnTo>
                    <a:pt x="9193683" y="1879600"/>
                  </a:lnTo>
                  <a:lnTo>
                    <a:pt x="9147236" y="1905000"/>
                  </a:lnTo>
                  <a:lnTo>
                    <a:pt x="11035043" y="1905000"/>
                  </a:lnTo>
                  <a:lnTo>
                    <a:pt x="11068811" y="1879600"/>
                  </a:lnTo>
                  <a:close/>
                </a:path>
                <a:path w="11673205" h="4610100">
                  <a:moveTo>
                    <a:pt x="11257654" y="1841500"/>
                  </a:moveTo>
                  <a:lnTo>
                    <a:pt x="9285612" y="1841500"/>
                  </a:lnTo>
                  <a:lnTo>
                    <a:pt x="9239809" y="1879600"/>
                  </a:lnTo>
                  <a:lnTo>
                    <a:pt x="11227807" y="1879600"/>
                  </a:lnTo>
                  <a:lnTo>
                    <a:pt x="11257654" y="1841500"/>
                  </a:lnTo>
                  <a:close/>
                </a:path>
                <a:path w="11673205" h="4610100">
                  <a:moveTo>
                    <a:pt x="11566140" y="1803400"/>
                  </a:moveTo>
                  <a:lnTo>
                    <a:pt x="9421061" y="1803400"/>
                  </a:lnTo>
                  <a:lnTo>
                    <a:pt x="9376239" y="1841500"/>
                  </a:lnTo>
                  <a:lnTo>
                    <a:pt x="11543884" y="1841500"/>
                  </a:lnTo>
                  <a:lnTo>
                    <a:pt x="11566140" y="1803400"/>
                  </a:lnTo>
                  <a:close/>
                </a:path>
                <a:path w="11673205" h="4610100">
                  <a:moveTo>
                    <a:pt x="11638657" y="1765300"/>
                  </a:moveTo>
                  <a:lnTo>
                    <a:pt x="9553538" y="1765300"/>
                  </a:lnTo>
                  <a:lnTo>
                    <a:pt x="9509712" y="1803400"/>
                  </a:lnTo>
                  <a:lnTo>
                    <a:pt x="11672605" y="1803400"/>
                  </a:lnTo>
                  <a:lnTo>
                    <a:pt x="11638657" y="1765300"/>
                  </a:lnTo>
                  <a:close/>
                </a:path>
                <a:path w="11673205" h="4610100">
                  <a:moveTo>
                    <a:pt x="11526216" y="1727200"/>
                  </a:moveTo>
                  <a:lnTo>
                    <a:pt x="9725474" y="1727200"/>
                  </a:lnTo>
                  <a:lnTo>
                    <a:pt x="9682999" y="1765300"/>
                  </a:lnTo>
                  <a:lnTo>
                    <a:pt x="11565449" y="1765300"/>
                  </a:lnTo>
                  <a:lnTo>
                    <a:pt x="11526216" y="1727200"/>
                  </a:lnTo>
                  <a:close/>
                </a:path>
                <a:path w="11673205" h="4610100">
                  <a:moveTo>
                    <a:pt x="11398158" y="1689100"/>
                  </a:moveTo>
                  <a:lnTo>
                    <a:pt x="9891937" y="1689100"/>
                  </a:lnTo>
                  <a:lnTo>
                    <a:pt x="9850840" y="1727200"/>
                  </a:lnTo>
                  <a:lnTo>
                    <a:pt x="11442557" y="1727200"/>
                  </a:lnTo>
                  <a:lnTo>
                    <a:pt x="11398158" y="1689100"/>
                  </a:lnTo>
                  <a:close/>
                </a:path>
                <a:path w="11673205" h="4610100">
                  <a:moveTo>
                    <a:pt x="11254842" y="1651000"/>
                  </a:moveTo>
                  <a:lnTo>
                    <a:pt x="10092159" y="1651000"/>
                  </a:lnTo>
                  <a:lnTo>
                    <a:pt x="10052822" y="1689100"/>
                  </a:lnTo>
                  <a:lnTo>
                    <a:pt x="11304288" y="1689100"/>
                  </a:lnTo>
                  <a:lnTo>
                    <a:pt x="11254842" y="1651000"/>
                  </a:lnTo>
                  <a:close/>
                </a:path>
                <a:path w="11673205" h="4610100">
                  <a:moveTo>
                    <a:pt x="10983051" y="1612900"/>
                  </a:moveTo>
                  <a:lnTo>
                    <a:pt x="10429917" y="1612900"/>
                  </a:lnTo>
                  <a:lnTo>
                    <a:pt x="10393855" y="1651000"/>
                  </a:lnTo>
                  <a:lnTo>
                    <a:pt x="11040641" y="1651000"/>
                  </a:lnTo>
                  <a:lnTo>
                    <a:pt x="10983051" y="1612900"/>
                  </a:lnTo>
                  <a:close/>
                </a:path>
              </a:pathLst>
            </a:custGeom>
            <a:solidFill>
              <a:srgbClr val="FFFFFF">
                <a:alpha val="7843"/>
              </a:srgbClr>
            </a:solidFill>
          </p:spPr>
          <p:txBody>
            <a:bodyPr wrap="square" lIns="0" tIns="0" rIns="0" bIns="0" rtlCol="0"/>
            <a:lstStyle/>
            <a:p>
              <a:endParaRPr/>
            </a:p>
          </p:txBody>
        </p:sp>
        <p:sp>
          <p:nvSpPr>
            <p:cNvPr id="6" name="object 6"/>
            <p:cNvSpPr/>
            <p:nvPr/>
          </p:nvSpPr>
          <p:spPr>
            <a:xfrm>
              <a:off x="109537" y="109537"/>
              <a:ext cx="11982450" cy="6648450"/>
            </a:xfrm>
            <a:custGeom>
              <a:avLst/>
              <a:gdLst/>
              <a:ahLst/>
              <a:cxnLst/>
              <a:rect l="l" t="t" r="r" b="b"/>
              <a:pathLst>
                <a:path w="11982450" h="6648450">
                  <a:moveTo>
                    <a:pt x="0" y="6648450"/>
                  </a:moveTo>
                  <a:lnTo>
                    <a:pt x="11982450" y="6648450"/>
                  </a:lnTo>
                  <a:lnTo>
                    <a:pt x="11982450" y="0"/>
                  </a:lnTo>
                  <a:lnTo>
                    <a:pt x="0" y="0"/>
                  </a:lnTo>
                  <a:lnTo>
                    <a:pt x="0" y="6648450"/>
                  </a:lnTo>
                  <a:close/>
                </a:path>
              </a:pathLst>
            </a:custGeom>
            <a:ln w="6350">
              <a:solidFill>
                <a:srgbClr val="AC9976"/>
              </a:solidFill>
            </a:ln>
          </p:spPr>
          <p:txBody>
            <a:bodyPr wrap="square" lIns="0" tIns="0" rIns="0" bIns="0" rtlCol="0"/>
            <a:lstStyle/>
            <a:p>
              <a:endParaRPr/>
            </a:p>
          </p:txBody>
        </p:sp>
      </p:grpSp>
      <p:pic>
        <p:nvPicPr>
          <p:cNvPr id="9" name="Рисунок 8" descr="Изображение выглядит как текст, Шрифт, Графика, графический дизайн&#10;&#10;Автоматически созданное описание">
            <a:extLst>
              <a:ext uri="{FF2B5EF4-FFF2-40B4-BE49-F238E27FC236}">
                <a16:creationId xmlns:a16="http://schemas.microsoft.com/office/drawing/2014/main" id="{908B72EA-EA00-C77D-C558-14725C59D7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3000" y="797202"/>
            <a:ext cx="2728354" cy="76657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2325</TotalTime>
  <Words>1291</Words>
  <Application>Microsoft Office PowerPoint</Application>
  <PresentationFormat>Широкоэкранный</PresentationFormat>
  <Paragraphs>149</Paragraphs>
  <Slides>27</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27</vt:i4>
      </vt:variant>
    </vt:vector>
  </HeadingPairs>
  <TitlesOfParts>
    <vt:vector size="33" baseType="lpstr">
      <vt:lpstr>Arial</vt:lpstr>
      <vt:lpstr>Arial Black</vt:lpstr>
      <vt:lpstr>Calibri</vt:lpstr>
      <vt:lpstr>Lucida Sans Unicode</vt:lpstr>
      <vt:lpstr>Tahoma</vt:lpstr>
      <vt:lpstr>Office Theme</vt:lpstr>
      <vt:lpstr>Презентация PowerPoint</vt:lpstr>
      <vt:lpstr>Table of Content</vt:lpstr>
      <vt:lpstr>Презентация PowerPoint</vt:lpstr>
      <vt:lpstr>Location</vt:lpstr>
      <vt:lpstr>Презентация PowerPoint</vt:lpstr>
      <vt:lpstr>Hotel Overview</vt:lpstr>
      <vt:lpstr>Презентация PowerPoint</vt:lpstr>
      <vt:lpstr>In-Room Amenities &amp; Comfort </vt:lpstr>
      <vt:lpstr>Презентация PowerPoint</vt:lpstr>
      <vt:lpstr>Standard King </vt:lpstr>
      <vt:lpstr>Standard King </vt:lpstr>
      <vt:lpstr>Standard King </vt:lpstr>
      <vt:lpstr>Standard  Twin </vt:lpstr>
      <vt:lpstr>Superior Twin </vt:lpstr>
      <vt:lpstr>Suite </vt:lpstr>
      <vt:lpstr>Suite </vt:lpstr>
      <vt:lpstr>Suite </vt:lpstr>
      <vt:lpstr>Презентация PowerPoint</vt:lpstr>
      <vt:lpstr>Mövenpick Dining</vt:lpstr>
      <vt:lpstr>Mövenpick Dining</vt:lpstr>
      <vt:lpstr>Презентация PowerPoint</vt:lpstr>
      <vt:lpstr>Helvetia SPA &amp; Wellness Centre</vt:lpstr>
      <vt:lpstr>Презентация PowerPoint</vt:lpstr>
      <vt:lpstr>Conferences </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CHEBANOVA Kristina</cp:lastModifiedBy>
  <cp:revision>5</cp:revision>
  <dcterms:created xsi:type="dcterms:W3CDTF">2026-01-06T10:30:42Z</dcterms:created>
  <dcterms:modified xsi:type="dcterms:W3CDTF">2026-01-23T12:26:51Z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2026-01-06T00:00:00Z</vt:filetime>
  </property>
  <property fmtid="{D5CDD505-2E9C-101B-9397-08002B2CF9AE}" pid="3" name="LastSaved">
    <vt:filetime>2026-01-06T00:00:00Z</vt:filetime>
  </property>
</Properties>
</file>